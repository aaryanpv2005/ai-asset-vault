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0"/>
  </p:notesMasterIdLst>
  <p:sldIdLst>
    <p:sldId id="257" r:id="rId2"/>
    <p:sldId id="258" r:id="rId3"/>
    <p:sldId id="259" r:id="rId4"/>
    <p:sldId id="312"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8" r:id="rId23"/>
    <p:sldId id="282" r:id="rId24"/>
    <p:sldId id="283" r:id="rId25"/>
    <p:sldId id="284" r:id="rId26"/>
    <p:sldId id="286" r:id="rId27"/>
    <p:sldId id="285" r:id="rId28"/>
    <p:sldId id="287" r:id="rId29"/>
    <p:sldId id="288" r:id="rId30"/>
    <p:sldId id="293" r:id="rId31"/>
    <p:sldId id="294" r:id="rId32"/>
    <p:sldId id="289" r:id="rId33"/>
    <p:sldId id="290" r:id="rId34"/>
    <p:sldId id="291" r:id="rId35"/>
    <p:sldId id="295" r:id="rId36"/>
    <p:sldId id="306" r:id="rId37"/>
    <p:sldId id="307" r:id="rId38"/>
    <p:sldId id="308" r:id="rId39"/>
    <p:sldId id="309" r:id="rId40"/>
    <p:sldId id="310" r:id="rId41"/>
    <p:sldId id="311" r:id="rId42"/>
    <p:sldId id="300" r:id="rId43"/>
    <p:sldId id="301" r:id="rId44"/>
    <p:sldId id="302" r:id="rId45"/>
    <p:sldId id="303" r:id="rId46"/>
    <p:sldId id="304" r:id="rId47"/>
    <p:sldId id="305" r:id="rId48"/>
    <p:sldId id="313" r:id="rId49"/>
    <p:sldId id="314" r:id="rId50"/>
    <p:sldId id="315" r:id="rId51"/>
    <p:sldId id="320" r:id="rId52"/>
    <p:sldId id="316" r:id="rId53"/>
    <p:sldId id="317" r:id="rId54"/>
    <p:sldId id="318" r:id="rId55"/>
    <p:sldId id="319" r:id="rId56"/>
    <p:sldId id="321" r:id="rId57"/>
    <p:sldId id="341" r:id="rId58"/>
    <p:sldId id="338" r:id="rId59"/>
    <p:sldId id="339" r:id="rId60"/>
    <p:sldId id="340" r:id="rId61"/>
    <p:sldId id="296" r:id="rId62"/>
    <p:sldId id="298" r:id="rId63"/>
    <p:sldId id="297" r:id="rId64"/>
    <p:sldId id="322" r:id="rId65"/>
    <p:sldId id="323" r:id="rId66"/>
    <p:sldId id="324" r:id="rId67"/>
    <p:sldId id="325" r:id="rId68"/>
    <p:sldId id="326" r:id="rId69"/>
    <p:sldId id="327" r:id="rId70"/>
    <p:sldId id="299" r:id="rId71"/>
    <p:sldId id="328" r:id="rId72"/>
    <p:sldId id="329" r:id="rId73"/>
    <p:sldId id="330" r:id="rId74"/>
    <p:sldId id="331" r:id="rId75"/>
    <p:sldId id="332" r:id="rId76"/>
    <p:sldId id="333" r:id="rId77"/>
    <p:sldId id="334" r:id="rId78"/>
    <p:sldId id="335" r:id="rId79"/>
    <p:sldId id="336" r:id="rId80"/>
    <p:sldId id="337" r:id="rId81"/>
    <p:sldId id="342" r:id="rId82"/>
    <p:sldId id="343" r:id="rId83"/>
    <p:sldId id="344" r:id="rId84"/>
    <p:sldId id="345" r:id="rId85"/>
    <p:sldId id="346" r:id="rId86"/>
    <p:sldId id="347" r:id="rId87"/>
    <p:sldId id="348" r:id="rId88"/>
    <p:sldId id="349" r:id="rId8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62" autoAdjust="0"/>
  </p:normalViewPr>
  <p:slideViewPr>
    <p:cSldViewPr>
      <p:cViewPr varScale="1">
        <p:scale>
          <a:sx n="66" d="100"/>
          <a:sy n="66" d="100"/>
        </p:scale>
        <p:origin x="-1422" y="-96"/>
      </p:cViewPr>
      <p:guideLst>
        <p:guide orient="horz" pos="2160"/>
        <p:guide pos="2880"/>
      </p:guideLst>
    </p:cSldViewPr>
  </p:slideViewPr>
  <p:outlineViewPr>
    <p:cViewPr>
      <p:scale>
        <a:sx n="33" d="100"/>
        <a:sy n="33" d="100"/>
      </p:scale>
      <p:origin x="0" y="40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9394B75-DA36-42B3-A125-9FFD76743613}" type="datetimeFigureOut">
              <a:rPr lang="en-IN" smtClean="0"/>
              <a:t>04-08-2025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23B6FB-31A9-46B2-BF23-F9317AE2EC61}" type="slidenum">
              <a:rPr lang="en-IN" smtClean="0"/>
              <a:t>‹#›</a:t>
            </a:fld>
            <a:endParaRPr lang="en-IN"/>
          </a:p>
        </p:txBody>
      </p:sp>
    </p:spTree>
    <p:extLst>
      <p:ext uri="{BB962C8B-B14F-4D97-AF65-F5344CB8AC3E}">
        <p14:creationId xmlns:p14="http://schemas.microsoft.com/office/powerpoint/2010/main" val="2310192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2823B6FB-31A9-46B2-BF23-F9317AE2EC61}" type="slidenum">
              <a:rPr lang="en-IN" smtClean="0"/>
              <a:t>33</a:t>
            </a:fld>
            <a:endParaRPr lang="en-IN"/>
          </a:p>
        </p:txBody>
      </p:sp>
    </p:spTree>
    <p:extLst>
      <p:ext uri="{BB962C8B-B14F-4D97-AF65-F5344CB8AC3E}">
        <p14:creationId xmlns:p14="http://schemas.microsoft.com/office/powerpoint/2010/main" val="8703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2823B6FB-31A9-46B2-BF23-F9317AE2EC61}" type="slidenum">
              <a:rPr lang="en-IN" smtClean="0"/>
              <a:t>42</a:t>
            </a:fld>
            <a:endParaRPr lang="en-IN"/>
          </a:p>
        </p:txBody>
      </p:sp>
    </p:spTree>
    <p:extLst>
      <p:ext uri="{BB962C8B-B14F-4D97-AF65-F5344CB8AC3E}">
        <p14:creationId xmlns:p14="http://schemas.microsoft.com/office/powerpoint/2010/main" val="37275781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2823B6FB-31A9-46B2-BF23-F9317AE2EC61}" type="slidenum">
              <a:rPr lang="en-IN" smtClean="0"/>
              <a:t>64</a:t>
            </a:fld>
            <a:endParaRPr lang="en-IN"/>
          </a:p>
        </p:txBody>
      </p:sp>
    </p:spTree>
    <p:extLst>
      <p:ext uri="{BB962C8B-B14F-4D97-AF65-F5344CB8AC3E}">
        <p14:creationId xmlns:p14="http://schemas.microsoft.com/office/powerpoint/2010/main" val="30867107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2823B6FB-31A9-46B2-BF23-F9317AE2EC61}" type="slidenum">
              <a:rPr lang="en-IN" smtClean="0"/>
              <a:t>66</a:t>
            </a:fld>
            <a:endParaRPr lang="en-IN"/>
          </a:p>
        </p:txBody>
      </p:sp>
    </p:spTree>
    <p:extLst>
      <p:ext uri="{BB962C8B-B14F-4D97-AF65-F5344CB8AC3E}">
        <p14:creationId xmlns:p14="http://schemas.microsoft.com/office/powerpoint/2010/main" val="467150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515CFCB-E979-4EA8-A837-56B5B3B4C19B}" type="datetimeFigureOut">
              <a:rPr lang="en-IN" smtClean="0"/>
              <a:t>04-08-2025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29C0B8-B004-4373-B147-4C387110B4E3}" type="slidenum">
              <a:rPr lang="en-IN" smtClean="0"/>
              <a:t>‹#›</a:t>
            </a:fld>
            <a:endParaRPr lang="en-IN"/>
          </a:p>
        </p:txBody>
      </p:sp>
    </p:spTree>
    <p:extLst>
      <p:ext uri="{BB962C8B-B14F-4D97-AF65-F5344CB8AC3E}">
        <p14:creationId xmlns:p14="http://schemas.microsoft.com/office/powerpoint/2010/main" val="2437549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515CFCB-E979-4EA8-A837-56B5B3B4C19B}" type="datetimeFigureOut">
              <a:rPr lang="en-IN" smtClean="0"/>
              <a:t>04-08-2025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29C0B8-B004-4373-B147-4C387110B4E3}" type="slidenum">
              <a:rPr lang="en-IN" smtClean="0"/>
              <a:t>‹#›</a:t>
            </a:fld>
            <a:endParaRPr lang="en-IN"/>
          </a:p>
        </p:txBody>
      </p:sp>
    </p:spTree>
    <p:extLst>
      <p:ext uri="{BB962C8B-B14F-4D97-AF65-F5344CB8AC3E}">
        <p14:creationId xmlns:p14="http://schemas.microsoft.com/office/powerpoint/2010/main" val="251140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15CFCB-E979-4EA8-A837-56B5B3B4C19B}" type="datetimeFigureOut">
              <a:rPr lang="en-IN" smtClean="0"/>
              <a:t>04-08-2025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29C0B8-B004-4373-B147-4C387110B4E3}" type="slidenum">
              <a:rPr lang="en-IN" smtClean="0"/>
              <a:t>‹#›</a:t>
            </a:fld>
            <a:endParaRPr lang="en-IN"/>
          </a:p>
        </p:txBody>
      </p:sp>
    </p:spTree>
    <p:extLst>
      <p:ext uri="{BB962C8B-B14F-4D97-AF65-F5344CB8AC3E}">
        <p14:creationId xmlns:p14="http://schemas.microsoft.com/office/powerpoint/2010/main" val="2631696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515CFCB-E979-4EA8-A837-56B5B3B4C19B}" type="datetimeFigureOut">
              <a:rPr lang="en-IN" smtClean="0"/>
              <a:t>04-08-2025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729C0B8-B004-4373-B147-4C387110B4E3}" type="slidenum">
              <a:rPr lang="en-IN" smtClean="0"/>
              <a:t>‹#›</a:t>
            </a:fld>
            <a:endParaRPr lang="en-IN"/>
          </a:p>
        </p:txBody>
      </p:sp>
    </p:spTree>
    <p:extLst>
      <p:ext uri="{BB962C8B-B14F-4D97-AF65-F5344CB8AC3E}">
        <p14:creationId xmlns:p14="http://schemas.microsoft.com/office/powerpoint/2010/main" val="4080648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515CFCB-E979-4EA8-A837-56B5B3B4C19B}" type="datetimeFigureOut">
              <a:rPr lang="en-IN" smtClean="0"/>
              <a:t>04-08-2025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729C0B8-B004-4373-B147-4C387110B4E3}" type="slidenum">
              <a:rPr lang="en-IN" smtClean="0"/>
              <a:t>‹#›</a:t>
            </a:fld>
            <a:endParaRPr lang="en-IN"/>
          </a:p>
        </p:txBody>
      </p:sp>
    </p:spTree>
    <p:extLst>
      <p:ext uri="{BB962C8B-B14F-4D97-AF65-F5344CB8AC3E}">
        <p14:creationId xmlns:p14="http://schemas.microsoft.com/office/powerpoint/2010/main" val="2201079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515CFCB-E979-4EA8-A837-56B5B3B4C19B}" type="datetimeFigureOut">
              <a:rPr lang="en-IN" smtClean="0"/>
              <a:t>04-08-2025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729C0B8-B004-4373-B147-4C387110B4E3}" type="slidenum">
              <a:rPr lang="en-IN" smtClean="0"/>
              <a:t>‹#›</a:t>
            </a:fld>
            <a:endParaRPr lang="en-IN"/>
          </a:p>
        </p:txBody>
      </p:sp>
    </p:spTree>
    <p:extLst>
      <p:ext uri="{BB962C8B-B14F-4D97-AF65-F5344CB8AC3E}">
        <p14:creationId xmlns:p14="http://schemas.microsoft.com/office/powerpoint/2010/main" val="3317049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15CFCB-E979-4EA8-A837-56B5B3B4C19B}" type="datetimeFigureOut">
              <a:rPr lang="en-IN" smtClean="0"/>
              <a:t>04-08-2025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729C0B8-B004-4373-B147-4C387110B4E3}" type="slidenum">
              <a:rPr lang="en-IN" smtClean="0"/>
              <a:t>‹#›</a:t>
            </a:fld>
            <a:endParaRPr lang="en-IN"/>
          </a:p>
        </p:txBody>
      </p:sp>
    </p:spTree>
    <p:extLst>
      <p:ext uri="{BB962C8B-B14F-4D97-AF65-F5344CB8AC3E}">
        <p14:creationId xmlns:p14="http://schemas.microsoft.com/office/powerpoint/2010/main" val="927518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15CFCB-E979-4EA8-A837-56B5B3B4C19B}" type="datetimeFigureOut">
              <a:rPr lang="en-IN" smtClean="0"/>
              <a:t>04-08-2025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729C0B8-B004-4373-B147-4C387110B4E3}" type="slidenum">
              <a:rPr lang="en-IN" smtClean="0"/>
              <a:t>‹#›</a:t>
            </a:fld>
            <a:endParaRPr lang="en-IN"/>
          </a:p>
        </p:txBody>
      </p:sp>
    </p:spTree>
    <p:extLst>
      <p:ext uri="{BB962C8B-B14F-4D97-AF65-F5344CB8AC3E}">
        <p14:creationId xmlns:p14="http://schemas.microsoft.com/office/powerpoint/2010/main" val="3901234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15CFCB-E979-4EA8-A837-56B5B3B4C19B}" type="datetimeFigureOut">
              <a:rPr lang="en-IN" smtClean="0"/>
              <a:t>04-08-2025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729C0B8-B004-4373-B147-4C387110B4E3}" type="slidenum">
              <a:rPr lang="en-IN" smtClean="0"/>
              <a:t>‹#›</a:t>
            </a:fld>
            <a:endParaRPr lang="en-IN"/>
          </a:p>
        </p:txBody>
      </p:sp>
    </p:spTree>
    <p:extLst>
      <p:ext uri="{BB962C8B-B14F-4D97-AF65-F5344CB8AC3E}">
        <p14:creationId xmlns:p14="http://schemas.microsoft.com/office/powerpoint/2010/main" val="192174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515CFCB-E979-4EA8-A837-56B5B3B4C19B}" type="datetimeFigureOut">
              <a:rPr lang="en-IN" smtClean="0"/>
              <a:t>04-08-2025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29C0B8-B004-4373-B147-4C387110B4E3}" type="slidenum">
              <a:rPr lang="en-IN" smtClean="0"/>
              <a:t>‹#›</a:t>
            </a:fld>
            <a:endParaRPr lang="en-IN"/>
          </a:p>
        </p:txBody>
      </p:sp>
    </p:spTree>
    <p:extLst>
      <p:ext uri="{BB962C8B-B14F-4D97-AF65-F5344CB8AC3E}">
        <p14:creationId xmlns:p14="http://schemas.microsoft.com/office/powerpoint/2010/main" val="1704793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515CFCB-E979-4EA8-A837-56B5B3B4C19B}" type="datetimeFigureOut">
              <a:rPr lang="en-IN" smtClean="0"/>
              <a:t>04-08-2025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29C0B8-B004-4373-B147-4C387110B4E3}" type="slidenum">
              <a:rPr lang="en-IN" smtClean="0"/>
              <a:t>‹#›</a:t>
            </a:fld>
            <a:endParaRPr lang="en-IN"/>
          </a:p>
        </p:txBody>
      </p:sp>
    </p:spTree>
    <p:extLst>
      <p:ext uri="{BB962C8B-B14F-4D97-AF65-F5344CB8AC3E}">
        <p14:creationId xmlns:p14="http://schemas.microsoft.com/office/powerpoint/2010/main" val="2774105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15CFCB-E979-4EA8-A837-56B5B3B4C19B}" type="datetimeFigureOut">
              <a:rPr lang="en-IN" smtClean="0"/>
              <a:t>04-08-2025</a:t>
            </a:fld>
            <a:endParaRPr lang="en-IN"/>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29C0B8-B004-4373-B147-4C387110B4E3}" type="slidenum">
              <a:rPr lang="en-IN" smtClean="0"/>
              <a:t>‹#›</a:t>
            </a:fld>
            <a:endParaRPr lang="en-IN"/>
          </a:p>
        </p:txBody>
      </p:sp>
    </p:spTree>
    <p:extLst>
      <p:ext uri="{BB962C8B-B14F-4D97-AF65-F5344CB8AC3E}">
        <p14:creationId xmlns:p14="http://schemas.microsoft.com/office/powerpoint/2010/main" val="5902876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hyperlink" Target="https://www.upgrad.com/blog/image-classification-in-cnn/"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s://www.upgrad.com/blog/basic-cnn-architecture/"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jp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hyperlink" Target="https://www.simplilearn.com/tutorials/machine-learning-tutorial"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hyperlink" Target="https://www.analyticsvidhya.com/blog/2022/01/feedforward-neural-network-its-layers-functions-and-importance/" TargetMode="Externa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ctrTitle"/>
          </p:nvPr>
        </p:nvSpPr>
        <p:spPr>
          <a:xfrm>
            <a:off x="323851" y="2636838"/>
            <a:ext cx="7920038" cy="647700"/>
          </a:xfrm>
        </p:spPr>
        <p:txBody>
          <a:bodyPr>
            <a:normAutofit fontScale="90000"/>
          </a:bodyPr>
          <a:lstStyle/>
          <a:p>
            <a:pPr algn="ctr" eaLnBrk="1" fontAlgn="auto" hangingPunct="1">
              <a:spcAft>
                <a:spcPts val="0"/>
              </a:spcAft>
              <a:defRPr/>
            </a:pPr>
            <a:r>
              <a:rPr lang="en-US" sz="4400" b="1" dirty="0">
                <a:solidFill>
                  <a:srgbClr val="002060"/>
                </a:solidFill>
              </a:rPr>
              <a:t>Artificial Neural Networks (21CSE326T) </a:t>
            </a:r>
            <a:endParaRPr lang="tr-TR" altLang="en-US" sz="4400" b="1" dirty="0">
              <a:solidFill>
                <a:srgbClr val="002060"/>
              </a:solidFill>
            </a:endParaRPr>
          </a:p>
        </p:txBody>
      </p:sp>
    </p:spTree>
    <p:extLst>
      <p:ext uri="{BB962C8B-B14F-4D97-AF65-F5344CB8AC3E}">
        <p14:creationId xmlns:p14="http://schemas.microsoft.com/office/powerpoint/2010/main" val="26280315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defRPr/>
            </a:pPr>
            <a:r>
              <a:rPr lang="en-US" smtClean="0"/>
              <a:t>Alpydin &amp; Ch. Eick: ML Topic1</a:t>
            </a:r>
            <a:endParaRPr lang="tr-TR"/>
          </a:p>
        </p:txBody>
      </p:sp>
      <p:sp>
        <p:nvSpPr>
          <p:cNvPr id="5" name="Slide Number Placeholder 4"/>
          <p:cNvSpPr>
            <a:spLocks noGrp="1"/>
          </p:cNvSpPr>
          <p:nvPr>
            <p:ph type="sldNum" sz="quarter" idx="12"/>
          </p:nvPr>
        </p:nvSpPr>
        <p:spPr/>
        <p:txBody>
          <a:bodyPr/>
          <a:lstStyle/>
          <a:p>
            <a:pPr>
              <a:defRPr/>
            </a:pPr>
            <a:fld id="{0AFB485D-3481-49FD-B5B4-FD277F6B517C}" type="slidenum">
              <a:rPr lang="tr-TR" altLang="en-US" smtClean="0"/>
              <a:pPr>
                <a:defRPr/>
              </a:pPr>
              <a:t>2</a:t>
            </a:fld>
            <a:endParaRPr lang="tr-TR" altLang="en-US"/>
          </a:p>
        </p:txBody>
      </p:sp>
      <p:pic>
        <p:nvPicPr>
          <p:cNvPr id="1075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3568" y="1772816"/>
            <a:ext cx="8352928" cy="1584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763937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2"/>
          <p:cNvSpPr>
            <a:spLocks noGrp="1" noChangeArrowheads="1"/>
          </p:cNvSpPr>
          <p:nvPr>
            <p:ph idx="1"/>
          </p:nvPr>
        </p:nvSpPr>
        <p:spPr>
          <a:xfrm>
            <a:off x="323528" y="0"/>
            <a:ext cx="8229600" cy="5767388"/>
          </a:xfrm>
        </p:spPr>
        <p:txBody>
          <a:bodyPr>
            <a:normAutofit fontScale="85000" lnSpcReduction="20000"/>
          </a:bodyPr>
          <a:lstStyle/>
          <a:p>
            <a:pPr algn="ctr" eaLnBrk="1" hangingPunct="1">
              <a:spcAft>
                <a:spcPts val="1200"/>
              </a:spcAft>
            </a:pPr>
            <a:r>
              <a:rPr lang="en-US" altLang="en-US" sz="3600" dirty="0" smtClean="0">
                <a:solidFill>
                  <a:srgbClr val="002060"/>
                </a:solidFill>
                <a:latin typeface="Book Antiqua" pitchFamily="18" charset="0"/>
              </a:rPr>
              <a:t>What we will do in this course?</a:t>
            </a:r>
          </a:p>
          <a:p>
            <a:pPr eaLnBrk="1" hangingPunct="1">
              <a:spcBef>
                <a:spcPts val="600"/>
              </a:spcBef>
              <a:spcAft>
                <a:spcPts val="1200"/>
              </a:spcAft>
            </a:pPr>
            <a:endParaRPr lang="en-US" altLang="en-US" i="1" dirty="0" smtClean="0">
              <a:solidFill>
                <a:srgbClr val="002060"/>
              </a:solidFill>
              <a:latin typeface="Book Antiqua" pitchFamily="18" charset="0"/>
            </a:endParaRPr>
          </a:p>
          <a:p>
            <a:pPr eaLnBrk="1" hangingPunct="1">
              <a:lnSpc>
                <a:spcPct val="113000"/>
              </a:lnSpc>
              <a:spcBef>
                <a:spcPts val="600"/>
              </a:spcBef>
            </a:pPr>
            <a:r>
              <a:rPr lang="en-US" altLang="en-US" dirty="0" smtClean="0">
                <a:latin typeface="Book Antiqua" pitchFamily="18" charset="0"/>
                <a:ea typeface="LM Sans 10"/>
                <a:cs typeface="LM Sans 10"/>
              </a:rPr>
              <a:t>Unit 1 - Introduction, Biological Neural Networks  </a:t>
            </a:r>
          </a:p>
          <a:p>
            <a:pPr eaLnBrk="1" hangingPunct="1">
              <a:lnSpc>
                <a:spcPct val="113000"/>
              </a:lnSpc>
              <a:spcBef>
                <a:spcPts val="600"/>
              </a:spcBef>
            </a:pPr>
            <a:r>
              <a:rPr lang="en-US" altLang="en-US" dirty="0" smtClean="0">
                <a:latin typeface="Book Antiqua" pitchFamily="18" charset="0"/>
                <a:ea typeface="LM Sans 10"/>
                <a:cs typeface="LM Sans 10"/>
              </a:rPr>
              <a:t>Unit 2 - Components of ANNs, Connections, activation function</a:t>
            </a:r>
          </a:p>
          <a:p>
            <a:pPr eaLnBrk="1" hangingPunct="1">
              <a:lnSpc>
                <a:spcPct val="113000"/>
              </a:lnSpc>
              <a:spcBef>
                <a:spcPts val="600"/>
              </a:spcBef>
            </a:pPr>
            <a:r>
              <a:rPr lang="en-US" altLang="en-US" dirty="0" smtClean="0">
                <a:latin typeface="Book Antiqua" pitchFamily="18" charset="0"/>
                <a:ea typeface="LM Sans 10"/>
                <a:cs typeface="LM Sans 10"/>
              </a:rPr>
              <a:t>Unit 3 - Neural Network Learning, </a:t>
            </a:r>
            <a:r>
              <a:rPr lang="en-US" altLang="en-US" dirty="0" err="1" smtClean="0">
                <a:latin typeface="Book Antiqua" pitchFamily="18" charset="0"/>
                <a:ea typeface="LM Sans 10"/>
                <a:cs typeface="LM Sans 10"/>
              </a:rPr>
              <a:t>Backpropagation</a:t>
            </a:r>
            <a:r>
              <a:rPr lang="en-US" altLang="en-US" dirty="0" smtClean="0">
                <a:latin typeface="Book Antiqua" pitchFamily="18" charset="0"/>
                <a:ea typeface="LM Sans 10"/>
                <a:cs typeface="LM Sans 10"/>
              </a:rPr>
              <a:t>, </a:t>
            </a:r>
            <a:r>
              <a:rPr lang="en-US" altLang="en-US" dirty="0" err="1" smtClean="0">
                <a:latin typeface="Book Antiqua" pitchFamily="18" charset="0"/>
                <a:ea typeface="LM Sans 10"/>
                <a:cs typeface="LM Sans 10"/>
              </a:rPr>
              <a:t>Hebbian</a:t>
            </a:r>
            <a:r>
              <a:rPr lang="en-US" altLang="en-US" dirty="0" smtClean="0">
                <a:latin typeface="Book Antiqua" pitchFamily="18" charset="0"/>
                <a:ea typeface="LM Sans 10"/>
                <a:cs typeface="LM Sans 10"/>
              </a:rPr>
              <a:t> 	 	learning</a:t>
            </a:r>
          </a:p>
          <a:p>
            <a:pPr eaLnBrk="1" hangingPunct="1">
              <a:lnSpc>
                <a:spcPct val="100000"/>
              </a:lnSpc>
              <a:spcBef>
                <a:spcPts val="600"/>
              </a:spcBef>
            </a:pPr>
            <a:r>
              <a:rPr lang="en-US" altLang="en-US" dirty="0" smtClean="0">
                <a:latin typeface="Book Antiqua" pitchFamily="18" charset="0"/>
                <a:ea typeface="LM Sans 10"/>
                <a:cs typeface="LM Sans 10"/>
              </a:rPr>
              <a:t>Unit 4 - Types of Neural Networks, Radial Basis Function RBF) Neural 	 	Networks  Jordan, Elman Networks</a:t>
            </a:r>
          </a:p>
          <a:p>
            <a:pPr marL="0" indent="0" eaLnBrk="1" hangingPunct="1">
              <a:lnSpc>
                <a:spcPct val="100000"/>
              </a:lnSpc>
              <a:spcBef>
                <a:spcPts val="600"/>
              </a:spcBef>
              <a:buNone/>
            </a:pPr>
            <a:endParaRPr lang="en-US" altLang="en-US" dirty="0" smtClean="0">
              <a:latin typeface="Book Antiqua" pitchFamily="18" charset="0"/>
              <a:ea typeface="LM Sans 10"/>
              <a:cs typeface="LM Sans 10"/>
            </a:endParaRPr>
          </a:p>
          <a:p>
            <a:pPr eaLnBrk="1" hangingPunct="1">
              <a:lnSpc>
                <a:spcPct val="100000"/>
              </a:lnSpc>
              <a:spcBef>
                <a:spcPts val="600"/>
              </a:spcBef>
            </a:pPr>
            <a:r>
              <a:rPr lang="en-US" altLang="en-US" dirty="0" smtClean="0">
                <a:latin typeface="Book Antiqua" pitchFamily="18" charset="0"/>
                <a:ea typeface="LM Sans 10"/>
                <a:cs typeface="LM Sans 10"/>
              </a:rPr>
              <a:t>Unit 5 - Unsupervised Learning using Neural Networks Self-organizing 	maps and variants</a:t>
            </a:r>
          </a:p>
          <a:p>
            <a:pPr eaLnBrk="1" hangingPunct="1">
              <a:spcBef>
                <a:spcPts val="600"/>
              </a:spcBef>
              <a:spcAft>
                <a:spcPts val="1200"/>
              </a:spcAft>
            </a:pPr>
            <a:endParaRPr lang="en-US" altLang="en-US" sz="3600" i="1" dirty="0" smtClean="0">
              <a:solidFill>
                <a:srgbClr val="002060"/>
              </a:solidFill>
              <a:latin typeface="Book Antiqua" pitchFamily="18" charset="0"/>
            </a:endParaRPr>
          </a:p>
          <a:p>
            <a:pPr eaLnBrk="1" hangingPunct="1">
              <a:spcAft>
                <a:spcPts val="1200"/>
              </a:spcAft>
            </a:pPr>
            <a:endParaRPr lang="en-US" altLang="en-US" sz="3600" i="1" dirty="0" smtClean="0">
              <a:solidFill>
                <a:srgbClr val="002060"/>
              </a:solidFill>
              <a:latin typeface="Book Antiqua" pitchFamily="18" charset="0"/>
            </a:endParaRPr>
          </a:p>
          <a:p>
            <a:pPr eaLnBrk="1" hangingPunct="1">
              <a:spcAft>
                <a:spcPts val="1200"/>
              </a:spcAft>
            </a:pPr>
            <a:endParaRPr lang="en-US" altLang="en-US" sz="3600" dirty="0" smtClean="0">
              <a:solidFill>
                <a:srgbClr val="002060"/>
              </a:solidFill>
              <a:latin typeface="Book Antiqua" pitchFamily="18" charset="0"/>
            </a:endParaRPr>
          </a:p>
        </p:txBody>
      </p:sp>
      <p:sp>
        <p:nvSpPr>
          <p:cNvPr id="11267"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7835E226-4FF9-4D0D-BCA1-CAFF318FF3C4}" type="slidenum">
              <a:rPr lang="tr-TR" altLang="en-US" sz="1400" smtClean="0">
                <a:latin typeface="Palatino Linotype" pitchFamily="18" charset="0"/>
              </a:rPr>
              <a:pPr/>
              <a:t>3</a:t>
            </a:fld>
            <a:endParaRPr lang="tr-TR" altLang="en-US" sz="1400" smtClean="0">
              <a:latin typeface="Palatino Linotype" pitchFamily="18" charset="0"/>
            </a:endParaRPr>
          </a:p>
        </p:txBody>
      </p:sp>
    </p:spTree>
    <p:extLst>
      <p:ext uri="{BB962C8B-B14F-4D97-AF65-F5344CB8AC3E}">
        <p14:creationId xmlns:p14="http://schemas.microsoft.com/office/powerpoint/2010/main" val="17778563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2" y="3140968"/>
            <a:ext cx="8712968" cy="3528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60648"/>
            <a:ext cx="8820472" cy="2736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3031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noChangeArrowheads="1"/>
          </p:cNvSpPr>
          <p:nvPr>
            <p:ph idx="1"/>
          </p:nvPr>
        </p:nvSpPr>
        <p:spPr>
          <a:xfrm>
            <a:off x="395288" y="692150"/>
            <a:ext cx="8229600" cy="5767388"/>
          </a:xfrm>
        </p:spPr>
        <p:txBody>
          <a:bodyPr rtlCol="0">
            <a:normAutofit fontScale="85000" lnSpcReduction="20000"/>
          </a:bodyPr>
          <a:lstStyle/>
          <a:p>
            <a:pPr marL="91440" indent="-91440" algn="ctr" eaLnBrk="1" fontAlgn="auto" hangingPunct="1">
              <a:spcAft>
                <a:spcPts val="1200"/>
              </a:spcAft>
              <a:defRPr/>
            </a:pPr>
            <a:r>
              <a:rPr lang="en-US" sz="3600" spc="15" dirty="0">
                <a:solidFill>
                  <a:srgbClr val="002060"/>
                </a:solidFill>
                <a:latin typeface="Book Antiqua" panose="02040602050305030304" pitchFamily="18" charset="0"/>
              </a:rPr>
              <a:t>Why neural network?</a:t>
            </a:r>
          </a:p>
          <a:p>
            <a:pPr marL="91440" indent="-91440" eaLnBrk="1" fontAlgn="auto" hangingPunct="1">
              <a:spcBef>
                <a:spcPts val="600"/>
              </a:spcBef>
              <a:spcAft>
                <a:spcPts val="1200"/>
              </a:spcAft>
              <a:defRPr/>
            </a:pPr>
            <a:endParaRPr lang="en-US" altLang="en-US" i="1" dirty="0">
              <a:solidFill>
                <a:srgbClr val="002060"/>
              </a:solidFill>
              <a:latin typeface="Book Antiqua" panose="02040602050305030304" pitchFamily="18" charset="0"/>
            </a:endParaRPr>
          </a:p>
          <a:p>
            <a:pPr marL="344488" indent="-344488" eaLnBrk="1" fontAlgn="auto" hangingPunct="1">
              <a:buFont typeface="Arial" panose="020B0604020202020204" pitchFamily="34" charset="0"/>
              <a:buChar char="•"/>
              <a:defRPr/>
            </a:pPr>
            <a:r>
              <a:rPr lang="en-US" spc="-5" dirty="0">
                <a:solidFill>
                  <a:schemeClr val="tx1">
                    <a:lumMod val="75000"/>
                    <a:lumOff val="25000"/>
                  </a:schemeClr>
                </a:solidFill>
                <a:latin typeface="Book Antiqua" panose="02040602050305030304" pitchFamily="18" charset="0"/>
              </a:rPr>
              <a:t>A neural network is a method in artificial intelligence that teaches computers to process data in a way that is inspired by the human brain.</a:t>
            </a:r>
          </a:p>
          <a:p>
            <a:pPr marL="344488" indent="-344488" eaLnBrk="1" fontAlgn="auto" hangingPunct="1">
              <a:buFont typeface="Arial" panose="020B0604020202020204" pitchFamily="34" charset="0"/>
              <a:buChar char="•"/>
              <a:defRPr/>
            </a:pPr>
            <a:r>
              <a:rPr lang="en-US" spc="-5" dirty="0">
                <a:solidFill>
                  <a:schemeClr val="tx1">
                    <a:lumMod val="75000"/>
                    <a:lumOff val="25000"/>
                  </a:schemeClr>
                </a:solidFill>
                <a:latin typeface="Book Antiqua" panose="02040602050305030304" pitchFamily="18" charset="0"/>
              </a:rPr>
              <a:t> It uses interconnected nodes or neurons in a layered structure that resembles the human brain. </a:t>
            </a:r>
          </a:p>
          <a:p>
            <a:pPr marL="344488" indent="-344488" eaLnBrk="1" fontAlgn="auto" hangingPunct="1">
              <a:buFont typeface="Arial" panose="020B0604020202020204" pitchFamily="34" charset="0"/>
              <a:buChar char="•"/>
              <a:defRPr/>
            </a:pPr>
            <a:r>
              <a:rPr lang="en-US" spc="-5" dirty="0">
                <a:solidFill>
                  <a:schemeClr val="tx1">
                    <a:lumMod val="75000"/>
                    <a:lumOff val="25000"/>
                  </a:schemeClr>
                </a:solidFill>
                <a:latin typeface="Book Antiqua" panose="02040602050305030304" pitchFamily="18" charset="0"/>
              </a:rPr>
              <a:t>It creates an adaptive system that computers use to learn from their mistakes and improve continuously. </a:t>
            </a:r>
          </a:p>
          <a:p>
            <a:pPr marL="344488" indent="-344488" eaLnBrk="1" fontAlgn="auto" hangingPunct="1">
              <a:buFont typeface="Arial" panose="020B0604020202020204" pitchFamily="34" charset="0"/>
              <a:buChar char="•"/>
              <a:defRPr/>
            </a:pPr>
            <a:r>
              <a:rPr lang="en-US" spc="-5" dirty="0">
                <a:solidFill>
                  <a:schemeClr val="tx1">
                    <a:lumMod val="75000"/>
                    <a:lumOff val="25000"/>
                  </a:schemeClr>
                </a:solidFill>
                <a:latin typeface="Book Antiqua" panose="02040602050305030304" pitchFamily="18" charset="0"/>
              </a:rPr>
              <a:t>Artificial neural networks attempt to solve complicated problems, like summarizing documents or recognizing faces, with greater accuracy.</a:t>
            </a:r>
            <a:endParaRPr lang="en-US" altLang="en-US" spc="-5" dirty="0">
              <a:solidFill>
                <a:schemeClr val="tx1">
                  <a:lumMod val="75000"/>
                  <a:lumOff val="25000"/>
                </a:schemeClr>
              </a:solidFill>
              <a:latin typeface="Book Antiqua" panose="02040602050305030304" pitchFamily="18" charset="0"/>
            </a:endParaRPr>
          </a:p>
          <a:p>
            <a:pPr marL="91440" indent="-91440" eaLnBrk="1" fontAlgn="auto" hangingPunct="1">
              <a:spcAft>
                <a:spcPts val="1200"/>
              </a:spcAft>
              <a:defRPr/>
            </a:pPr>
            <a:endParaRPr lang="en-US" altLang="en-US" sz="3600" dirty="0">
              <a:solidFill>
                <a:srgbClr val="002060"/>
              </a:solidFill>
              <a:latin typeface="Book Antiqua" panose="02040602050305030304" pitchFamily="18" charset="0"/>
            </a:endParaRPr>
          </a:p>
        </p:txBody>
      </p:sp>
      <p:sp>
        <p:nvSpPr>
          <p:cNvPr id="12291"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351F1EEA-F5E7-47A4-9D62-E0706392F852}" type="slidenum">
              <a:rPr lang="tr-TR" altLang="en-US" sz="1400" smtClean="0">
                <a:latin typeface="Palatino Linotype" pitchFamily="18" charset="0"/>
              </a:rPr>
              <a:pPr/>
              <a:t>5</a:t>
            </a:fld>
            <a:endParaRPr lang="tr-TR" altLang="en-US" sz="1400" smtClean="0">
              <a:latin typeface="Palatino Linotype" pitchFamily="18" charset="0"/>
            </a:endParaRPr>
          </a:p>
        </p:txBody>
      </p:sp>
    </p:spTree>
    <p:extLst>
      <p:ext uri="{BB962C8B-B14F-4D97-AF65-F5344CB8AC3E}">
        <p14:creationId xmlns:p14="http://schemas.microsoft.com/office/powerpoint/2010/main" val="41110642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noChangeArrowheads="1"/>
          </p:cNvSpPr>
          <p:nvPr>
            <p:ph idx="1"/>
          </p:nvPr>
        </p:nvSpPr>
        <p:spPr>
          <a:xfrm>
            <a:off x="395288" y="692150"/>
            <a:ext cx="8353425" cy="5767388"/>
          </a:xfrm>
        </p:spPr>
        <p:txBody>
          <a:bodyPr rtlCol="0">
            <a:normAutofit fontScale="70000" lnSpcReduction="20000"/>
          </a:bodyPr>
          <a:lstStyle/>
          <a:p>
            <a:pPr marL="91440" indent="-91440" algn="ctr" eaLnBrk="1" fontAlgn="auto" hangingPunct="1">
              <a:spcAft>
                <a:spcPts val="1200"/>
              </a:spcAft>
              <a:defRPr/>
            </a:pPr>
            <a:r>
              <a:rPr lang="en-US" sz="3600" spc="15" dirty="0">
                <a:solidFill>
                  <a:schemeClr val="tx1"/>
                </a:solidFill>
                <a:latin typeface="Book Antiqua" panose="02040602050305030304" pitchFamily="18" charset="0"/>
              </a:rPr>
              <a:t>Brief History of Neural Networks</a:t>
            </a:r>
          </a:p>
          <a:p>
            <a:pPr marL="91440" indent="-91440" eaLnBrk="1" fontAlgn="auto" hangingPunct="1">
              <a:spcAft>
                <a:spcPts val="1200"/>
              </a:spcAft>
              <a:buFont typeface="Arial" panose="020B0604020202020204" pitchFamily="34" charset="0"/>
              <a:buChar char="•"/>
              <a:defRPr/>
            </a:pPr>
            <a:endParaRPr lang="en-US" altLang="en-US" sz="3600" dirty="0">
              <a:solidFill>
                <a:schemeClr val="tx1"/>
              </a:solidFill>
              <a:latin typeface="Book Antiqua" panose="02040602050305030304" pitchFamily="18" charset="0"/>
            </a:endParaRPr>
          </a:p>
          <a:p>
            <a:pPr marL="681228" indent="-91440" eaLnBrk="1" fontAlgn="auto" hangingPunct="1">
              <a:lnSpc>
                <a:spcPct val="112000"/>
              </a:lnSpc>
              <a:spcBef>
                <a:spcPts val="600"/>
              </a:spcBef>
              <a:defRPr/>
            </a:pPr>
            <a:r>
              <a:rPr lang="en-US" spc="-5" dirty="0">
                <a:solidFill>
                  <a:schemeClr val="tx1">
                    <a:lumMod val="75000"/>
                    <a:lumOff val="25000"/>
                  </a:schemeClr>
                </a:solidFill>
                <a:latin typeface="Book Antiqua" panose="02040602050305030304" pitchFamily="18" charset="0"/>
              </a:rPr>
              <a:t>1943 - Warren McCulloch and Walter Pitts </a:t>
            </a:r>
          </a:p>
          <a:p>
            <a:pPr marL="1143000" indent="-228600" eaLnBrk="1" fontAlgn="auto" hangingPunct="1">
              <a:lnSpc>
                <a:spcPct val="112000"/>
              </a:lnSpc>
              <a:spcBef>
                <a:spcPts val="600"/>
              </a:spcBef>
              <a:buFont typeface="Arial" panose="020B0604020202020204" pitchFamily="34" charset="0"/>
              <a:buChar char="•"/>
              <a:defRPr/>
            </a:pPr>
            <a:r>
              <a:rPr lang="en-US" spc="-5" dirty="0">
                <a:solidFill>
                  <a:schemeClr val="tx1">
                    <a:lumMod val="75000"/>
                    <a:lumOff val="25000"/>
                  </a:schemeClr>
                </a:solidFill>
                <a:latin typeface="Book Antiqua" panose="02040602050305030304" pitchFamily="18" charset="0"/>
              </a:rPr>
              <a:t>models of neurological networks,  threshold switches</a:t>
            </a:r>
          </a:p>
          <a:p>
            <a:pPr marL="1143000" indent="-228600" eaLnBrk="1" fontAlgn="auto" hangingPunct="1">
              <a:lnSpc>
                <a:spcPct val="112000"/>
              </a:lnSpc>
              <a:spcBef>
                <a:spcPts val="600"/>
              </a:spcBef>
              <a:buFont typeface="Arial" panose="020B0604020202020204" pitchFamily="34" charset="0"/>
              <a:buChar char="•"/>
              <a:defRPr/>
            </a:pPr>
            <a:r>
              <a:rPr lang="en-US" spc="-5" dirty="0">
                <a:solidFill>
                  <a:schemeClr val="tx1">
                    <a:lumMod val="75000"/>
                    <a:lumOff val="25000"/>
                  </a:schemeClr>
                </a:solidFill>
                <a:latin typeface="Book Antiqua" panose="02040602050305030304" pitchFamily="18" charset="0"/>
              </a:rPr>
              <a:t> showed that such simple networks capable of any logic/arithmetic  function</a:t>
            </a:r>
          </a:p>
          <a:p>
            <a:pPr marL="1143000" lvl="1" indent="-228600" eaLnBrk="1" fontAlgn="auto" hangingPunct="1">
              <a:lnSpc>
                <a:spcPct val="112000"/>
              </a:lnSpc>
              <a:spcBef>
                <a:spcPts val="600"/>
              </a:spcBef>
              <a:spcAft>
                <a:spcPts val="200"/>
              </a:spcAft>
              <a:buSzPct val="100000"/>
              <a:buFont typeface="Arial" panose="020B0604020202020204" pitchFamily="34" charset="0"/>
              <a:buChar char="•"/>
              <a:defRPr/>
            </a:pPr>
            <a:r>
              <a:rPr lang="en-US" sz="2000" spc="-5" dirty="0">
                <a:solidFill>
                  <a:schemeClr val="tx1">
                    <a:lumMod val="75000"/>
                    <a:lumOff val="25000"/>
                  </a:schemeClr>
                </a:solidFill>
                <a:latin typeface="Book Antiqua" panose="02040602050305030304" pitchFamily="18" charset="0"/>
              </a:rPr>
              <a:t>first computer precursors developed at same time by Konrad </a:t>
            </a:r>
            <a:r>
              <a:rPr lang="en-US" sz="2000" spc="-5" dirty="0" err="1">
                <a:solidFill>
                  <a:schemeClr val="tx1">
                    <a:lumMod val="75000"/>
                    <a:lumOff val="25000"/>
                  </a:schemeClr>
                </a:solidFill>
                <a:latin typeface="Book Antiqua" panose="02040602050305030304" pitchFamily="18" charset="0"/>
              </a:rPr>
              <a:t>Zuse</a:t>
            </a:r>
            <a:endParaRPr lang="en-US" sz="2000" spc="-5" dirty="0">
              <a:solidFill>
                <a:schemeClr val="tx1">
                  <a:lumMod val="75000"/>
                  <a:lumOff val="25000"/>
                </a:schemeClr>
              </a:solidFill>
              <a:latin typeface="Book Antiqua" panose="02040602050305030304" pitchFamily="18" charset="0"/>
            </a:endParaRPr>
          </a:p>
          <a:p>
            <a:pPr marL="681228" indent="-91440" eaLnBrk="1" fontAlgn="auto" hangingPunct="1">
              <a:lnSpc>
                <a:spcPct val="112000"/>
              </a:lnSpc>
              <a:spcBef>
                <a:spcPts val="600"/>
              </a:spcBef>
              <a:defRPr/>
            </a:pPr>
            <a:r>
              <a:rPr lang="en-US" spc="-5" dirty="0">
                <a:solidFill>
                  <a:schemeClr val="tx1">
                    <a:lumMod val="75000"/>
                    <a:lumOff val="25000"/>
                  </a:schemeClr>
                </a:solidFill>
                <a:latin typeface="Book Antiqua" panose="02040602050305030304" pitchFamily="18" charset="0"/>
              </a:rPr>
              <a:t>1949 - Donald O. Hebb</a:t>
            </a:r>
          </a:p>
          <a:p>
            <a:pPr marL="1252538" lvl="1" indent="-282575" eaLnBrk="1" fontAlgn="auto" hangingPunct="1">
              <a:lnSpc>
                <a:spcPct val="112000"/>
              </a:lnSpc>
              <a:spcBef>
                <a:spcPts val="600"/>
              </a:spcBef>
              <a:spcAft>
                <a:spcPts val="200"/>
              </a:spcAft>
              <a:buSzPct val="100000"/>
              <a:buFont typeface="Arial" panose="020B0604020202020204" pitchFamily="34" charset="0"/>
              <a:buChar char="•"/>
              <a:defRPr/>
            </a:pPr>
            <a:r>
              <a:rPr lang="en-US" sz="2000" spc="-5" dirty="0">
                <a:solidFill>
                  <a:schemeClr val="tx1">
                    <a:lumMod val="75000"/>
                    <a:lumOff val="25000"/>
                  </a:schemeClr>
                </a:solidFill>
                <a:latin typeface="Book Antiqua" panose="02040602050305030304" pitchFamily="18" charset="0"/>
              </a:rPr>
              <a:t>postulated the Hebbian rule</a:t>
            </a:r>
          </a:p>
          <a:p>
            <a:pPr marL="1252538" lvl="1" indent="-282575" eaLnBrk="1" fontAlgn="auto" hangingPunct="1">
              <a:lnSpc>
                <a:spcPct val="112000"/>
              </a:lnSpc>
              <a:spcBef>
                <a:spcPts val="600"/>
              </a:spcBef>
              <a:spcAft>
                <a:spcPts val="200"/>
              </a:spcAft>
              <a:buSzPct val="100000"/>
              <a:buFont typeface="Arial" panose="020B0604020202020204" pitchFamily="34" charset="0"/>
              <a:buChar char="•"/>
              <a:defRPr/>
            </a:pPr>
            <a:r>
              <a:rPr lang="en-US" sz="2000" spc="-5" dirty="0">
                <a:solidFill>
                  <a:schemeClr val="tx1">
                    <a:lumMod val="75000"/>
                    <a:lumOff val="25000"/>
                  </a:schemeClr>
                </a:solidFill>
                <a:latin typeface="Book Antiqua" panose="02040602050305030304" pitchFamily="18" charset="0"/>
              </a:rPr>
              <a:t>basis of all neural learning procedures</a:t>
            </a:r>
          </a:p>
          <a:p>
            <a:pPr marL="194310" indent="-91440" eaLnBrk="1" fontAlgn="auto" hangingPunct="1">
              <a:lnSpc>
                <a:spcPct val="112000"/>
              </a:lnSpc>
              <a:spcBef>
                <a:spcPts val="600"/>
              </a:spcBef>
              <a:defRPr/>
            </a:pPr>
            <a:r>
              <a:rPr lang="en-US" b="1" spc="-5" dirty="0">
                <a:solidFill>
                  <a:schemeClr val="tx1">
                    <a:lumMod val="75000"/>
                    <a:lumOff val="25000"/>
                  </a:schemeClr>
                </a:solidFill>
                <a:latin typeface="Book Antiqua" panose="02040602050305030304" pitchFamily="18" charset="0"/>
              </a:rPr>
              <a:t>Hebbian Rule</a:t>
            </a:r>
          </a:p>
          <a:p>
            <a:pPr marL="194310" indent="-91440" eaLnBrk="1" fontAlgn="auto" hangingPunct="1">
              <a:lnSpc>
                <a:spcPct val="112000"/>
              </a:lnSpc>
              <a:spcBef>
                <a:spcPts val="600"/>
              </a:spcBef>
              <a:defRPr/>
            </a:pPr>
            <a:r>
              <a:rPr lang="en-US" spc="-5" dirty="0">
                <a:solidFill>
                  <a:schemeClr val="tx1">
                    <a:lumMod val="75000"/>
                    <a:lumOff val="25000"/>
                  </a:schemeClr>
                </a:solidFill>
                <a:latin typeface="Book Antiqua" panose="02040602050305030304" pitchFamily="18" charset="0"/>
              </a:rPr>
              <a:t>The connection between two neurons is strengthened when both neurons  are active at the same time. This change in strength is pro-</a:t>
            </a:r>
            <a:r>
              <a:rPr lang="en-US" spc="-5" dirty="0" err="1">
                <a:solidFill>
                  <a:schemeClr val="tx1">
                    <a:lumMod val="75000"/>
                    <a:lumOff val="25000"/>
                  </a:schemeClr>
                </a:solidFill>
                <a:latin typeface="Book Antiqua" panose="02040602050305030304" pitchFamily="18" charset="0"/>
              </a:rPr>
              <a:t>portional</a:t>
            </a:r>
            <a:r>
              <a:rPr lang="en-US" spc="-5" dirty="0">
                <a:solidFill>
                  <a:schemeClr val="tx1">
                    <a:lumMod val="75000"/>
                    <a:lumOff val="25000"/>
                  </a:schemeClr>
                </a:solidFill>
                <a:latin typeface="Book Antiqua" panose="02040602050305030304" pitchFamily="18" charset="0"/>
              </a:rPr>
              <a:t> to  the product of the two activities.</a:t>
            </a:r>
          </a:p>
          <a:p>
            <a:pPr marL="91440" indent="-91440" eaLnBrk="1" fontAlgn="auto" hangingPunct="1">
              <a:spcAft>
                <a:spcPts val="1200"/>
              </a:spcAft>
              <a:defRPr/>
            </a:pPr>
            <a:endParaRPr lang="en-US" sz="3200" dirty="0">
              <a:solidFill>
                <a:schemeClr val="tx1"/>
              </a:solidFill>
            </a:endParaRPr>
          </a:p>
          <a:p>
            <a:pPr marL="91440" indent="-91440" eaLnBrk="1" fontAlgn="auto" hangingPunct="1">
              <a:spcAft>
                <a:spcPts val="1200"/>
              </a:spcAft>
              <a:defRPr/>
            </a:pPr>
            <a:endParaRPr lang="en-US" altLang="en-US" sz="3600" dirty="0">
              <a:solidFill>
                <a:schemeClr val="tx1"/>
              </a:solidFill>
              <a:latin typeface="Book Antiqua" panose="02040602050305030304" pitchFamily="18" charset="0"/>
            </a:endParaRPr>
          </a:p>
        </p:txBody>
      </p:sp>
      <p:sp>
        <p:nvSpPr>
          <p:cNvPr id="21507"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CDF5FE96-54C3-4F3C-A3E4-91FDFD856C68}" type="slidenum">
              <a:rPr lang="tr-TR" altLang="en-US" sz="1400" smtClean="0">
                <a:latin typeface="Palatino Linotype" pitchFamily="18" charset="0"/>
              </a:rPr>
              <a:pPr/>
              <a:t>6</a:t>
            </a:fld>
            <a:endParaRPr lang="tr-TR" altLang="en-US" sz="1400" smtClean="0">
              <a:latin typeface="Palatino Linotype" pitchFamily="18" charset="0"/>
            </a:endParaRPr>
          </a:p>
        </p:txBody>
      </p:sp>
    </p:spTree>
    <p:extLst>
      <p:ext uri="{BB962C8B-B14F-4D97-AF65-F5344CB8AC3E}">
        <p14:creationId xmlns:p14="http://schemas.microsoft.com/office/powerpoint/2010/main" val="35731743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p:cNvSpPr>
            <a:spLocks noGrp="1" noChangeArrowheads="1"/>
          </p:cNvSpPr>
          <p:nvPr>
            <p:ph idx="1"/>
          </p:nvPr>
        </p:nvSpPr>
        <p:spPr>
          <a:xfrm>
            <a:off x="395288" y="692150"/>
            <a:ext cx="8229600" cy="5767388"/>
          </a:xfrm>
        </p:spPr>
        <p:txBody>
          <a:bodyPr>
            <a:normAutofit fontScale="77500" lnSpcReduction="20000"/>
          </a:bodyPr>
          <a:lstStyle/>
          <a:p>
            <a:pPr algn="ctr" eaLnBrk="1" hangingPunct="1">
              <a:lnSpc>
                <a:spcPct val="80000"/>
              </a:lnSpc>
              <a:spcAft>
                <a:spcPts val="1200"/>
              </a:spcAft>
            </a:pPr>
            <a:r>
              <a:rPr lang="en-US" altLang="en-US" sz="3600" smtClean="0">
                <a:solidFill>
                  <a:schemeClr val="tx1"/>
                </a:solidFill>
                <a:latin typeface="Book Antiqua" pitchFamily="18" charset="0"/>
              </a:rPr>
              <a:t>Brief History of Neural Networks</a:t>
            </a:r>
          </a:p>
          <a:p>
            <a:pPr eaLnBrk="1" hangingPunct="1">
              <a:lnSpc>
                <a:spcPct val="80000"/>
              </a:lnSpc>
              <a:spcAft>
                <a:spcPts val="1200"/>
              </a:spcAft>
              <a:buFont typeface="Arial" pitchFamily="34" charset="0"/>
              <a:buChar char="•"/>
            </a:pPr>
            <a:endParaRPr lang="en-US" altLang="en-US" smtClean="0">
              <a:solidFill>
                <a:schemeClr val="tx1"/>
              </a:solidFill>
              <a:latin typeface="Book Antiqua" pitchFamily="18" charset="0"/>
            </a:endParaRPr>
          </a:p>
          <a:p>
            <a:pPr eaLnBrk="1" hangingPunct="1">
              <a:lnSpc>
                <a:spcPct val="102000"/>
              </a:lnSpc>
              <a:spcBef>
                <a:spcPts val="600"/>
              </a:spcBef>
            </a:pPr>
            <a:r>
              <a:rPr lang="en-US" altLang="en-US" smtClean="0">
                <a:latin typeface="Book Antiqua" pitchFamily="18" charset="0"/>
                <a:ea typeface="LM Sans 10"/>
                <a:cs typeface="LM Sans 10"/>
              </a:rPr>
              <a:t>1950 - Karl Lashley - brain information storage is distributed</a:t>
            </a:r>
          </a:p>
          <a:p>
            <a:pPr marL="833438" lvl="1" indent="-342900" eaLnBrk="1" hangingPunct="1">
              <a:spcBef>
                <a:spcPts val="600"/>
              </a:spcBef>
              <a:buFont typeface="Arial" pitchFamily="34" charset="0"/>
              <a:buChar char="•"/>
            </a:pPr>
            <a:r>
              <a:rPr lang="en-US" altLang="en-US" smtClean="0">
                <a:latin typeface="Book Antiqua" pitchFamily="18" charset="0"/>
                <a:ea typeface="LM Sans 10"/>
                <a:cs typeface="LM Sans 10"/>
              </a:rPr>
              <a:t>experiment on rats in a labyrinth (maze)</a:t>
            </a:r>
          </a:p>
          <a:p>
            <a:pPr marL="833438" lvl="1" indent="-342900" eaLnBrk="1" hangingPunct="1">
              <a:spcBef>
                <a:spcPts val="600"/>
              </a:spcBef>
              <a:buFont typeface="Arial" pitchFamily="34" charset="0"/>
              <a:buChar char="•"/>
            </a:pPr>
            <a:r>
              <a:rPr lang="en-US" altLang="en-US" smtClean="0">
                <a:latin typeface="Book Antiqua" pitchFamily="18" charset="0"/>
                <a:ea typeface="LM Sans 10"/>
                <a:cs typeface="LM Sans 10"/>
              </a:rPr>
              <a:t>extent of damage affects rat performance but not location of damage</a:t>
            </a:r>
          </a:p>
          <a:p>
            <a:pPr eaLnBrk="1" hangingPunct="1">
              <a:lnSpc>
                <a:spcPct val="102000"/>
              </a:lnSpc>
              <a:spcBef>
                <a:spcPts val="600"/>
              </a:spcBef>
            </a:pPr>
            <a:r>
              <a:rPr lang="en-US" altLang="en-US" smtClean="0">
                <a:latin typeface="Book Antiqua" pitchFamily="18" charset="0"/>
                <a:ea typeface="LM Sans 10"/>
                <a:cs typeface="LM Sans 10"/>
              </a:rPr>
              <a:t>1957-58 - Frank Rosenblatt, Charles Wightman and others - first  neurocomputer </a:t>
            </a:r>
          </a:p>
          <a:p>
            <a:pPr lvl="2" eaLnBrk="1" hangingPunct="1">
              <a:lnSpc>
                <a:spcPct val="100000"/>
              </a:lnSpc>
              <a:spcBef>
                <a:spcPts val="600"/>
              </a:spcBef>
              <a:buFont typeface="Arial" pitchFamily="34" charset="0"/>
              <a:buChar char="•"/>
            </a:pPr>
            <a:r>
              <a:rPr lang="en-US" altLang="en-US" sz="1600" smtClean="0">
                <a:latin typeface="Book Antiqua" pitchFamily="18" charset="0"/>
                <a:ea typeface="LM Sans 10"/>
                <a:cs typeface="LM Sans 10"/>
              </a:rPr>
              <a:t>recognize numbers using 20 </a:t>
            </a:r>
            <a:r>
              <a:rPr lang="en-US" altLang="en-US" sz="1600" i="1" smtClean="0">
                <a:latin typeface="Book Antiqua" pitchFamily="18" charset="0"/>
                <a:ea typeface="LM Roman Demi 10"/>
                <a:cs typeface="LM Roman Demi 10"/>
              </a:rPr>
              <a:t>× </a:t>
            </a:r>
            <a:r>
              <a:rPr lang="en-US" altLang="en-US" sz="1600" smtClean="0">
                <a:latin typeface="Book Antiqua" pitchFamily="18" charset="0"/>
                <a:ea typeface="LM Sans 10"/>
                <a:cs typeface="LM Sans 10"/>
              </a:rPr>
              <a:t>20 pixel image sensor </a:t>
            </a:r>
          </a:p>
          <a:p>
            <a:pPr lvl="2" eaLnBrk="1" hangingPunct="1">
              <a:lnSpc>
                <a:spcPct val="100000"/>
              </a:lnSpc>
              <a:spcBef>
                <a:spcPts val="600"/>
              </a:spcBef>
              <a:buFont typeface="Arial" pitchFamily="34" charset="0"/>
              <a:buChar char="•"/>
            </a:pPr>
            <a:r>
              <a:rPr lang="en-US" altLang="en-US" sz="1600" smtClean="0">
                <a:latin typeface="Book Antiqua" pitchFamily="18" charset="0"/>
                <a:ea typeface="LM Sans 10"/>
                <a:cs typeface="LM Sans 10"/>
              </a:rPr>
              <a:t> 512 motor driven potentiometers</a:t>
            </a:r>
          </a:p>
          <a:p>
            <a:pPr lvl="2" eaLnBrk="1" hangingPunct="1">
              <a:lnSpc>
                <a:spcPct val="100000"/>
              </a:lnSpc>
              <a:spcBef>
                <a:spcPts val="600"/>
              </a:spcBef>
              <a:buFont typeface="Arial" pitchFamily="34" charset="0"/>
              <a:buChar char="•"/>
            </a:pPr>
            <a:r>
              <a:rPr lang="en-US" altLang="en-US" sz="1600" smtClean="0">
                <a:latin typeface="Book Antiqua" pitchFamily="18" charset="0"/>
                <a:ea typeface="LM Sans 10"/>
                <a:cs typeface="LM Sans 10"/>
              </a:rPr>
              <a:t>each potentiometer represents variable weight</a:t>
            </a:r>
          </a:p>
          <a:p>
            <a:pPr eaLnBrk="1" hangingPunct="1">
              <a:lnSpc>
                <a:spcPct val="102000"/>
              </a:lnSpc>
              <a:spcBef>
                <a:spcPts val="600"/>
              </a:spcBef>
            </a:pPr>
            <a:r>
              <a:rPr lang="en-US" altLang="en-US" smtClean="0">
                <a:latin typeface="Book Antiqua" pitchFamily="18" charset="0"/>
                <a:ea typeface="LM Sans 10"/>
                <a:cs typeface="LM Sans 10"/>
              </a:rPr>
              <a:t>1959 - Frank Rosenblatt - </a:t>
            </a:r>
            <a:r>
              <a:rPr lang="en-US" altLang="en-US" i="1" smtClean="0">
                <a:latin typeface="Book Antiqua" pitchFamily="18" charset="0"/>
                <a:ea typeface="LM Sans 10"/>
                <a:cs typeface="LM Sans 10"/>
              </a:rPr>
              <a:t>perceptron convergence theorem</a:t>
            </a:r>
            <a:endParaRPr lang="en-US" altLang="en-US" smtClean="0">
              <a:latin typeface="Book Antiqua" pitchFamily="18" charset="0"/>
              <a:ea typeface="LM Sans 10"/>
              <a:cs typeface="LM Sans 10"/>
            </a:endParaRPr>
          </a:p>
          <a:p>
            <a:pPr marL="833438" lvl="1" indent="-342900" eaLnBrk="1" hangingPunct="1">
              <a:lnSpc>
                <a:spcPct val="102000"/>
              </a:lnSpc>
              <a:spcBef>
                <a:spcPts val="600"/>
              </a:spcBef>
              <a:buFont typeface="Arial" pitchFamily="34" charset="0"/>
              <a:buChar char="•"/>
            </a:pPr>
            <a:r>
              <a:rPr lang="en-US" altLang="en-US" smtClean="0">
                <a:latin typeface="Book Antiqua" pitchFamily="18" charset="0"/>
                <a:ea typeface="LM Sans 10"/>
                <a:cs typeface="LM Sans 10"/>
              </a:rPr>
              <a:t>for linearly separable data, perceptron learning rule is guaranteed to  find a solution in finite number of steps</a:t>
            </a:r>
          </a:p>
          <a:p>
            <a:pPr eaLnBrk="1" hangingPunct="1">
              <a:lnSpc>
                <a:spcPct val="102000"/>
              </a:lnSpc>
              <a:spcBef>
                <a:spcPts val="600"/>
              </a:spcBef>
            </a:pPr>
            <a:endParaRPr lang="en-US" altLang="en-US" sz="1800" smtClean="0">
              <a:latin typeface="LM Sans 10"/>
              <a:ea typeface="LM Sans 10"/>
              <a:cs typeface="LM Sans 10"/>
            </a:endParaRPr>
          </a:p>
          <a:p>
            <a:pPr eaLnBrk="1" hangingPunct="1">
              <a:lnSpc>
                <a:spcPct val="80000"/>
              </a:lnSpc>
              <a:spcAft>
                <a:spcPts val="1200"/>
              </a:spcAft>
            </a:pPr>
            <a:endParaRPr lang="en-US" altLang="en-US" sz="3200" smtClean="0">
              <a:solidFill>
                <a:schemeClr val="tx1"/>
              </a:solidFill>
            </a:endParaRPr>
          </a:p>
          <a:p>
            <a:pPr eaLnBrk="1" hangingPunct="1">
              <a:lnSpc>
                <a:spcPct val="80000"/>
              </a:lnSpc>
              <a:spcAft>
                <a:spcPts val="1200"/>
              </a:spcAft>
            </a:pPr>
            <a:endParaRPr lang="en-US" altLang="en-US" sz="3600" smtClean="0">
              <a:solidFill>
                <a:schemeClr val="tx1"/>
              </a:solidFill>
              <a:latin typeface="Book Antiqua" pitchFamily="18" charset="0"/>
            </a:endParaRPr>
          </a:p>
        </p:txBody>
      </p:sp>
      <p:sp>
        <p:nvSpPr>
          <p:cNvPr id="22531"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EFE85067-2AFE-408A-A757-BCD5CCED35EB}" type="slidenum">
              <a:rPr lang="tr-TR" altLang="en-US" sz="1400" smtClean="0">
                <a:latin typeface="Palatino Linotype" pitchFamily="18" charset="0"/>
              </a:rPr>
              <a:pPr/>
              <a:t>7</a:t>
            </a:fld>
            <a:endParaRPr lang="tr-TR" altLang="en-US" sz="1400" smtClean="0">
              <a:latin typeface="Palatino Linotype" pitchFamily="18" charset="0"/>
            </a:endParaRPr>
          </a:p>
        </p:txBody>
      </p:sp>
    </p:spTree>
    <p:extLst>
      <p:ext uri="{BB962C8B-B14F-4D97-AF65-F5344CB8AC3E}">
        <p14:creationId xmlns:p14="http://schemas.microsoft.com/office/powerpoint/2010/main" val="29618547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p:cNvSpPr>
            <a:spLocks noGrp="1" noChangeArrowheads="1"/>
          </p:cNvSpPr>
          <p:nvPr>
            <p:ph idx="1"/>
          </p:nvPr>
        </p:nvSpPr>
        <p:spPr>
          <a:xfrm>
            <a:off x="395288" y="692150"/>
            <a:ext cx="8229600" cy="5767388"/>
          </a:xfrm>
        </p:spPr>
        <p:txBody>
          <a:bodyPr/>
          <a:lstStyle/>
          <a:p>
            <a:pPr algn="ctr" eaLnBrk="1" hangingPunct="1">
              <a:lnSpc>
                <a:spcPct val="80000"/>
              </a:lnSpc>
              <a:spcAft>
                <a:spcPts val="1200"/>
              </a:spcAft>
            </a:pPr>
            <a:r>
              <a:rPr lang="en-US" altLang="en-US" sz="3600" smtClean="0">
                <a:solidFill>
                  <a:schemeClr val="tx1"/>
                </a:solidFill>
                <a:latin typeface="Book Antiqua" pitchFamily="18" charset="0"/>
              </a:rPr>
              <a:t>Brief History of Neural Networks</a:t>
            </a:r>
          </a:p>
          <a:p>
            <a:pPr eaLnBrk="1" hangingPunct="1">
              <a:lnSpc>
                <a:spcPct val="92000"/>
              </a:lnSpc>
              <a:spcBef>
                <a:spcPts val="600"/>
              </a:spcBef>
            </a:pPr>
            <a:endParaRPr lang="en-US" altLang="en-US" sz="1900" smtClean="0">
              <a:latin typeface="Book Antiqua" pitchFamily="18" charset="0"/>
            </a:endParaRPr>
          </a:p>
          <a:p>
            <a:pPr eaLnBrk="1" hangingPunct="1">
              <a:lnSpc>
                <a:spcPct val="92000"/>
              </a:lnSpc>
              <a:spcBef>
                <a:spcPts val="600"/>
              </a:spcBef>
            </a:pPr>
            <a:r>
              <a:rPr lang="en-US" altLang="en-US" sz="1900" smtClean="0">
                <a:latin typeface="Book Antiqua" pitchFamily="18" charset="0"/>
              </a:rPr>
              <a:t>1960 - Bernard Widrow and Marcian E. Hoff - introduced Adaptive  Linear Neuron (ADALINE)</a:t>
            </a:r>
          </a:p>
          <a:p>
            <a:pPr lvl="2" eaLnBrk="1" hangingPunct="1">
              <a:lnSpc>
                <a:spcPct val="92000"/>
              </a:lnSpc>
              <a:spcBef>
                <a:spcPts val="600"/>
              </a:spcBef>
              <a:buFont typeface="Arial" pitchFamily="34" charset="0"/>
              <a:buChar char="•"/>
            </a:pPr>
            <a:r>
              <a:rPr lang="en-US" altLang="en-US" sz="1800" smtClean="0">
                <a:latin typeface="Book Antiqua" pitchFamily="18" charset="0"/>
              </a:rPr>
              <a:t>used by every analog telephone for echo filtering </a:t>
            </a:r>
          </a:p>
          <a:p>
            <a:pPr lvl="2" eaLnBrk="1" hangingPunct="1">
              <a:lnSpc>
                <a:spcPct val="92000"/>
              </a:lnSpc>
              <a:spcBef>
                <a:spcPts val="600"/>
              </a:spcBef>
              <a:buFont typeface="Arial" pitchFamily="34" charset="0"/>
              <a:buChar char="•"/>
            </a:pPr>
            <a:r>
              <a:rPr lang="en-US" altLang="en-US" sz="1800" smtClean="0">
                <a:latin typeface="Book Antiqua" pitchFamily="18" charset="0"/>
              </a:rPr>
              <a:t>trained used Widrow-Hoff or delta rule</a:t>
            </a:r>
          </a:p>
          <a:p>
            <a:pPr eaLnBrk="1" hangingPunct="1">
              <a:lnSpc>
                <a:spcPct val="92000"/>
              </a:lnSpc>
              <a:spcBef>
                <a:spcPts val="600"/>
              </a:spcBef>
            </a:pPr>
            <a:r>
              <a:rPr lang="en-US" altLang="en-US" sz="1900" smtClean="0">
                <a:latin typeface="Book Antiqua" pitchFamily="18" charset="0"/>
              </a:rPr>
              <a:t>1961 - Karl Steinbuch introduced technical realizations of associative  memory</a:t>
            </a:r>
          </a:p>
          <a:p>
            <a:pPr eaLnBrk="1" hangingPunct="1">
              <a:lnSpc>
                <a:spcPct val="92000"/>
              </a:lnSpc>
              <a:spcBef>
                <a:spcPts val="600"/>
              </a:spcBef>
            </a:pPr>
            <a:r>
              <a:rPr lang="en-US" altLang="en-US" sz="1900" smtClean="0">
                <a:latin typeface="Book Antiqua" pitchFamily="18" charset="0"/>
              </a:rPr>
              <a:t>1969: Marvin Minsky and Seymour Papert - precise mathematical  analysis of the perceptron</a:t>
            </a:r>
          </a:p>
          <a:p>
            <a:pPr lvl="1" eaLnBrk="1" hangingPunct="1">
              <a:lnSpc>
                <a:spcPct val="92000"/>
              </a:lnSpc>
              <a:spcBef>
                <a:spcPts val="600"/>
              </a:spcBef>
              <a:buFont typeface="Arial" pitchFamily="34" charset="0"/>
              <a:buChar char="•"/>
            </a:pPr>
            <a:r>
              <a:rPr lang="en-US" altLang="en-US" sz="1700" smtClean="0">
                <a:latin typeface="Book Antiqua" pitchFamily="18" charset="0"/>
              </a:rPr>
              <a:t>showed that perceptron model was not capable of representing many  important problems (e.g. XOR problem)</a:t>
            </a:r>
          </a:p>
          <a:p>
            <a:pPr lvl="1" eaLnBrk="1" hangingPunct="1">
              <a:lnSpc>
                <a:spcPct val="92000"/>
              </a:lnSpc>
              <a:spcBef>
                <a:spcPts val="600"/>
              </a:spcBef>
              <a:buFont typeface="Arial" pitchFamily="34" charset="0"/>
              <a:buChar char="•"/>
            </a:pPr>
            <a:r>
              <a:rPr lang="en-US" altLang="en-US" sz="1700" smtClean="0">
                <a:latin typeface="Book Antiqua" pitchFamily="18" charset="0"/>
              </a:rPr>
              <a:t>put an end to overestimation, popularity and research funds </a:t>
            </a:r>
          </a:p>
          <a:p>
            <a:pPr lvl="1" eaLnBrk="1" hangingPunct="1">
              <a:lnSpc>
                <a:spcPct val="92000"/>
              </a:lnSpc>
              <a:spcBef>
                <a:spcPts val="600"/>
              </a:spcBef>
              <a:buFont typeface="Arial" pitchFamily="34" charset="0"/>
              <a:buChar char="•"/>
            </a:pPr>
            <a:r>
              <a:rPr lang="en-US" altLang="en-US" sz="1700" smtClean="0">
                <a:latin typeface="Book Antiqua" pitchFamily="18" charset="0"/>
              </a:rPr>
              <a:t> suggested that more powerful models would show exactly the same  problem</a:t>
            </a:r>
          </a:p>
          <a:p>
            <a:pPr eaLnBrk="1" hangingPunct="1">
              <a:lnSpc>
                <a:spcPct val="92000"/>
              </a:lnSpc>
              <a:spcBef>
                <a:spcPts val="600"/>
              </a:spcBef>
            </a:pPr>
            <a:endParaRPr lang="en-US" altLang="en-US" sz="1900" smtClean="0">
              <a:latin typeface="Book Antiqua" pitchFamily="18" charset="0"/>
            </a:endParaRPr>
          </a:p>
          <a:p>
            <a:pPr eaLnBrk="1" hangingPunct="1">
              <a:lnSpc>
                <a:spcPct val="80000"/>
              </a:lnSpc>
              <a:spcAft>
                <a:spcPts val="1200"/>
              </a:spcAft>
            </a:pPr>
            <a:endParaRPr lang="en-US" altLang="en-US" sz="3200" smtClean="0">
              <a:solidFill>
                <a:schemeClr val="tx1"/>
              </a:solidFill>
            </a:endParaRPr>
          </a:p>
          <a:p>
            <a:pPr eaLnBrk="1" hangingPunct="1">
              <a:lnSpc>
                <a:spcPct val="80000"/>
              </a:lnSpc>
              <a:spcAft>
                <a:spcPts val="1200"/>
              </a:spcAft>
            </a:pPr>
            <a:endParaRPr lang="en-US" altLang="en-US" sz="3600" smtClean="0">
              <a:solidFill>
                <a:schemeClr val="tx1"/>
              </a:solidFill>
              <a:latin typeface="Book Antiqua" pitchFamily="18" charset="0"/>
            </a:endParaRPr>
          </a:p>
        </p:txBody>
      </p:sp>
      <p:sp>
        <p:nvSpPr>
          <p:cNvPr id="23555"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7A3F01EB-305C-4629-9B80-F978DBA88627}" type="slidenum">
              <a:rPr lang="tr-TR" altLang="en-US" sz="1400" smtClean="0">
                <a:latin typeface="Palatino Linotype" pitchFamily="18" charset="0"/>
              </a:rPr>
              <a:pPr/>
              <a:t>8</a:t>
            </a:fld>
            <a:endParaRPr lang="tr-TR" altLang="en-US" sz="1400" smtClean="0">
              <a:latin typeface="Palatino Linotype" pitchFamily="18" charset="0"/>
            </a:endParaRPr>
          </a:p>
        </p:txBody>
      </p:sp>
    </p:spTree>
    <p:extLst>
      <p:ext uri="{BB962C8B-B14F-4D97-AF65-F5344CB8AC3E}">
        <p14:creationId xmlns:p14="http://schemas.microsoft.com/office/powerpoint/2010/main" val="18950159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a:spLocks noGrp="1" noChangeArrowheads="1"/>
          </p:cNvSpPr>
          <p:nvPr>
            <p:ph idx="1"/>
          </p:nvPr>
        </p:nvSpPr>
        <p:spPr>
          <a:xfrm>
            <a:off x="395288" y="692150"/>
            <a:ext cx="8229600" cy="5767388"/>
          </a:xfrm>
        </p:spPr>
        <p:txBody>
          <a:bodyPr/>
          <a:lstStyle/>
          <a:p>
            <a:pPr algn="ctr" eaLnBrk="1" hangingPunct="1">
              <a:spcAft>
                <a:spcPts val="1200"/>
              </a:spcAft>
            </a:pPr>
            <a:r>
              <a:rPr lang="en-US" altLang="en-US" sz="3600" smtClean="0">
                <a:solidFill>
                  <a:schemeClr val="tx1"/>
                </a:solidFill>
                <a:latin typeface="Book Antiqua" pitchFamily="18" charset="0"/>
              </a:rPr>
              <a:t>Brief History of Neural Networks</a:t>
            </a:r>
          </a:p>
          <a:p>
            <a:pPr eaLnBrk="1" hangingPunct="1">
              <a:lnSpc>
                <a:spcPct val="102000"/>
              </a:lnSpc>
              <a:spcBef>
                <a:spcPts val="600"/>
              </a:spcBef>
            </a:pPr>
            <a:endParaRPr lang="en-US" altLang="en-US" sz="1900" smtClean="0">
              <a:latin typeface="Book Antiqua" pitchFamily="18" charset="0"/>
            </a:endParaRPr>
          </a:p>
          <a:p>
            <a:pPr eaLnBrk="1" hangingPunct="1">
              <a:lnSpc>
                <a:spcPct val="102000"/>
              </a:lnSpc>
              <a:spcBef>
                <a:spcPts val="600"/>
              </a:spcBef>
            </a:pPr>
            <a:r>
              <a:rPr lang="en-US" altLang="en-US" sz="1900" smtClean="0">
                <a:latin typeface="Book Antiqua" pitchFamily="18" charset="0"/>
              </a:rPr>
              <a:t>1972 - Teuvo Kohonen - a model of the linear associator, a model of  an associative memory</a:t>
            </a:r>
          </a:p>
          <a:p>
            <a:pPr eaLnBrk="1" hangingPunct="1">
              <a:lnSpc>
                <a:spcPct val="102000"/>
              </a:lnSpc>
              <a:spcBef>
                <a:spcPts val="600"/>
              </a:spcBef>
            </a:pPr>
            <a:r>
              <a:rPr lang="en-US" altLang="en-US" sz="1900" smtClean="0">
                <a:latin typeface="Book Antiqua" pitchFamily="18" charset="0"/>
              </a:rPr>
              <a:t>1973 - Christoph von der Malsburg used a neuron model that was  non-linear and biologically more motivated</a:t>
            </a:r>
          </a:p>
          <a:p>
            <a:pPr eaLnBrk="1" hangingPunct="1">
              <a:lnSpc>
                <a:spcPct val="102000"/>
              </a:lnSpc>
              <a:spcBef>
                <a:spcPts val="600"/>
              </a:spcBef>
            </a:pPr>
            <a:r>
              <a:rPr lang="en-US" altLang="en-US" sz="1900" smtClean="0">
                <a:latin typeface="Book Antiqua" pitchFamily="18" charset="0"/>
              </a:rPr>
              <a:t>1974 - Paul Werbos - developed a learning procedure called  backpropagation of error</a:t>
            </a:r>
          </a:p>
          <a:p>
            <a:pPr eaLnBrk="1" hangingPunct="1">
              <a:lnSpc>
                <a:spcPct val="102000"/>
              </a:lnSpc>
              <a:spcBef>
                <a:spcPts val="600"/>
              </a:spcBef>
            </a:pPr>
            <a:r>
              <a:rPr lang="en-US" altLang="en-US" sz="1900" smtClean="0">
                <a:latin typeface="Book Antiqua" pitchFamily="18" charset="0"/>
              </a:rPr>
              <a:t>1976-1980 - Stephen Grossberg keeping a neural network capable of  learning without destroying already learned associations</a:t>
            </a:r>
          </a:p>
          <a:p>
            <a:pPr marL="1027113" lvl="1" indent="-342900" eaLnBrk="1" hangingPunct="1">
              <a:lnSpc>
                <a:spcPct val="102000"/>
              </a:lnSpc>
              <a:spcBef>
                <a:spcPts val="600"/>
              </a:spcBef>
              <a:buFont typeface="Arial" pitchFamily="34" charset="0"/>
              <a:buChar char="•"/>
            </a:pPr>
            <a:r>
              <a:rPr lang="en-US" altLang="en-US" sz="1700" smtClean="0">
                <a:latin typeface="Book Antiqua" pitchFamily="18" charset="0"/>
              </a:rPr>
              <a:t>led to models of adaptive resonance theory (ART)</a:t>
            </a:r>
          </a:p>
          <a:p>
            <a:pPr eaLnBrk="1" hangingPunct="1">
              <a:lnSpc>
                <a:spcPct val="102000"/>
              </a:lnSpc>
              <a:spcBef>
                <a:spcPts val="600"/>
              </a:spcBef>
            </a:pPr>
            <a:endParaRPr lang="en-US" altLang="en-US" sz="1900" smtClean="0">
              <a:latin typeface="Book Antiqua" pitchFamily="18" charset="0"/>
            </a:endParaRPr>
          </a:p>
          <a:p>
            <a:pPr eaLnBrk="1" hangingPunct="1">
              <a:spcAft>
                <a:spcPts val="1200"/>
              </a:spcAft>
            </a:pPr>
            <a:endParaRPr lang="en-US" altLang="en-US" sz="3200" smtClean="0">
              <a:solidFill>
                <a:schemeClr val="tx1"/>
              </a:solidFill>
            </a:endParaRPr>
          </a:p>
          <a:p>
            <a:pPr eaLnBrk="1" hangingPunct="1">
              <a:spcAft>
                <a:spcPts val="1200"/>
              </a:spcAft>
            </a:pPr>
            <a:endParaRPr lang="en-US" altLang="en-US" sz="3600" smtClean="0">
              <a:solidFill>
                <a:schemeClr val="tx1"/>
              </a:solidFill>
              <a:latin typeface="Book Antiqua" pitchFamily="18" charset="0"/>
            </a:endParaRPr>
          </a:p>
        </p:txBody>
      </p:sp>
      <p:sp>
        <p:nvSpPr>
          <p:cNvPr id="24579"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31F34F18-160B-42BE-8376-CC007EE1304F}" type="slidenum">
              <a:rPr lang="tr-TR" altLang="en-US" sz="1400" smtClean="0">
                <a:latin typeface="Palatino Linotype" pitchFamily="18" charset="0"/>
              </a:rPr>
              <a:pPr/>
              <a:t>9</a:t>
            </a:fld>
            <a:endParaRPr lang="tr-TR" altLang="en-US" sz="1400" smtClean="0">
              <a:latin typeface="Palatino Linotype" pitchFamily="18" charset="0"/>
            </a:endParaRPr>
          </a:p>
        </p:txBody>
      </p:sp>
    </p:spTree>
    <p:extLst>
      <p:ext uri="{BB962C8B-B14F-4D97-AF65-F5344CB8AC3E}">
        <p14:creationId xmlns:p14="http://schemas.microsoft.com/office/powerpoint/2010/main" val="33738653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p:cNvSpPr>
            <a:spLocks noGrp="1" noChangeArrowheads="1"/>
          </p:cNvSpPr>
          <p:nvPr>
            <p:ph idx="1"/>
          </p:nvPr>
        </p:nvSpPr>
        <p:spPr>
          <a:xfrm>
            <a:off x="395288" y="692150"/>
            <a:ext cx="8229600" cy="5767388"/>
          </a:xfrm>
        </p:spPr>
        <p:txBody>
          <a:bodyPr/>
          <a:lstStyle/>
          <a:p>
            <a:pPr algn="ctr" eaLnBrk="1" hangingPunct="1">
              <a:lnSpc>
                <a:spcPct val="80000"/>
              </a:lnSpc>
              <a:spcAft>
                <a:spcPts val="1200"/>
              </a:spcAft>
            </a:pPr>
            <a:r>
              <a:rPr lang="en-US" altLang="en-US" sz="3600" smtClean="0">
                <a:solidFill>
                  <a:schemeClr val="tx1"/>
                </a:solidFill>
                <a:latin typeface="Book Antiqua" pitchFamily="18" charset="0"/>
              </a:rPr>
              <a:t>Brief History of Neural Networks</a:t>
            </a:r>
          </a:p>
          <a:p>
            <a:pPr eaLnBrk="1" hangingPunct="1">
              <a:lnSpc>
                <a:spcPct val="92000"/>
              </a:lnSpc>
              <a:spcBef>
                <a:spcPts val="600"/>
              </a:spcBef>
            </a:pPr>
            <a:endParaRPr lang="en-US" altLang="en-US" sz="1900" smtClean="0">
              <a:latin typeface="Book Antiqua" pitchFamily="18" charset="0"/>
            </a:endParaRPr>
          </a:p>
          <a:p>
            <a:pPr eaLnBrk="1" hangingPunct="1">
              <a:lnSpc>
                <a:spcPct val="92000"/>
              </a:lnSpc>
              <a:spcBef>
                <a:spcPts val="600"/>
              </a:spcBef>
              <a:buFont typeface="Calibri" panose="020F0502020204030204" pitchFamily="34" charset="0"/>
              <a:buNone/>
            </a:pPr>
            <a:r>
              <a:rPr lang="en-US" altLang="en-US" sz="1900" smtClean="0">
                <a:latin typeface="Book Antiqua" pitchFamily="18" charset="0"/>
              </a:rPr>
              <a:t>1982 - Teuvo Kohonen - self-organizing feature maps</a:t>
            </a:r>
          </a:p>
          <a:p>
            <a:pPr marL="979488" lvl="1" indent="-238125" eaLnBrk="1" hangingPunct="1">
              <a:spcBef>
                <a:spcPts val="600"/>
              </a:spcBef>
              <a:buFont typeface="Arial" pitchFamily="34" charset="0"/>
              <a:buChar char="•"/>
            </a:pPr>
            <a:r>
              <a:rPr lang="en-US" altLang="en-US" sz="1700" smtClean="0">
                <a:latin typeface="Book Antiqua" pitchFamily="18" charset="0"/>
              </a:rPr>
              <a:t>complexity of brain cannot be stored in genome </a:t>
            </a:r>
          </a:p>
          <a:p>
            <a:pPr marL="979488" lvl="1" indent="-238125" eaLnBrk="1" hangingPunct="1">
              <a:spcBef>
                <a:spcPts val="600"/>
              </a:spcBef>
              <a:buFont typeface="Arial" pitchFamily="34" charset="0"/>
              <a:buChar char="•"/>
            </a:pPr>
            <a:r>
              <a:rPr lang="en-US" altLang="en-US" sz="1700" smtClean="0">
                <a:latin typeface="Book Antiqua" pitchFamily="18" charset="0"/>
              </a:rPr>
              <a:t>implying that brain is self-organizing</a:t>
            </a:r>
          </a:p>
          <a:p>
            <a:pPr eaLnBrk="1" hangingPunct="1">
              <a:lnSpc>
                <a:spcPct val="92000"/>
              </a:lnSpc>
              <a:spcBef>
                <a:spcPts val="600"/>
              </a:spcBef>
            </a:pPr>
            <a:r>
              <a:rPr lang="en-US" altLang="en-US" sz="1900" smtClean="0">
                <a:latin typeface="Book Antiqua" pitchFamily="18" charset="0"/>
              </a:rPr>
              <a:t>1983 - Fukushima, Miyake and Ito - neocognitron to recognize  handwritten characters</a:t>
            </a:r>
          </a:p>
          <a:p>
            <a:pPr eaLnBrk="1" hangingPunct="1">
              <a:lnSpc>
                <a:spcPct val="92000"/>
              </a:lnSpc>
              <a:spcBef>
                <a:spcPts val="600"/>
              </a:spcBef>
            </a:pPr>
            <a:r>
              <a:rPr lang="en-US" altLang="en-US" sz="1900" smtClean="0">
                <a:latin typeface="Book Antiqua" pitchFamily="18" charset="0"/>
              </a:rPr>
              <a:t>1985 - John Hopfield - a way of finding acceptable solutions for the  Travelling Salesman problem by using Hopfield nets</a:t>
            </a:r>
          </a:p>
          <a:p>
            <a:pPr eaLnBrk="1" hangingPunct="1">
              <a:lnSpc>
                <a:spcPct val="92000"/>
              </a:lnSpc>
              <a:spcBef>
                <a:spcPts val="600"/>
              </a:spcBef>
            </a:pPr>
            <a:r>
              <a:rPr lang="en-US" altLang="en-US" sz="1900" smtClean="0">
                <a:latin typeface="Book Antiqua" pitchFamily="18" charset="0"/>
              </a:rPr>
              <a:t>1986 - Rumelhart, Hinton and Williams - separately developed</a:t>
            </a:r>
          </a:p>
          <a:p>
            <a:pPr eaLnBrk="1" hangingPunct="1">
              <a:lnSpc>
                <a:spcPct val="92000"/>
              </a:lnSpc>
              <a:spcBef>
                <a:spcPts val="600"/>
              </a:spcBef>
            </a:pPr>
            <a:r>
              <a:rPr lang="en-US" altLang="en-US" sz="1900" smtClean="0">
                <a:latin typeface="Book Antiqua" pitchFamily="18" charset="0"/>
              </a:rPr>
              <a:t>backpropagation of error as a generalization of delta rule</a:t>
            </a:r>
          </a:p>
          <a:p>
            <a:pPr marL="979488" lvl="1" indent="-238125" eaLnBrk="1" hangingPunct="1">
              <a:lnSpc>
                <a:spcPct val="100000"/>
              </a:lnSpc>
              <a:spcBef>
                <a:spcPts val="600"/>
              </a:spcBef>
              <a:buFont typeface="Arial" pitchFamily="34" charset="0"/>
              <a:buChar char="•"/>
            </a:pPr>
            <a:r>
              <a:rPr lang="en-US" altLang="en-US" sz="1700" smtClean="0">
                <a:latin typeface="Book Antiqua" pitchFamily="18" charset="0"/>
              </a:rPr>
              <a:t>Non-linearly-separable problems could be solved by multilayer  perceptrons</a:t>
            </a:r>
          </a:p>
          <a:p>
            <a:pPr marL="979488" lvl="1" indent="-238125" eaLnBrk="1" hangingPunct="1">
              <a:lnSpc>
                <a:spcPct val="100000"/>
              </a:lnSpc>
              <a:spcBef>
                <a:spcPts val="600"/>
              </a:spcBef>
              <a:buFont typeface="Arial" pitchFamily="34" charset="0"/>
              <a:buChar char="•"/>
            </a:pPr>
            <a:r>
              <a:rPr lang="en-US" altLang="en-US" sz="1700" smtClean="0">
                <a:latin typeface="Book Antiqua" pitchFamily="18" charset="0"/>
              </a:rPr>
              <a:t>Marvin Minsky’s negative evaluations were disproven at a single blow</a:t>
            </a:r>
          </a:p>
          <a:p>
            <a:pPr eaLnBrk="1" hangingPunct="1">
              <a:lnSpc>
                <a:spcPct val="92000"/>
              </a:lnSpc>
              <a:spcBef>
                <a:spcPts val="600"/>
              </a:spcBef>
            </a:pPr>
            <a:endParaRPr lang="en-US" altLang="en-US" sz="1900" smtClean="0">
              <a:latin typeface="Book Antiqua" pitchFamily="18" charset="0"/>
            </a:endParaRPr>
          </a:p>
          <a:p>
            <a:pPr eaLnBrk="1" hangingPunct="1">
              <a:lnSpc>
                <a:spcPct val="92000"/>
              </a:lnSpc>
              <a:spcBef>
                <a:spcPts val="600"/>
              </a:spcBef>
              <a:buFont typeface="Calibri" panose="020F0502020204030204" pitchFamily="34" charset="0"/>
              <a:buNone/>
            </a:pPr>
            <a:endParaRPr lang="en-US" altLang="en-US" sz="3600" smtClean="0">
              <a:solidFill>
                <a:schemeClr val="tx1"/>
              </a:solidFill>
              <a:latin typeface="Book Antiqua" pitchFamily="18" charset="0"/>
            </a:endParaRPr>
          </a:p>
        </p:txBody>
      </p:sp>
      <p:sp>
        <p:nvSpPr>
          <p:cNvPr id="25603"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3F10F747-850D-4937-870A-AF5F8D43E138}" type="slidenum">
              <a:rPr lang="tr-TR" altLang="en-US" sz="1400" smtClean="0">
                <a:latin typeface="Palatino Linotype" pitchFamily="18" charset="0"/>
              </a:rPr>
              <a:pPr/>
              <a:t>10</a:t>
            </a:fld>
            <a:endParaRPr lang="tr-TR" altLang="en-US" sz="1400" smtClean="0">
              <a:latin typeface="Palatino Linotype" pitchFamily="18" charset="0"/>
            </a:endParaRPr>
          </a:p>
        </p:txBody>
      </p:sp>
    </p:spTree>
    <p:extLst>
      <p:ext uri="{BB962C8B-B14F-4D97-AF65-F5344CB8AC3E}">
        <p14:creationId xmlns:p14="http://schemas.microsoft.com/office/powerpoint/2010/main" val="35153774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noChangeArrowheads="1"/>
          </p:cNvSpPr>
          <p:nvPr>
            <p:ph idx="1"/>
          </p:nvPr>
        </p:nvSpPr>
        <p:spPr>
          <a:xfrm>
            <a:off x="0" y="250827"/>
            <a:ext cx="9144000" cy="6588125"/>
          </a:xfrm>
        </p:spPr>
        <p:txBody>
          <a:bodyPr rtlCol="0">
            <a:normAutofit/>
          </a:bodyPr>
          <a:lstStyle/>
          <a:p>
            <a:pPr marL="91440" indent="-91440" algn="ctr" eaLnBrk="1" fontAlgn="auto" hangingPunct="1">
              <a:spcAft>
                <a:spcPts val="1200"/>
              </a:spcAft>
              <a:defRPr/>
            </a:pPr>
            <a:r>
              <a:rPr lang="en-US" sz="3600" spc="15" dirty="0">
                <a:solidFill>
                  <a:srgbClr val="002060"/>
                </a:solidFill>
                <a:latin typeface="Book Antiqua" panose="02040602050305030304" pitchFamily="18" charset="0"/>
              </a:rPr>
              <a:t>History of ANN</a:t>
            </a:r>
            <a:endParaRPr lang="en-US" altLang="en-US" sz="3600" dirty="0">
              <a:solidFill>
                <a:srgbClr val="002060"/>
              </a:solidFill>
              <a:latin typeface="Book Antiqua" panose="02040602050305030304" pitchFamily="18" charset="0"/>
            </a:endParaRPr>
          </a:p>
        </p:txBody>
      </p:sp>
      <p:sp>
        <p:nvSpPr>
          <p:cNvPr id="26627"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CC98C91D-678A-445A-8C52-0E22337AB5BF}" type="slidenum">
              <a:rPr lang="tr-TR" altLang="en-US" sz="1400" smtClean="0">
                <a:latin typeface="Palatino Linotype" pitchFamily="18" charset="0"/>
              </a:rPr>
              <a:pPr/>
              <a:t>11</a:t>
            </a:fld>
            <a:endParaRPr lang="tr-TR" altLang="en-US" sz="1400" smtClean="0">
              <a:latin typeface="Palatino Linotype" pitchFamily="18" charset="0"/>
            </a:endParaRPr>
          </a:p>
        </p:txBody>
      </p:sp>
      <p:pic>
        <p:nvPicPr>
          <p:cNvPr id="26628" name="Picture 2" descr="A Brief History of Neural Nets. Important dates in the History of… | by  Pumalin | Towards 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44677"/>
            <a:ext cx="9144000" cy="439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13106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t>Alpaydin &amp; Christoph F. Eick: COSC 6342; Topic1</a:t>
            </a:r>
            <a:endParaRPr lang="tr-TR"/>
          </a:p>
        </p:txBody>
      </p:sp>
      <p:sp>
        <p:nvSpPr>
          <p:cNvPr id="27651"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F0DAB633-978A-4C49-9D2A-01D668FF5FD0}" type="slidenum">
              <a:rPr lang="tr-TR" altLang="en-US" smtClean="0">
                <a:solidFill>
                  <a:srgbClr val="FFFFFF"/>
                </a:solidFill>
              </a:rPr>
              <a:pPr/>
              <a:t>12</a:t>
            </a:fld>
            <a:endParaRPr lang="tr-TR" altLang="en-US" smtClean="0">
              <a:solidFill>
                <a:srgbClr val="FFFFFF"/>
              </a:solidFill>
            </a:endParaRPr>
          </a:p>
        </p:txBody>
      </p:sp>
      <p:sp>
        <p:nvSpPr>
          <p:cNvPr id="5" name="TextBox 4"/>
          <p:cNvSpPr txBox="1"/>
          <p:nvPr/>
        </p:nvSpPr>
        <p:spPr>
          <a:xfrm>
            <a:off x="683568" y="2821339"/>
            <a:ext cx="7725420" cy="652423"/>
          </a:xfrm>
          <a:prstGeom prst="rect">
            <a:avLst/>
          </a:prstGeom>
          <a:noFill/>
        </p:spPr>
        <p:txBody>
          <a:bodyPr>
            <a:spAutoFit/>
          </a:bodyPr>
          <a:lstStyle/>
          <a:p>
            <a:pPr marL="60325" lvl="8" algn="ctr">
              <a:lnSpc>
                <a:spcPct val="80000"/>
              </a:lnSpc>
              <a:spcAft>
                <a:spcPts val="1200"/>
              </a:spcAft>
              <a:defRPr/>
            </a:pPr>
            <a:r>
              <a:rPr lang="en-US" sz="4400" dirty="0">
                <a:solidFill>
                  <a:srgbClr val="0070C0"/>
                </a:solidFill>
                <a:latin typeface="Book Antiqua" panose="02040602050305030304" pitchFamily="18" charset="0"/>
              </a:rPr>
              <a:t>Biological Neural </a:t>
            </a:r>
            <a:r>
              <a:rPr lang="en-US" altLang="en-US" sz="4400" dirty="0">
                <a:solidFill>
                  <a:srgbClr val="0070C0"/>
                </a:solidFill>
                <a:latin typeface="Book Antiqua" panose="02040602050305030304" pitchFamily="18" charset="0"/>
              </a:rPr>
              <a:t>Networks</a:t>
            </a:r>
          </a:p>
        </p:txBody>
      </p:sp>
      <p:sp>
        <p:nvSpPr>
          <p:cNvPr id="27653" name="Rectangle 2"/>
          <p:cNvSpPr>
            <a:spLocks noChangeArrowheads="1"/>
          </p:cNvSpPr>
          <p:nvPr/>
        </p:nvSpPr>
        <p:spPr bwMode="auto">
          <a:xfrm>
            <a:off x="2286000" y="4005263"/>
            <a:ext cx="457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IN" dirty="0"/>
              <a:t>https://www.upgrad.com/blog/biological-neural-network/</a:t>
            </a:r>
          </a:p>
        </p:txBody>
      </p:sp>
    </p:spTree>
    <p:extLst>
      <p:ext uri="{BB962C8B-B14F-4D97-AF65-F5344CB8AC3E}">
        <p14:creationId xmlns:p14="http://schemas.microsoft.com/office/powerpoint/2010/main" val="9684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defRPr/>
            </a:pPr>
            <a:r>
              <a:rPr lang="en-US" smtClean="0"/>
              <a:t>Alpydin &amp; Ch. Eick: ML Topic1</a:t>
            </a:r>
            <a:endParaRPr lang="tr-TR"/>
          </a:p>
        </p:txBody>
      </p:sp>
      <p:sp>
        <p:nvSpPr>
          <p:cNvPr id="10243"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6BD90CE1-FDAE-49F4-9E7A-FB0732C6C280}" type="slidenum">
              <a:rPr lang="tr-TR" altLang="en-US" smtClean="0">
                <a:solidFill>
                  <a:srgbClr val="FFFFFF"/>
                </a:solidFill>
              </a:rPr>
              <a:pPr/>
              <a:t>13</a:t>
            </a:fld>
            <a:endParaRPr lang="tr-TR" altLang="en-US" smtClean="0">
              <a:solidFill>
                <a:srgbClr val="FFFFFF"/>
              </a:solidFill>
            </a:endParaRPr>
          </a:p>
        </p:txBody>
      </p:sp>
      <p:pic>
        <p:nvPicPr>
          <p:cNvPr id="1024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39751" y="333375"/>
            <a:ext cx="8135938" cy="287972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3429000"/>
            <a:ext cx="7200900" cy="2609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03674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noChangeArrowheads="1"/>
          </p:cNvSpPr>
          <p:nvPr>
            <p:ph idx="1"/>
          </p:nvPr>
        </p:nvSpPr>
        <p:spPr>
          <a:xfrm>
            <a:off x="395288" y="692696"/>
            <a:ext cx="8425185" cy="5766842"/>
          </a:xfrm>
          <a:extLst/>
        </p:spPr>
        <p:txBody>
          <a:bodyPr>
            <a:normAutofit/>
          </a:bodyPr>
          <a:lstStyle/>
          <a:p>
            <a:pPr marL="1471400" lvl="8" indent="0" algn="ctr">
              <a:lnSpc>
                <a:spcPct val="80000"/>
              </a:lnSpc>
              <a:spcAft>
                <a:spcPts val="1200"/>
              </a:spcAft>
              <a:buFont typeface="Calibri" pitchFamily="34" charset="0"/>
              <a:buNone/>
              <a:defRPr/>
            </a:pPr>
            <a:r>
              <a:rPr lang="en-US" sz="3600" dirty="0">
                <a:solidFill>
                  <a:schemeClr val="tx1"/>
                </a:solidFill>
                <a:latin typeface="Book Antiqua" panose="02040602050305030304" pitchFamily="18" charset="0"/>
              </a:rPr>
              <a:t>Human Brain</a:t>
            </a:r>
            <a:endParaRPr lang="en-US" altLang="en-US" sz="3600" dirty="0">
              <a:solidFill>
                <a:schemeClr val="tx1"/>
              </a:solidFill>
              <a:latin typeface="Book Antiqua" panose="02040602050305030304" pitchFamily="18" charset="0"/>
            </a:endParaRPr>
          </a:p>
          <a:p>
            <a:pPr eaLnBrk="1" hangingPunct="1">
              <a:lnSpc>
                <a:spcPct val="92000"/>
              </a:lnSpc>
              <a:spcBef>
                <a:spcPts val="600"/>
              </a:spcBef>
              <a:buFont typeface="Calibri" panose="020F0502020204030204" pitchFamily="34" charset="0"/>
              <a:buNone/>
              <a:defRPr/>
            </a:pPr>
            <a:endParaRPr lang="en-US" altLang="en-US" sz="3600" dirty="0">
              <a:solidFill>
                <a:schemeClr val="tx1"/>
              </a:solidFill>
              <a:latin typeface="Book Antiqua" panose="02040602050305030304" pitchFamily="18" charset="0"/>
            </a:endParaRPr>
          </a:p>
        </p:txBody>
      </p:sp>
      <p:sp>
        <p:nvSpPr>
          <p:cNvPr id="28675"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FCDB2C35-F4F5-479B-B860-41F4F95353B3}" type="slidenum">
              <a:rPr lang="tr-TR" altLang="en-US" sz="1400" smtClean="0">
                <a:latin typeface="Palatino Linotype" pitchFamily="18" charset="0"/>
              </a:rPr>
              <a:pPr/>
              <a:t>14</a:t>
            </a:fld>
            <a:endParaRPr lang="tr-TR" altLang="en-US" sz="1400" smtClean="0">
              <a:latin typeface="Palatino Linotype" pitchFamily="18" charset="0"/>
            </a:endParaRPr>
          </a:p>
        </p:txBody>
      </p:sp>
      <p:pic>
        <p:nvPicPr>
          <p:cNvPr id="28676" name="Picture 2" descr="Human Brain Diagram"/>
          <p:cNvPicPr>
            <a:picLocks noChangeAspect="1" noChangeArrowheads="1"/>
          </p:cNvPicPr>
          <p:nvPr/>
        </p:nvPicPr>
        <p:blipFill>
          <a:blip r:embed="rId2">
            <a:extLst>
              <a:ext uri="{28A0092B-C50C-407E-A947-70E740481C1C}">
                <a14:useLocalDpi xmlns:a14="http://schemas.microsoft.com/office/drawing/2010/main" val="0"/>
              </a:ext>
            </a:extLst>
          </a:blip>
          <a:srcRect t="5951"/>
          <a:stretch>
            <a:fillRect/>
          </a:stretch>
        </p:blipFill>
        <p:spPr bwMode="auto">
          <a:xfrm>
            <a:off x="1619251" y="1844675"/>
            <a:ext cx="5503863" cy="453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018758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noChangeArrowheads="1"/>
          </p:cNvSpPr>
          <p:nvPr>
            <p:ph idx="1"/>
          </p:nvPr>
        </p:nvSpPr>
        <p:spPr>
          <a:xfrm>
            <a:off x="395288" y="692696"/>
            <a:ext cx="8425185" cy="5766842"/>
          </a:xfrm>
          <a:extLst/>
        </p:spPr>
        <p:txBody>
          <a:bodyPr>
            <a:normAutofit/>
          </a:bodyPr>
          <a:lstStyle/>
          <a:p>
            <a:pPr marL="1471400" lvl="8" indent="0" algn="ctr">
              <a:lnSpc>
                <a:spcPct val="80000"/>
              </a:lnSpc>
              <a:spcAft>
                <a:spcPts val="1200"/>
              </a:spcAft>
              <a:buFont typeface="Calibri" pitchFamily="34" charset="0"/>
              <a:buNone/>
              <a:defRPr/>
            </a:pPr>
            <a:r>
              <a:rPr lang="en-US" sz="3600" dirty="0">
                <a:solidFill>
                  <a:schemeClr val="tx1"/>
                </a:solidFill>
                <a:latin typeface="Book Antiqua" panose="02040602050305030304" pitchFamily="18" charset="0"/>
              </a:rPr>
              <a:t>Vertebrate Nervous System</a:t>
            </a:r>
            <a:endParaRPr lang="en-US" altLang="en-US" sz="3600" dirty="0">
              <a:solidFill>
                <a:schemeClr val="tx1"/>
              </a:solidFill>
              <a:latin typeface="Book Antiqua" panose="02040602050305030304" pitchFamily="18" charset="0"/>
            </a:endParaRPr>
          </a:p>
          <a:p>
            <a:pPr eaLnBrk="1" hangingPunct="1">
              <a:lnSpc>
                <a:spcPct val="92000"/>
              </a:lnSpc>
              <a:spcBef>
                <a:spcPts val="600"/>
              </a:spcBef>
              <a:buFont typeface="Calibri" panose="020F0502020204030204" pitchFamily="34" charset="0"/>
              <a:buNone/>
              <a:defRPr/>
            </a:pPr>
            <a:endParaRPr lang="en-US" altLang="en-US" sz="3600" dirty="0">
              <a:solidFill>
                <a:schemeClr val="tx1"/>
              </a:solidFill>
              <a:latin typeface="Book Antiqua" panose="02040602050305030304" pitchFamily="18" charset="0"/>
            </a:endParaRPr>
          </a:p>
          <a:p>
            <a:pPr marL="12700" eaLnBrk="1" hangingPunct="1">
              <a:lnSpc>
                <a:spcPct val="100000"/>
              </a:lnSpc>
              <a:spcBef>
                <a:spcPts val="285"/>
              </a:spcBef>
              <a:defRPr/>
            </a:pPr>
            <a:r>
              <a:rPr lang="en-US" sz="2400" b="1" dirty="0">
                <a:latin typeface="Book Antiqua" panose="02040602050305030304" pitchFamily="18" charset="0"/>
              </a:rPr>
              <a:t>Entire information processing system</a:t>
            </a:r>
          </a:p>
          <a:p>
            <a:pPr marL="12700" eaLnBrk="1" hangingPunct="1">
              <a:lnSpc>
                <a:spcPct val="100000"/>
              </a:lnSpc>
              <a:spcBef>
                <a:spcPts val="285"/>
              </a:spcBef>
              <a:defRPr/>
            </a:pPr>
            <a:r>
              <a:rPr lang="en-US" sz="2400" b="1" dirty="0">
                <a:latin typeface="Book Antiqua" panose="02040602050305030304" pitchFamily="18" charset="0"/>
              </a:rPr>
              <a:t>Peripheral Nervous System</a:t>
            </a:r>
          </a:p>
          <a:p>
            <a:pPr marL="581660" marR="817880" lvl="1" eaLnBrk="1" hangingPunct="1">
              <a:lnSpc>
                <a:spcPct val="100000"/>
              </a:lnSpc>
              <a:spcBef>
                <a:spcPts val="175"/>
              </a:spcBef>
              <a:defRPr/>
            </a:pPr>
            <a:r>
              <a:rPr lang="en-US" sz="2200" dirty="0">
                <a:latin typeface="Book Antiqua" panose="02040602050305030304" pitchFamily="18" charset="0"/>
              </a:rPr>
              <a:t>Nerves situated outside of the brain or spinal cord</a:t>
            </a:r>
          </a:p>
          <a:p>
            <a:pPr marL="581660" marR="817880" lvl="1" eaLnBrk="1" hangingPunct="1">
              <a:lnSpc>
                <a:spcPct val="100000"/>
              </a:lnSpc>
              <a:spcBef>
                <a:spcPts val="175"/>
              </a:spcBef>
              <a:defRPr/>
            </a:pPr>
            <a:r>
              <a:rPr lang="en-US" sz="2200" dirty="0">
                <a:latin typeface="Book Antiqua" panose="02040602050305030304" pitchFamily="18" charset="0"/>
              </a:rPr>
              <a:t>Receives sensory signals from sense organs </a:t>
            </a:r>
          </a:p>
          <a:p>
            <a:pPr marL="581660" marR="817880" lvl="1" eaLnBrk="1" hangingPunct="1">
              <a:lnSpc>
                <a:spcPct val="100000"/>
              </a:lnSpc>
              <a:spcBef>
                <a:spcPts val="175"/>
              </a:spcBef>
              <a:defRPr/>
            </a:pPr>
            <a:r>
              <a:rPr lang="en-US" sz="2200" dirty="0">
                <a:latin typeface="Book Antiqua" panose="02040602050305030304" pitchFamily="18" charset="0"/>
              </a:rPr>
              <a:t>Sends commands to organs</a:t>
            </a:r>
          </a:p>
          <a:p>
            <a:pPr marL="398463" marR="817880" lvl="1" indent="-277813" eaLnBrk="1" hangingPunct="1">
              <a:lnSpc>
                <a:spcPct val="100000"/>
              </a:lnSpc>
              <a:spcBef>
                <a:spcPts val="175"/>
              </a:spcBef>
              <a:buFont typeface="Calibri" pitchFamily="34" charset="0"/>
              <a:buNone/>
              <a:defRPr/>
            </a:pPr>
            <a:r>
              <a:rPr lang="en-US" sz="2400" b="1" dirty="0">
                <a:latin typeface="Book Antiqua" panose="02040602050305030304" pitchFamily="18" charset="0"/>
              </a:rPr>
              <a:t>Central Nervous System</a:t>
            </a:r>
          </a:p>
          <a:p>
            <a:pPr marL="581660" marR="817880" lvl="1" eaLnBrk="1" hangingPunct="1">
              <a:lnSpc>
                <a:spcPct val="100000"/>
              </a:lnSpc>
              <a:spcBef>
                <a:spcPts val="175"/>
              </a:spcBef>
              <a:defRPr/>
            </a:pPr>
            <a:r>
              <a:rPr lang="en-US" sz="2200" dirty="0">
                <a:latin typeface="Book Antiqua" panose="02040602050305030304" pitchFamily="18" charset="0"/>
              </a:rPr>
              <a:t>Consists of brain and spinal cord</a:t>
            </a:r>
          </a:p>
          <a:p>
            <a:pPr marL="581660" marR="817880" lvl="1" eaLnBrk="1" hangingPunct="1">
              <a:lnSpc>
                <a:spcPct val="100000"/>
              </a:lnSpc>
              <a:spcBef>
                <a:spcPts val="175"/>
              </a:spcBef>
              <a:defRPr/>
            </a:pPr>
            <a:r>
              <a:rPr lang="en-US" sz="2200" dirty="0">
                <a:latin typeface="Book Antiqua" panose="02040602050305030304" pitchFamily="18" charset="0"/>
              </a:rPr>
              <a:t>Information received by the sense organs are stored and  managed  </a:t>
            </a:r>
          </a:p>
          <a:p>
            <a:pPr marL="581660" marR="817880" lvl="1" eaLnBrk="1" hangingPunct="1">
              <a:lnSpc>
                <a:spcPct val="100000"/>
              </a:lnSpc>
              <a:spcBef>
                <a:spcPts val="175"/>
              </a:spcBef>
              <a:defRPr/>
            </a:pPr>
            <a:r>
              <a:rPr lang="en-US" sz="2200" dirty="0">
                <a:latin typeface="Book Antiqua" panose="02040602050305030304" pitchFamily="18" charset="0"/>
              </a:rPr>
              <a:t>Controls inner processes of body e.g. digestion</a:t>
            </a:r>
          </a:p>
          <a:p>
            <a:pPr marL="581660" marR="817880" lvl="1" eaLnBrk="1" hangingPunct="1">
              <a:lnSpc>
                <a:spcPct val="100000"/>
              </a:lnSpc>
              <a:spcBef>
                <a:spcPts val="175"/>
              </a:spcBef>
              <a:defRPr/>
            </a:pPr>
            <a:r>
              <a:rPr lang="en-US" sz="2200" dirty="0">
                <a:latin typeface="Book Antiqua" panose="02040602050305030304" pitchFamily="18" charset="0"/>
              </a:rPr>
              <a:t>Coordinates motor functions</a:t>
            </a:r>
          </a:p>
          <a:p>
            <a:pPr eaLnBrk="1" hangingPunct="1">
              <a:lnSpc>
                <a:spcPct val="92000"/>
              </a:lnSpc>
              <a:spcBef>
                <a:spcPts val="600"/>
              </a:spcBef>
              <a:buFont typeface="Calibri" panose="020F0502020204030204" pitchFamily="34" charset="0"/>
              <a:buNone/>
              <a:defRPr/>
            </a:pPr>
            <a:endParaRPr lang="en-US" altLang="en-US" sz="3600" dirty="0">
              <a:solidFill>
                <a:schemeClr val="tx1"/>
              </a:solidFill>
              <a:latin typeface="Book Antiqua" panose="02040602050305030304" pitchFamily="18" charset="0"/>
            </a:endParaRPr>
          </a:p>
        </p:txBody>
      </p:sp>
      <p:sp>
        <p:nvSpPr>
          <p:cNvPr id="29699"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4394C544-1092-4C65-8ECB-054FF255F390}" type="slidenum">
              <a:rPr lang="tr-TR" altLang="en-US" sz="1400" smtClean="0">
                <a:latin typeface="Palatino Linotype" pitchFamily="18" charset="0"/>
              </a:rPr>
              <a:pPr/>
              <a:t>15</a:t>
            </a:fld>
            <a:endParaRPr lang="tr-TR" altLang="en-US" sz="1400" smtClean="0">
              <a:latin typeface="Palatino Linotype" pitchFamily="18" charset="0"/>
            </a:endParaRPr>
          </a:p>
        </p:txBody>
      </p:sp>
    </p:spTree>
    <p:extLst>
      <p:ext uri="{BB962C8B-B14F-4D97-AF65-F5344CB8AC3E}">
        <p14:creationId xmlns:p14="http://schemas.microsoft.com/office/powerpoint/2010/main" val="14611959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noChangeArrowheads="1"/>
          </p:cNvSpPr>
          <p:nvPr>
            <p:ph idx="1"/>
          </p:nvPr>
        </p:nvSpPr>
        <p:spPr>
          <a:xfrm>
            <a:off x="359408" y="692696"/>
            <a:ext cx="8425185" cy="5766842"/>
          </a:xfrm>
          <a:extLst/>
        </p:spPr>
        <p:txBody>
          <a:bodyPr>
            <a:normAutofit/>
          </a:bodyPr>
          <a:lstStyle/>
          <a:p>
            <a:pPr marL="1471400" lvl="8" indent="0" algn="ctr">
              <a:lnSpc>
                <a:spcPct val="80000"/>
              </a:lnSpc>
              <a:spcAft>
                <a:spcPts val="1200"/>
              </a:spcAft>
              <a:buFont typeface="Calibri" pitchFamily="34" charset="0"/>
              <a:buNone/>
              <a:defRPr/>
            </a:pPr>
            <a:r>
              <a:rPr lang="en-US" altLang="en-US" sz="3600" b="1" dirty="0">
                <a:latin typeface="Book Antiqua" panose="02040602050305030304" pitchFamily="18" charset="0"/>
                <a:ea typeface="LM Sans 10"/>
                <a:cs typeface="LM Sans 10"/>
              </a:rPr>
              <a:t>Cerebrum</a:t>
            </a:r>
            <a:endParaRPr lang="en-US" altLang="en-US" sz="3600" dirty="0">
              <a:solidFill>
                <a:schemeClr val="tx1"/>
              </a:solidFill>
              <a:latin typeface="Book Antiqua" panose="02040602050305030304" pitchFamily="18" charset="0"/>
            </a:endParaRPr>
          </a:p>
        </p:txBody>
      </p:sp>
      <p:sp>
        <p:nvSpPr>
          <p:cNvPr id="30723"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74AB422F-DB09-4E10-BABD-94FD83DF6244}" type="slidenum">
              <a:rPr lang="tr-TR" altLang="en-US" sz="1400" smtClean="0">
                <a:latin typeface="Palatino Linotype" pitchFamily="18" charset="0"/>
              </a:rPr>
              <a:pPr/>
              <a:t>16</a:t>
            </a:fld>
            <a:endParaRPr lang="tr-TR" altLang="en-US" sz="1400" smtClean="0">
              <a:latin typeface="Palatino Linotype" pitchFamily="18" charset="0"/>
            </a:endParaRPr>
          </a:p>
        </p:txBody>
      </p:sp>
      <p:sp>
        <p:nvSpPr>
          <p:cNvPr id="33796" name="TextBox 3"/>
          <p:cNvSpPr txBox="1">
            <a:spLocks noChangeArrowheads="1"/>
          </p:cNvSpPr>
          <p:nvPr/>
        </p:nvSpPr>
        <p:spPr bwMode="auto">
          <a:xfrm>
            <a:off x="1" y="1989138"/>
            <a:ext cx="6011863" cy="3893374"/>
          </a:xfrm>
          <a:prstGeom prst="rect">
            <a:avLst/>
          </a:prstGeom>
          <a:noFill/>
          <a:ln>
            <a:noFill/>
          </a:ln>
        </p:spPr>
        <p:txBody>
          <a:bodyPr>
            <a:spAutoFit/>
          </a:bodyPr>
          <a:lstStyle>
            <a:lvl1pPr marL="509588" indent="-1651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spcBef>
                <a:spcPts val="600"/>
              </a:spcBef>
              <a:defRPr/>
            </a:pPr>
            <a:r>
              <a:rPr lang="en-US" altLang="en-US" sz="2400" b="1" dirty="0">
                <a:latin typeface="Book Antiqua" panose="02040602050305030304" pitchFamily="18" charset="0"/>
                <a:ea typeface="LM Sans 10"/>
                <a:cs typeface="LM Sans 10"/>
              </a:rPr>
              <a:t>Cerebrum - Abstract Thinking</a:t>
            </a:r>
          </a:p>
          <a:p>
            <a:pPr>
              <a:spcBef>
                <a:spcPts val="600"/>
              </a:spcBef>
              <a:buFont typeface="Arial" panose="020B0604020202020204" pitchFamily="34" charset="0"/>
              <a:buChar char="•"/>
              <a:defRPr/>
            </a:pPr>
            <a:r>
              <a:rPr lang="en-US" altLang="en-US" dirty="0">
                <a:latin typeface="Book Antiqua" panose="02040602050305030304" pitchFamily="18" charset="0"/>
                <a:ea typeface="LM Sans 10"/>
                <a:cs typeface="LM Sans 10"/>
              </a:rPr>
              <a:t>Divided vertically into two hemispheres connected by one strong nerve  and several smaller ones</a:t>
            </a:r>
          </a:p>
          <a:p>
            <a:pPr>
              <a:spcBef>
                <a:spcPts val="600"/>
              </a:spcBef>
              <a:buFont typeface="Arial" panose="020B0604020202020204" pitchFamily="34" charset="0"/>
              <a:buChar char="•"/>
              <a:defRPr/>
            </a:pPr>
            <a:r>
              <a:rPr lang="en-US" altLang="en-US" dirty="0">
                <a:latin typeface="Book Antiqua" panose="02040602050305030304" pitchFamily="18" charset="0"/>
                <a:ea typeface="LM Sans 10"/>
                <a:cs typeface="LM Sans 10"/>
              </a:rPr>
              <a:t>Outermost layer of neural tissue - cerebral cortex - 2-4 cm thick and divided into different cortical fields</a:t>
            </a:r>
          </a:p>
          <a:p>
            <a:pPr>
              <a:spcBef>
                <a:spcPts val="600"/>
              </a:spcBef>
              <a:buFont typeface="Arial" panose="020B0604020202020204" pitchFamily="34" charset="0"/>
              <a:buChar char="•"/>
              <a:defRPr/>
            </a:pPr>
            <a:r>
              <a:rPr lang="en-US" altLang="en-US" dirty="0">
                <a:latin typeface="Book Antiqua" panose="02040602050305030304" pitchFamily="18" charset="0"/>
                <a:ea typeface="LM Sans 10"/>
                <a:cs typeface="LM Sans 10"/>
              </a:rPr>
              <a:t>Primary cortical fields are responsible for processing qualitative information – vision management</a:t>
            </a:r>
          </a:p>
          <a:p>
            <a:pPr>
              <a:spcBef>
                <a:spcPts val="600"/>
              </a:spcBef>
              <a:buFont typeface="Arial" panose="020B0604020202020204" pitchFamily="34" charset="0"/>
              <a:buChar char="•"/>
              <a:defRPr/>
            </a:pPr>
            <a:r>
              <a:rPr lang="en-US" altLang="en-US" dirty="0">
                <a:latin typeface="Book Antiqua" panose="02040602050305030304" pitchFamily="18" charset="0"/>
                <a:ea typeface="LM Sans 10"/>
                <a:cs typeface="LM Sans 10"/>
              </a:rPr>
              <a:t>Association cortical fields- abstract association and thinking processes, also contains memory</a:t>
            </a:r>
          </a:p>
          <a:p>
            <a:pPr marL="344488" indent="0">
              <a:spcBef>
                <a:spcPts val="600"/>
              </a:spcBef>
              <a:defRPr/>
            </a:pPr>
            <a:endParaRPr lang="en-US" altLang="en-US" dirty="0">
              <a:latin typeface="Book Antiqua" panose="02040602050305030304" pitchFamily="18" charset="0"/>
              <a:ea typeface="LM Sans 10"/>
              <a:cs typeface="LM Sans 10"/>
            </a:endParaRPr>
          </a:p>
        </p:txBody>
      </p:sp>
      <p:pic>
        <p:nvPicPr>
          <p:cNvPr id="30725" name="Picture 2" descr="Cerebral hemisphere - Wikipedia"/>
          <p:cNvPicPr>
            <a:picLocks noChangeAspect="1" noChangeArrowheads="1"/>
          </p:cNvPicPr>
          <p:nvPr/>
        </p:nvPicPr>
        <p:blipFill>
          <a:blip r:embed="rId2">
            <a:extLst>
              <a:ext uri="{28A0092B-C50C-407E-A947-70E740481C1C}">
                <a14:useLocalDpi xmlns:a14="http://schemas.microsoft.com/office/drawing/2010/main" val="0"/>
              </a:ext>
            </a:extLst>
          </a:blip>
          <a:srcRect l="17009" t="4324" r="17793" b="4092"/>
          <a:stretch>
            <a:fillRect/>
          </a:stretch>
        </p:blipFill>
        <p:spPr bwMode="auto">
          <a:xfrm>
            <a:off x="6726239" y="2301876"/>
            <a:ext cx="2060575" cy="289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5784125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2"/>
          <p:cNvSpPr>
            <a:spLocks noGrp="1" noChangeArrowheads="1"/>
          </p:cNvSpPr>
          <p:nvPr>
            <p:ph idx="1"/>
          </p:nvPr>
        </p:nvSpPr>
        <p:spPr>
          <a:xfrm>
            <a:off x="358776" y="692150"/>
            <a:ext cx="8426450" cy="5767388"/>
          </a:xfrm>
        </p:spPr>
        <p:txBody>
          <a:bodyPr/>
          <a:lstStyle/>
          <a:p>
            <a:pPr>
              <a:spcBef>
                <a:spcPts val="600"/>
              </a:spcBef>
            </a:pPr>
            <a:r>
              <a:rPr lang="en-US" altLang="en-US" sz="3600" b="1" smtClean="0">
                <a:latin typeface="Book Antiqua" pitchFamily="18" charset="0"/>
                <a:ea typeface="LM Sans 10"/>
                <a:cs typeface="LM Sans 10"/>
              </a:rPr>
              <a:t>Cerebellum</a:t>
            </a:r>
          </a:p>
        </p:txBody>
      </p:sp>
      <p:sp>
        <p:nvSpPr>
          <p:cNvPr id="31747"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BB31907B-FE89-4158-BF9B-65F9222778C0}" type="slidenum">
              <a:rPr lang="tr-TR" altLang="en-US" sz="1400" smtClean="0">
                <a:latin typeface="Palatino Linotype" pitchFamily="18" charset="0"/>
              </a:rPr>
              <a:pPr/>
              <a:t>17</a:t>
            </a:fld>
            <a:endParaRPr lang="tr-TR" altLang="en-US" sz="1400" smtClean="0">
              <a:latin typeface="Palatino Linotype" pitchFamily="18" charset="0"/>
            </a:endParaRPr>
          </a:p>
        </p:txBody>
      </p:sp>
      <p:sp>
        <p:nvSpPr>
          <p:cNvPr id="33796" name="TextBox 3"/>
          <p:cNvSpPr txBox="1">
            <a:spLocks noChangeArrowheads="1"/>
          </p:cNvSpPr>
          <p:nvPr/>
        </p:nvSpPr>
        <p:spPr bwMode="auto">
          <a:xfrm>
            <a:off x="47625" y="2635250"/>
            <a:ext cx="5676900" cy="2539157"/>
          </a:xfrm>
          <a:prstGeom prst="rect">
            <a:avLst/>
          </a:prstGeom>
          <a:noFill/>
          <a:ln>
            <a:noFill/>
          </a:ln>
        </p:spPr>
        <p:txBody>
          <a:bodyPr>
            <a:spAutoFit/>
          </a:bodyPr>
          <a:lstStyle>
            <a:lvl1pPr marL="509588" indent="-1651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630238" indent="-285750" algn="just">
              <a:spcBef>
                <a:spcPts val="600"/>
              </a:spcBef>
              <a:buFont typeface="Arial" panose="020B0604020202020204" pitchFamily="34" charset="0"/>
              <a:buChar char="•"/>
              <a:defRPr/>
            </a:pPr>
            <a:r>
              <a:rPr lang="en-US" altLang="en-US" dirty="0">
                <a:latin typeface="Book Antiqua" panose="02040602050305030304" pitchFamily="18" charset="0"/>
              </a:rPr>
              <a:t>Located below cerebrum, closer to spinal cord  </a:t>
            </a:r>
          </a:p>
          <a:p>
            <a:pPr marL="630238" indent="-285750" algn="just">
              <a:spcBef>
                <a:spcPts val="600"/>
              </a:spcBef>
              <a:buFont typeface="Arial" panose="020B0604020202020204" pitchFamily="34" charset="0"/>
              <a:buChar char="•"/>
              <a:defRPr/>
            </a:pPr>
            <a:r>
              <a:rPr lang="en-US" altLang="en-US" dirty="0">
                <a:latin typeface="Book Antiqua" panose="02040602050305030304" pitchFamily="18" charset="0"/>
              </a:rPr>
              <a:t>Motor Coordination (voluntary movements) - balance and movements are controlled and errors are continually corrected.</a:t>
            </a:r>
          </a:p>
          <a:p>
            <a:pPr marL="630238" indent="-285750" algn="just">
              <a:spcBef>
                <a:spcPts val="600"/>
              </a:spcBef>
              <a:buFont typeface="Arial" panose="020B0604020202020204" pitchFamily="34" charset="0"/>
              <a:buChar char="•"/>
              <a:defRPr/>
            </a:pPr>
            <a:r>
              <a:rPr lang="en-US" altLang="en-US" dirty="0">
                <a:latin typeface="Book Antiqua" panose="02040602050305030304" pitchFamily="18" charset="0"/>
              </a:rPr>
              <a:t>has direct sensory information about muscle lengths </a:t>
            </a:r>
            <a:r>
              <a:rPr lang="en-US" dirty="0">
                <a:latin typeface="Book Antiqua" panose="02040602050305030304" pitchFamily="18" charset="0"/>
              </a:rPr>
              <a:t>as well as acoustic and visual information</a:t>
            </a:r>
            <a:endParaRPr lang="en-US" altLang="en-US" dirty="0">
              <a:latin typeface="Book Antiqua" panose="02040602050305030304" pitchFamily="18" charset="0"/>
            </a:endParaRPr>
          </a:p>
          <a:p>
            <a:pPr algn="just">
              <a:spcBef>
                <a:spcPts val="600"/>
              </a:spcBef>
              <a:buFont typeface="Arial" panose="020B0604020202020204" pitchFamily="34" charset="0"/>
              <a:buChar char="•"/>
              <a:defRPr/>
            </a:pPr>
            <a:endParaRPr lang="en-US" altLang="en-US" dirty="0">
              <a:latin typeface="Book Antiqua" panose="02040602050305030304" pitchFamily="18" charset="0"/>
              <a:ea typeface="LM Sans 10"/>
              <a:cs typeface="LM Sans 10"/>
            </a:endParaRPr>
          </a:p>
        </p:txBody>
      </p:sp>
      <p:pic>
        <p:nvPicPr>
          <p:cNvPr id="3174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0426" y="2024065"/>
            <a:ext cx="3203575"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5367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noChangeArrowheads="1"/>
          </p:cNvSpPr>
          <p:nvPr>
            <p:ph idx="1"/>
          </p:nvPr>
        </p:nvSpPr>
        <p:spPr>
          <a:xfrm>
            <a:off x="359408" y="251440"/>
            <a:ext cx="8425185" cy="6208098"/>
          </a:xfrm>
          <a:extLst/>
        </p:spPr>
        <p:txBody>
          <a:bodyPr>
            <a:normAutofit/>
          </a:bodyPr>
          <a:lstStyle/>
          <a:p>
            <a:pPr marL="1471400" lvl="8" indent="0" algn="ctr">
              <a:lnSpc>
                <a:spcPct val="80000"/>
              </a:lnSpc>
              <a:spcAft>
                <a:spcPts val="1200"/>
              </a:spcAft>
              <a:buFont typeface="Calibri" pitchFamily="34" charset="0"/>
              <a:buNone/>
              <a:defRPr/>
            </a:pPr>
            <a:r>
              <a:rPr lang="en-US" sz="3600" dirty="0">
                <a:solidFill>
                  <a:schemeClr val="tx1"/>
                </a:solidFill>
                <a:latin typeface="Book Antiqua" panose="02040602050305030304" pitchFamily="18" charset="0"/>
              </a:rPr>
              <a:t>Human Brain</a:t>
            </a:r>
            <a:endParaRPr lang="en-US" altLang="en-US" sz="3600" dirty="0">
              <a:solidFill>
                <a:schemeClr val="tx1"/>
              </a:solidFill>
              <a:latin typeface="Book Antiqua" panose="02040602050305030304" pitchFamily="18" charset="0"/>
            </a:endParaRPr>
          </a:p>
          <a:p>
            <a:pPr eaLnBrk="1" hangingPunct="1">
              <a:lnSpc>
                <a:spcPct val="92000"/>
              </a:lnSpc>
              <a:spcBef>
                <a:spcPts val="600"/>
              </a:spcBef>
              <a:buFont typeface="Calibri" panose="020F0502020204030204" pitchFamily="34" charset="0"/>
              <a:buNone/>
              <a:defRPr/>
            </a:pPr>
            <a:endParaRPr lang="en-US" altLang="en-US" sz="3600" dirty="0">
              <a:solidFill>
                <a:schemeClr val="tx1"/>
              </a:solidFill>
              <a:latin typeface="Book Antiqua" panose="02040602050305030304" pitchFamily="18" charset="0"/>
            </a:endParaRPr>
          </a:p>
        </p:txBody>
      </p:sp>
      <p:sp>
        <p:nvSpPr>
          <p:cNvPr id="32771"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7039B223-92A9-4DB0-8BB2-E5189003EA22}" type="slidenum">
              <a:rPr lang="tr-TR" altLang="en-US" sz="1400" smtClean="0">
                <a:latin typeface="Palatino Linotype" pitchFamily="18" charset="0"/>
              </a:rPr>
              <a:pPr/>
              <a:t>18</a:t>
            </a:fld>
            <a:endParaRPr lang="tr-TR" altLang="en-US" sz="1400" smtClean="0">
              <a:latin typeface="Palatino Linotype" pitchFamily="18" charset="0"/>
            </a:endParaRPr>
          </a:p>
        </p:txBody>
      </p:sp>
      <p:sp>
        <p:nvSpPr>
          <p:cNvPr id="32772" name="TextBox 3"/>
          <p:cNvSpPr txBox="1">
            <a:spLocks noChangeArrowheads="1"/>
          </p:cNvSpPr>
          <p:nvPr/>
        </p:nvSpPr>
        <p:spPr bwMode="auto">
          <a:xfrm>
            <a:off x="358776" y="1243014"/>
            <a:ext cx="8424863" cy="4370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7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r>
              <a:rPr lang="en-US" altLang="en-US" sz="2000" b="1">
                <a:latin typeface="Book Antiqua" pitchFamily="18" charset="0"/>
                <a:ea typeface="LM Sans 10"/>
                <a:cs typeface="LM Sans 10"/>
              </a:rPr>
              <a:t>Interbrain (Diencephalon) - </a:t>
            </a:r>
            <a:r>
              <a:rPr lang="en-US" altLang="en-US" b="1">
                <a:latin typeface="Book Antiqua" pitchFamily="18" charset="0"/>
                <a:ea typeface="LM Sans 10"/>
                <a:cs typeface="LM Sans 10"/>
              </a:rPr>
              <a:t>controls fundamental physiological processes</a:t>
            </a:r>
          </a:p>
          <a:p>
            <a:endParaRPr lang="en-US" altLang="en-US" b="1">
              <a:latin typeface="Book Antiqua" pitchFamily="18" charset="0"/>
              <a:ea typeface="LM Sans 10"/>
              <a:cs typeface="LM Sans 10"/>
            </a:endParaRPr>
          </a:p>
          <a:p>
            <a:pPr lvl="1">
              <a:buFont typeface="Arial" pitchFamily="34" charset="0"/>
              <a:buChar char="•"/>
            </a:pPr>
            <a:r>
              <a:rPr lang="en-US" altLang="en-US" sz="2000">
                <a:latin typeface="Book Antiqua" pitchFamily="18" charset="0"/>
                <a:ea typeface="LM Sans 10"/>
                <a:cs typeface="LM Sans 10"/>
              </a:rPr>
              <a:t>Contains thalamus and hypothalamus</a:t>
            </a:r>
          </a:p>
          <a:p>
            <a:pPr lvl="1">
              <a:buFont typeface="Arial" pitchFamily="34" charset="0"/>
              <a:buChar char="•"/>
            </a:pPr>
            <a:r>
              <a:rPr lang="en-US" altLang="en-US" sz="2000">
                <a:latin typeface="Book Antiqua" pitchFamily="18" charset="0"/>
                <a:ea typeface="LM Sans 10"/>
                <a:cs typeface="LM Sans 10"/>
              </a:rPr>
              <a:t>Mediates between sensory and motor signals and cerebrum</a:t>
            </a:r>
          </a:p>
          <a:p>
            <a:r>
              <a:rPr lang="en-US" altLang="en-US" sz="2000" b="1">
                <a:latin typeface="Book Antiqua" pitchFamily="18" charset="0"/>
                <a:ea typeface="LM Sans 10"/>
                <a:cs typeface="LM Sans 10"/>
              </a:rPr>
              <a:t>Thalamus</a:t>
            </a:r>
          </a:p>
          <a:p>
            <a:pPr lvl="1">
              <a:buFont typeface="Arial" pitchFamily="34" charset="0"/>
              <a:buChar char="•"/>
            </a:pPr>
            <a:r>
              <a:rPr lang="en-US" altLang="en-US" sz="2000">
                <a:latin typeface="Book Antiqua" pitchFamily="18" charset="0"/>
                <a:ea typeface="LM Sans 10"/>
                <a:cs typeface="LM Sans 10"/>
              </a:rPr>
              <a:t>decides which part of the information should be transferred to the  cerebrum</a:t>
            </a:r>
          </a:p>
          <a:p>
            <a:pPr lvl="1">
              <a:buFont typeface="Arial" pitchFamily="34" charset="0"/>
              <a:buChar char="•"/>
            </a:pPr>
            <a:r>
              <a:rPr lang="en-US" altLang="en-US" sz="2000">
                <a:latin typeface="Book Antiqua" pitchFamily="18" charset="0"/>
                <a:ea typeface="LM Sans 10"/>
                <a:cs typeface="LM Sans 10"/>
              </a:rPr>
              <a:t>avoids overloads on cerebrum</a:t>
            </a:r>
          </a:p>
          <a:p>
            <a:r>
              <a:rPr lang="en-US" altLang="en-US" sz="2000" b="1">
                <a:latin typeface="Book Antiqua" pitchFamily="18" charset="0"/>
                <a:ea typeface="LM Sans 10"/>
                <a:cs typeface="LM Sans 10"/>
              </a:rPr>
              <a:t>Hypothalamus</a:t>
            </a:r>
          </a:p>
          <a:p>
            <a:pPr lvl="1">
              <a:buFont typeface="Arial" pitchFamily="34" charset="0"/>
              <a:buChar char="•"/>
            </a:pPr>
            <a:r>
              <a:rPr lang="en-US" altLang="en-US" sz="2000">
                <a:latin typeface="Book Antiqua" pitchFamily="18" charset="0"/>
                <a:ea typeface="LM Sans 10"/>
                <a:cs typeface="LM Sans 10"/>
              </a:rPr>
              <a:t>Controls a number of processes within body e.g. circadian rhythm  (internal clock)</a:t>
            </a:r>
          </a:p>
          <a:p>
            <a:pPr lvl="1">
              <a:buFont typeface="Arial" pitchFamily="34" charset="0"/>
              <a:buChar char="•"/>
            </a:pPr>
            <a:r>
              <a:rPr lang="en-US" altLang="en-US" sz="2000">
                <a:latin typeface="Book Antiqua" pitchFamily="18" charset="0"/>
                <a:ea typeface="LM Sans 10"/>
                <a:cs typeface="LM Sans 10"/>
              </a:rPr>
              <a:t>Sensation of pain</a:t>
            </a:r>
          </a:p>
          <a:p>
            <a:pPr>
              <a:buFont typeface="Arial" pitchFamily="34" charset="0"/>
              <a:buChar char="•"/>
            </a:pPr>
            <a:r>
              <a:rPr lang="en-US" altLang="en-US" sz="2000">
                <a:latin typeface="Book Antiqua" pitchFamily="18" charset="0"/>
                <a:ea typeface="LM Sans 10"/>
                <a:cs typeface="LM Sans 10"/>
              </a:rPr>
              <a:t>The </a:t>
            </a:r>
            <a:r>
              <a:rPr lang="en-US" altLang="en-US" sz="2000" b="1">
                <a:latin typeface="Book Antiqua" pitchFamily="18" charset="0"/>
                <a:ea typeface="LM Sans 10"/>
                <a:cs typeface="LM Sans 10"/>
              </a:rPr>
              <a:t>brainstem </a:t>
            </a:r>
            <a:r>
              <a:rPr lang="en-US" altLang="en-US" sz="2000">
                <a:latin typeface="Book Antiqua" pitchFamily="18" charset="0"/>
                <a:ea typeface="LM Sans 10"/>
                <a:cs typeface="LM Sans 10"/>
              </a:rPr>
              <a:t>connects the brain with the spinal cord and controls reflexes.</a:t>
            </a:r>
          </a:p>
        </p:txBody>
      </p:sp>
    </p:spTree>
    <p:extLst>
      <p:ext uri="{BB962C8B-B14F-4D97-AF65-F5344CB8AC3E}">
        <p14:creationId xmlns:p14="http://schemas.microsoft.com/office/powerpoint/2010/main" val="261701042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noChangeArrowheads="1"/>
          </p:cNvSpPr>
          <p:nvPr>
            <p:ph idx="1"/>
          </p:nvPr>
        </p:nvSpPr>
        <p:spPr>
          <a:xfrm>
            <a:off x="359408" y="692696"/>
            <a:ext cx="8425185" cy="5766842"/>
          </a:xfrm>
          <a:extLst/>
        </p:spPr>
        <p:txBody>
          <a:bodyPr>
            <a:normAutofit/>
          </a:bodyPr>
          <a:lstStyle/>
          <a:p>
            <a:pPr marL="1471400" lvl="8" indent="0" algn="ctr">
              <a:lnSpc>
                <a:spcPct val="80000"/>
              </a:lnSpc>
              <a:spcAft>
                <a:spcPts val="1200"/>
              </a:spcAft>
              <a:buFont typeface="Calibri" pitchFamily="34" charset="0"/>
              <a:buNone/>
              <a:defRPr/>
            </a:pPr>
            <a:r>
              <a:rPr lang="en-US" sz="3200" b="1" dirty="0">
                <a:solidFill>
                  <a:schemeClr val="tx1"/>
                </a:solidFill>
                <a:latin typeface="Book Antiqua" panose="02040602050305030304" pitchFamily="18" charset="0"/>
              </a:rPr>
              <a:t>Brain Stem</a:t>
            </a:r>
            <a:endParaRPr lang="en-US" altLang="en-US" sz="3200" b="1" dirty="0">
              <a:solidFill>
                <a:schemeClr val="tx1"/>
              </a:solidFill>
              <a:latin typeface="Book Antiqua" panose="02040602050305030304" pitchFamily="18" charset="0"/>
            </a:endParaRPr>
          </a:p>
          <a:p>
            <a:pPr eaLnBrk="1" hangingPunct="1">
              <a:lnSpc>
                <a:spcPct val="92000"/>
              </a:lnSpc>
              <a:spcBef>
                <a:spcPts val="600"/>
              </a:spcBef>
              <a:buFont typeface="Calibri" panose="020F0502020204030204" pitchFamily="34" charset="0"/>
              <a:buNone/>
              <a:defRPr/>
            </a:pPr>
            <a:endParaRPr lang="en-US" altLang="en-US" sz="3600" dirty="0">
              <a:solidFill>
                <a:schemeClr val="tx1"/>
              </a:solidFill>
              <a:latin typeface="Book Antiqua" panose="02040602050305030304" pitchFamily="18" charset="0"/>
            </a:endParaRPr>
          </a:p>
        </p:txBody>
      </p:sp>
      <p:sp>
        <p:nvSpPr>
          <p:cNvPr id="33795"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87819D70-D9D2-4522-B579-D3F005C04E4C}" type="slidenum">
              <a:rPr lang="tr-TR" altLang="en-US" sz="1400" smtClean="0">
                <a:latin typeface="Palatino Linotype" pitchFamily="18" charset="0"/>
              </a:rPr>
              <a:pPr/>
              <a:t>19</a:t>
            </a:fld>
            <a:endParaRPr lang="tr-TR" altLang="en-US" sz="1400" smtClean="0">
              <a:latin typeface="Palatino Linotype" pitchFamily="18" charset="0"/>
            </a:endParaRPr>
          </a:p>
        </p:txBody>
      </p:sp>
      <p:sp>
        <p:nvSpPr>
          <p:cNvPr id="33796" name="TextBox 3"/>
          <p:cNvSpPr txBox="1">
            <a:spLocks noChangeArrowheads="1"/>
          </p:cNvSpPr>
          <p:nvPr/>
        </p:nvSpPr>
        <p:spPr bwMode="auto">
          <a:xfrm>
            <a:off x="192088" y="1787526"/>
            <a:ext cx="6056312" cy="3660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700">
              <a:defRPr>
                <a:solidFill>
                  <a:schemeClr val="tx1"/>
                </a:solidFill>
                <a:latin typeface="Calibri" pitchFamily="34" charset="0"/>
              </a:defRPr>
            </a:lvl1pPr>
            <a:lvl2pPr marL="1089025" indent="-34290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pPr>
              <a:lnSpc>
                <a:spcPct val="113000"/>
              </a:lnSpc>
              <a:spcBef>
                <a:spcPts val="600"/>
              </a:spcBef>
            </a:pPr>
            <a:r>
              <a:rPr lang="en-US" altLang="en-US" sz="2400">
                <a:latin typeface="Book Antiqua" pitchFamily="18" charset="0"/>
              </a:rPr>
              <a:t>Extended spinal cord, connection between brain and spinal cord  Pons</a:t>
            </a:r>
          </a:p>
          <a:p>
            <a:pPr lvl="1">
              <a:lnSpc>
                <a:spcPct val="112000"/>
              </a:lnSpc>
              <a:spcBef>
                <a:spcPts val="600"/>
              </a:spcBef>
              <a:buFont typeface="Arial" pitchFamily="34" charset="0"/>
              <a:buChar char="•"/>
            </a:pPr>
            <a:r>
              <a:rPr lang="en-US" altLang="en-US" sz="2000">
                <a:latin typeface="Book Antiqua" pitchFamily="18" charset="0"/>
              </a:rPr>
              <a:t>A kind of transit for many nerve signals from brain to body and vice  versa</a:t>
            </a:r>
          </a:p>
          <a:p>
            <a:pPr lvl="1">
              <a:lnSpc>
                <a:spcPct val="112000"/>
              </a:lnSpc>
              <a:spcBef>
                <a:spcPts val="600"/>
              </a:spcBef>
              <a:buFont typeface="Arial" pitchFamily="34" charset="0"/>
              <a:buChar char="•"/>
            </a:pPr>
            <a:r>
              <a:rPr lang="en-US" altLang="en-US" sz="2000">
                <a:latin typeface="Book Antiqua" pitchFamily="18" charset="0"/>
              </a:rPr>
              <a:t>Damage could result in locked in syndrome</a:t>
            </a:r>
          </a:p>
          <a:p>
            <a:pPr>
              <a:spcBef>
                <a:spcPts val="600"/>
              </a:spcBef>
            </a:pPr>
            <a:r>
              <a:rPr lang="en-US" altLang="en-US" sz="2400">
                <a:latin typeface="Book Antiqua" pitchFamily="18" charset="0"/>
              </a:rPr>
              <a:t>Responsible for many fundamental reflexes</a:t>
            </a:r>
          </a:p>
          <a:p>
            <a:pPr lvl="1">
              <a:spcBef>
                <a:spcPts val="600"/>
              </a:spcBef>
              <a:buFont typeface="Arial" pitchFamily="34" charset="0"/>
              <a:buChar char="•"/>
            </a:pPr>
            <a:r>
              <a:rPr lang="en-US" altLang="en-US" sz="2000">
                <a:latin typeface="Book Antiqua" pitchFamily="18" charset="0"/>
              </a:rPr>
              <a:t>blinking reflex, coughing</a:t>
            </a:r>
          </a:p>
        </p:txBody>
      </p:sp>
      <p:pic>
        <p:nvPicPr>
          <p:cNvPr id="33797" name="Picture 6" descr="11.4A: Functions of the Brain Stem - Medicine LibreTex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7264" y="1646238"/>
            <a:ext cx="3106737" cy="3427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420558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noChangeArrowheads="1"/>
          </p:cNvSpPr>
          <p:nvPr>
            <p:ph idx="1"/>
          </p:nvPr>
        </p:nvSpPr>
        <p:spPr>
          <a:xfrm>
            <a:off x="251012" y="341130"/>
            <a:ext cx="8425185" cy="5766842"/>
          </a:xfrm>
          <a:extLst/>
        </p:spPr>
        <p:txBody>
          <a:bodyPr>
            <a:normAutofit/>
          </a:bodyPr>
          <a:lstStyle/>
          <a:p>
            <a:pPr marL="1471400" lvl="8" indent="0">
              <a:lnSpc>
                <a:spcPct val="80000"/>
              </a:lnSpc>
              <a:spcAft>
                <a:spcPts val="1200"/>
              </a:spcAft>
              <a:buFont typeface="Calibri" pitchFamily="34" charset="0"/>
              <a:buNone/>
              <a:defRPr/>
            </a:pPr>
            <a:r>
              <a:rPr lang="en-US" sz="3200" dirty="0">
                <a:solidFill>
                  <a:schemeClr val="tx1"/>
                </a:solidFill>
                <a:latin typeface="Book Antiqua" panose="02040602050305030304" pitchFamily="18" charset="0"/>
              </a:rPr>
              <a:t>Neuron - information processing cells</a:t>
            </a:r>
          </a:p>
          <a:p>
            <a:pPr>
              <a:buFont typeface="Wingdings" panose="05000000000000000000" pitchFamily="2" charset="2"/>
              <a:buChar char="§"/>
              <a:defRPr/>
            </a:pPr>
            <a:r>
              <a:rPr lang="en-IN" dirty="0">
                <a:solidFill>
                  <a:schemeClr val="tx1"/>
                </a:solidFill>
                <a:latin typeface="Book Antiqua" panose="02040602050305030304" pitchFamily="18" charset="0"/>
              </a:rPr>
              <a:t>a switch with information input and output.</a:t>
            </a:r>
          </a:p>
          <a:p>
            <a:pPr>
              <a:buFont typeface="Wingdings" panose="05000000000000000000" pitchFamily="2" charset="2"/>
              <a:buChar char="§"/>
              <a:defRPr/>
            </a:pPr>
            <a:r>
              <a:rPr lang="en-US" altLang="en-US" dirty="0">
                <a:solidFill>
                  <a:schemeClr val="tx1"/>
                </a:solidFill>
                <a:latin typeface="Book Antiqua" panose="02040602050305030304" pitchFamily="18" charset="0"/>
              </a:rPr>
              <a:t>switch will be activated if there are enough stimuli of other neurons hitting the information input. </a:t>
            </a:r>
          </a:p>
          <a:p>
            <a:pPr>
              <a:buFont typeface="Wingdings" panose="05000000000000000000" pitchFamily="2" charset="2"/>
              <a:buChar char="§"/>
              <a:defRPr/>
            </a:pPr>
            <a:r>
              <a:rPr lang="en-US" altLang="en-US" dirty="0">
                <a:solidFill>
                  <a:schemeClr val="tx1"/>
                </a:solidFill>
                <a:latin typeface="Book Antiqua" panose="02040602050305030304" pitchFamily="18" charset="0"/>
              </a:rPr>
              <a:t>Then, at the information output, a pulse is sent to, for example, other neurons.</a:t>
            </a:r>
          </a:p>
        </p:txBody>
      </p:sp>
      <p:sp>
        <p:nvSpPr>
          <p:cNvPr id="34819"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6DBDE546-A3F4-464E-95F2-5DC4FA8000EC}" type="slidenum">
              <a:rPr lang="tr-TR" altLang="en-US" sz="1400" smtClean="0">
                <a:latin typeface="Palatino Linotype" pitchFamily="18" charset="0"/>
              </a:rPr>
              <a:pPr/>
              <a:t>20</a:t>
            </a:fld>
            <a:endParaRPr lang="tr-TR" altLang="en-US" sz="1400" smtClean="0">
              <a:latin typeface="Palatino Linotype" pitchFamily="18" charset="0"/>
            </a:endParaRPr>
          </a:p>
        </p:txBody>
      </p:sp>
    </p:spTree>
    <p:extLst>
      <p:ext uri="{BB962C8B-B14F-4D97-AF65-F5344CB8AC3E}">
        <p14:creationId xmlns:p14="http://schemas.microsoft.com/office/powerpoint/2010/main" val="36423319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Neuron Diagram &amp; Types | Ask A Biologis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1560" y="980728"/>
            <a:ext cx="8208912" cy="4824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098621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229600" cy="1143000"/>
          </a:xfrm>
        </p:spPr>
        <p:txBody>
          <a:bodyPr/>
          <a:lstStyle/>
          <a:p>
            <a:pPr>
              <a:defRPr/>
            </a:pPr>
            <a:r>
              <a:rPr lang="en-US" b="1" dirty="0">
                <a:solidFill>
                  <a:srgbClr val="002060"/>
                </a:solidFill>
              </a:rPr>
              <a:t>Artificial Neural Networks</a:t>
            </a:r>
            <a:endParaRPr lang="en-IN" dirty="0"/>
          </a:p>
        </p:txBody>
      </p:sp>
      <p:sp>
        <p:nvSpPr>
          <p:cNvPr id="3" name="Content Placeholder 2"/>
          <p:cNvSpPr>
            <a:spLocks noGrp="1"/>
          </p:cNvSpPr>
          <p:nvPr>
            <p:ph idx="1"/>
          </p:nvPr>
        </p:nvSpPr>
        <p:spPr>
          <a:xfrm>
            <a:off x="107505" y="1484785"/>
            <a:ext cx="8784976" cy="4536503"/>
          </a:xfrm>
        </p:spPr>
        <p:txBody>
          <a:bodyPr>
            <a:normAutofit fontScale="92500" lnSpcReduction="10000"/>
          </a:bodyPr>
          <a:lstStyle/>
          <a:p>
            <a:pPr algn="just">
              <a:defRPr/>
            </a:pPr>
            <a:r>
              <a:rPr lang="en-US" dirty="0">
                <a:solidFill>
                  <a:srgbClr val="000000"/>
                </a:solidFill>
                <a:highlight>
                  <a:srgbClr val="FFFFFF"/>
                </a:highlight>
                <a:latin typeface="Verdana" panose="020B0604030504040204" pitchFamily="34" charset="0"/>
              </a:rPr>
              <a:t>Neural networks are parallel computing devices, which is basically an attempt to make a computer model of the brain. </a:t>
            </a:r>
          </a:p>
          <a:p>
            <a:pPr algn="just">
              <a:defRPr/>
            </a:pPr>
            <a:r>
              <a:rPr lang="en-US" dirty="0">
                <a:solidFill>
                  <a:srgbClr val="000000"/>
                </a:solidFill>
                <a:highlight>
                  <a:srgbClr val="FFFFFF"/>
                </a:highlight>
                <a:latin typeface="Verdana" panose="020B0604030504040204" pitchFamily="34" charset="0"/>
              </a:rPr>
              <a:t>The main objective is to develop a system to perform various computational tasks faster than the traditional systems. </a:t>
            </a:r>
          </a:p>
          <a:p>
            <a:pPr algn="just">
              <a:defRPr/>
            </a:pPr>
            <a:endParaRPr lang="en-US" dirty="0">
              <a:solidFill>
                <a:srgbClr val="000000"/>
              </a:solidFill>
              <a:highlight>
                <a:srgbClr val="FFFFFF"/>
              </a:highlight>
              <a:latin typeface="Verdana" panose="020B0604030504040204" pitchFamily="34" charset="0"/>
            </a:endParaRPr>
          </a:p>
          <a:p>
            <a:pPr algn="just">
              <a:defRPr/>
            </a:pPr>
            <a:r>
              <a:rPr lang="en-US" dirty="0">
                <a:solidFill>
                  <a:srgbClr val="000000"/>
                </a:solidFill>
                <a:highlight>
                  <a:srgbClr val="FFFFFF"/>
                </a:highlight>
                <a:latin typeface="Verdana" panose="020B0604030504040204" pitchFamily="34" charset="0"/>
              </a:rPr>
              <a:t>These tasks include pattern recognition and classification, approximation, optimization, and data clustering.</a:t>
            </a:r>
            <a:endParaRPr lang="en-IN" dirty="0"/>
          </a:p>
        </p:txBody>
      </p:sp>
      <p:sp>
        <p:nvSpPr>
          <p:cNvPr id="5" name="Slide Number Placeholder 4"/>
          <p:cNvSpPr>
            <a:spLocks noGrp="1"/>
          </p:cNvSpPr>
          <p:nvPr>
            <p:ph type="sldNum" sz="quarter" idx="12"/>
          </p:nvPr>
        </p:nvSpPr>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93348329-D8EE-4E25-9A06-3BC1C8B0F310}" type="slidenum">
              <a:rPr lang="tr-TR" altLang="en-US">
                <a:solidFill>
                  <a:srgbClr val="FFFFFF"/>
                </a:solidFill>
              </a:rPr>
              <a:pPr/>
              <a:t>22</a:t>
            </a:fld>
            <a:endParaRPr lang="tr-TR" altLang="en-US">
              <a:solidFill>
                <a:srgbClr val="FFFFFF"/>
              </a:solidFill>
            </a:endParaRPr>
          </a:p>
        </p:txBody>
      </p:sp>
    </p:spTree>
    <p:extLst>
      <p:ext uri="{BB962C8B-B14F-4D97-AF65-F5344CB8AC3E}">
        <p14:creationId xmlns:p14="http://schemas.microsoft.com/office/powerpoint/2010/main" val="36542105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pPr lvl="8" algn="ctr" rtl="0">
              <a:spcBef>
                <a:spcPct val="0"/>
              </a:spcBef>
            </a:pPr>
            <a:r>
              <a:rPr lang="en-US" sz="2800" dirty="0" smtClean="0">
                <a:solidFill>
                  <a:schemeClr val="tx1"/>
                </a:solidFill>
                <a:latin typeface="Book Antiqua" panose="02040602050305030304" pitchFamily="18" charset="0"/>
              </a:rPr>
              <a:t>Components of Neuron</a:t>
            </a:r>
            <a:br>
              <a:rPr lang="en-US" sz="2800" dirty="0" smtClean="0">
                <a:solidFill>
                  <a:schemeClr val="tx1"/>
                </a:solidFill>
                <a:latin typeface="Book Antiqua" panose="02040602050305030304" pitchFamily="18" charset="0"/>
              </a:rPr>
            </a:br>
            <a:endParaRPr lang="en-IN" dirty="0"/>
          </a:p>
        </p:txBody>
      </p:sp>
      <p:pic>
        <p:nvPicPr>
          <p:cNvPr id="2150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3529" y="1124744"/>
            <a:ext cx="8352928" cy="5256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31172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fontScale="90000"/>
          </a:bodyPr>
          <a:lstStyle/>
          <a:p>
            <a:r>
              <a:rPr lang="en-IN" b="1" dirty="0"/>
              <a:t>Definition of Neuron</a:t>
            </a:r>
            <a:br>
              <a:rPr lang="en-IN" b="1" dirty="0"/>
            </a:br>
            <a:endParaRPr lang="en-IN" dirty="0"/>
          </a:p>
        </p:txBody>
      </p:sp>
      <p:sp>
        <p:nvSpPr>
          <p:cNvPr id="3" name="Content Placeholder 2"/>
          <p:cNvSpPr>
            <a:spLocks noGrp="1"/>
          </p:cNvSpPr>
          <p:nvPr>
            <p:ph idx="1"/>
          </p:nvPr>
        </p:nvSpPr>
        <p:spPr>
          <a:xfrm>
            <a:off x="107505" y="908722"/>
            <a:ext cx="8928992" cy="4525963"/>
          </a:xfrm>
        </p:spPr>
        <p:txBody>
          <a:bodyPr/>
          <a:lstStyle/>
          <a:p>
            <a:pPr algn="just"/>
            <a:r>
              <a:rPr lang="en-US" b="1" i="1" dirty="0"/>
              <a:t>Neurons </a:t>
            </a:r>
            <a:r>
              <a:rPr lang="en-US" i="1" dirty="0"/>
              <a:t>are the fundamental units of the nervous system specialized to transmit information to different parts of the body.</a:t>
            </a:r>
            <a:endParaRPr lang="en-IN" dirty="0"/>
          </a:p>
        </p:txBody>
      </p:sp>
      <p:sp>
        <p:nvSpPr>
          <p:cNvPr id="4" name="Rectangle 3"/>
          <p:cNvSpPr/>
          <p:nvPr/>
        </p:nvSpPr>
        <p:spPr>
          <a:xfrm>
            <a:off x="179512" y="2780929"/>
            <a:ext cx="8964488" cy="3539430"/>
          </a:xfrm>
          <a:prstGeom prst="rect">
            <a:avLst/>
          </a:prstGeom>
        </p:spPr>
        <p:txBody>
          <a:bodyPr wrap="square">
            <a:spAutoFit/>
          </a:bodyPr>
          <a:lstStyle/>
          <a:p>
            <a:pPr algn="just" fontAlgn="base"/>
            <a:r>
              <a:rPr lang="en-US" sz="2800" b="1" dirty="0"/>
              <a:t>What is a Neuron?</a:t>
            </a:r>
          </a:p>
          <a:p>
            <a:pPr algn="just" fontAlgn="base"/>
            <a:r>
              <a:rPr lang="en-US" sz="2800" dirty="0"/>
              <a:t>The neuron is the </a:t>
            </a:r>
            <a:r>
              <a:rPr lang="en-US" sz="2800" b="1" dirty="0"/>
              <a:t>basic unit</a:t>
            </a:r>
            <a:r>
              <a:rPr lang="en-US" sz="2800" dirty="0"/>
              <a:t> of the nervous system, which helps in the transmission of signals from one part of the body to the other part. Neurons receive and transmit signals to different parts of the body. This transmission process occurs in both physical and electrical forms. The process by which neurons are created is known as </a:t>
            </a:r>
            <a:r>
              <a:rPr lang="en-US" sz="2800" b="1" dirty="0"/>
              <a:t>Neurogenesis</a:t>
            </a:r>
            <a:r>
              <a:rPr lang="en-US" sz="2800" dirty="0"/>
              <a:t>. Neurons can be of </a:t>
            </a:r>
            <a:r>
              <a:rPr lang="en-US" sz="2800" b="1" dirty="0"/>
              <a:t>sensory</a:t>
            </a:r>
            <a:r>
              <a:rPr lang="en-US" sz="2800" dirty="0"/>
              <a:t> type or can be </a:t>
            </a:r>
            <a:r>
              <a:rPr lang="en-US" sz="2800" b="1" dirty="0"/>
              <a:t>motor</a:t>
            </a:r>
            <a:r>
              <a:rPr lang="en-US" sz="2800" dirty="0"/>
              <a:t> in nature</a:t>
            </a:r>
          </a:p>
        </p:txBody>
      </p:sp>
    </p:spTree>
    <p:extLst>
      <p:ext uri="{BB962C8B-B14F-4D97-AF65-F5344CB8AC3E}">
        <p14:creationId xmlns:p14="http://schemas.microsoft.com/office/powerpoint/2010/main" val="28766047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normAutofit fontScale="90000"/>
          </a:bodyPr>
          <a:lstStyle/>
          <a:p>
            <a:r>
              <a:rPr lang="en-IN" b="1" dirty="0" smtClean="0"/>
              <a:t>Types of Neuron</a:t>
            </a:r>
            <a:br>
              <a:rPr lang="en-IN" b="1" dirty="0" smtClean="0"/>
            </a:b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94344512"/>
              </p:ext>
            </p:extLst>
          </p:nvPr>
        </p:nvGraphicFramePr>
        <p:xfrm>
          <a:off x="395536" y="1124747"/>
          <a:ext cx="8640960" cy="5256583"/>
        </p:xfrm>
        <a:graphic>
          <a:graphicData uri="http://schemas.openxmlformats.org/drawingml/2006/table">
            <a:tbl>
              <a:tblPr/>
              <a:tblGrid>
                <a:gridCol w="4320480"/>
                <a:gridCol w="4320480"/>
              </a:tblGrid>
              <a:tr h="984449">
                <a:tc>
                  <a:txBody>
                    <a:bodyPr/>
                    <a:lstStyle/>
                    <a:p>
                      <a:pPr algn="l" fontAlgn="base"/>
                      <a:r>
                        <a:rPr lang="en-IN" sz="1800" b="1" dirty="0" err="1" smtClean="0">
                          <a:effectLst/>
                        </a:rPr>
                        <a:t>Neuon</a:t>
                      </a:r>
                      <a:r>
                        <a:rPr lang="en-IN" sz="1800" b="1" dirty="0" smtClean="0">
                          <a:effectLst/>
                        </a:rPr>
                        <a:t> </a:t>
                      </a:r>
                      <a:r>
                        <a:rPr lang="en-IN" sz="1800" b="1" dirty="0">
                          <a:effectLst/>
                        </a:rPr>
                        <a:t>Type</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l" fontAlgn="base"/>
                      <a:r>
                        <a:rPr lang="en-IN" sz="1800" b="1">
                          <a:effectLst/>
                        </a:rPr>
                        <a:t>Description</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r>
              <a:tr h="1578832">
                <a:tc>
                  <a:txBody>
                    <a:bodyPr/>
                    <a:lstStyle/>
                    <a:p>
                      <a:pPr algn="l" fontAlgn="ctr"/>
                      <a:r>
                        <a:rPr lang="en-IN" sz="1800" b="0" dirty="0">
                          <a:effectLst/>
                        </a:rPr>
                        <a:t>Sensory Neuron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fontAlgn="ctr"/>
                      <a:r>
                        <a:rPr lang="en-US" sz="1800" b="0">
                          <a:effectLst/>
                        </a:rPr>
                        <a:t>Carry sensory information to the brain and quickly relay signals in response to stimuli</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1114470">
                <a:tc>
                  <a:txBody>
                    <a:bodyPr/>
                    <a:lstStyle/>
                    <a:p>
                      <a:pPr algn="l" fontAlgn="ctr"/>
                      <a:r>
                        <a:rPr lang="en-IN" sz="1800" b="0" dirty="0">
                          <a:effectLst/>
                        </a:rPr>
                        <a:t>Motor Neuron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fontAlgn="ctr"/>
                      <a:r>
                        <a:rPr lang="en-US" sz="1800" b="0" dirty="0">
                          <a:effectLst/>
                        </a:rPr>
                        <a:t>Transmit signals from brain to muscles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1578832">
                <a:tc>
                  <a:txBody>
                    <a:bodyPr/>
                    <a:lstStyle/>
                    <a:p>
                      <a:pPr algn="l" fontAlgn="ctr"/>
                      <a:r>
                        <a:rPr lang="en-IN" sz="1800" b="0">
                          <a:effectLst/>
                        </a:rPr>
                        <a:t>Interneuron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fontAlgn="ctr"/>
                      <a:r>
                        <a:rPr lang="en-US" sz="1800" b="0" dirty="0">
                          <a:effectLst/>
                        </a:rPr>
                        <a:t>Facilitate communication between different neurons in the body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28808365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Types of Neuron</a:t>
            </a:r>
            <a:endParaRPr lang="en-IN" dirty="0"/>
          </a:p>
        </p:txBody>
      </p:sp>
      <p:pic>
        <p:nvPicPr>
          <p:cNvPr id="2560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3" y="1958182"/>
            <a:ext cx="8568952" cy="4207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30538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053671311"/>
              </p:ext>
            </p:extLst>
          </p:nvPr>
        </p:nvGraphicFramePr>
        <p:xfrm>
          <a:off x="179513" y="188640"/>
          <a:ext cx="8784975" cy="6552730"/>
        </p:xfrm>
        <a:graphic>
          <a:graphicData uri="http://schemas.openxmlformats.org/drawingml/2006/table">
            <a:tbl>
              <a:tblPr/>
              <a:tblGrid>
                <a:gridCol w="2928325"/>
                <a:gridCol w="2928325"/>
                <a:gridCol w="2928325"/>
              </a:tblGrid>
              <a:tr h="341248">
                <a:tc>
                  <a:txBody>
                    <a:bodyPr/>
                    <a:lstStyle/>
                    <a:p>
                      <a:pPr algn="ctr"/>
                      <a:r>
                        <a:rPr lang="en-IN" sz="1400" b="1" dirty="0" smtClean="0">
                          <a:solidFill>
                            <a:srgbClr val="333333"/>
                          </a:solidFill>
                          <a:effectLst/>
                          <a:latin typeface="__CircularFontRegular_2948a7"/>
                        </a:rPr>
                        <a:t>Feature</a:t>
                      </a:r>
                      <a:endParaRPr lang="en-IN" sz="1400" dirty="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a:r>
                        <a:rPr lang="en-IN" sz="1400" b="1" dirty="0">
                          <a:solidFill>
                            <a:srgbClr val="333333"/>
                          </a:solidFill>
                          <a:effectLst/>
                          <a:latin typeface="__CircularFontRegular_2948a7"/>
                        </a:rPr>
                        <a:t>Biological Neural Network (BNN)</a:t>
                      </a:r>
                      <a:endParaRPr lang="en-IN" sz="1400" dirty="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ctr"/>
                      <a:r>
                        <a:rPr lang="en-IN" sz="1400" b="1">
                          <a:solidFill>
                            <a:srgbClr val="333333"/>
                          </a:solidFill>
                          <a:effectLst/>
                          <a:latin typeface="__CircularFontRegular_2948a7"/>
                        </a:rPr>
                        <a:t>Artificial Neural Network (ANN)</a:t>
                      </a:r>
                      <a:endParaRPr lang="en-IN" sz="140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582806">
                <a:tc>
                  <a:txBody>
                    <a:bodyPr/>
                    <a:lstStyle/>
                    <a:p>
                      <a:r>
                        <a:rPr lang="en-IN" sz="1400" dirty="0">
                          <a:solidFill>
                            <a:srgbClr val="000000"/>
                          </a:solidFill>
                          <a:effectLst/>
                          <a:latin typeface="__CircularFontRegular_2948a7"/>
                        </a:rPr>
                        <a:t>Building Block</a:t>
                      </a:r>
                      <a:endParaRPr lang="en-IN" sz="1400" dirty="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400">
                          <a:solidFill>
                            <a:srgbClr val="000000"/>
                          </a:solidFill>
                          <a:effectLst/>
                          <a:latin typeface="__CircularFontRegular_2948a7"/>
                        </a:rPr>
                        <a:t>Real neurons with dendrites, cell bodies, and axons.</a:t>
                      </a:r>
                      <a:endParaRPr lang="en-US" sz="140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400">
                          <a:solidFill>
                            <a:srgbClr val="000000"/>
                          </a:solidFill>
                          <a:effectLst/>
                          <a:latin typeface="__CircularFontRegular_2948a7"/>
                        </a:rPr>
                        <a:t>Digital units (nodes) that handle numeric weights and activations.</a:t>
                      </a:r>
                      <a:endParaRPr lang="en-US" sz="140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582806">
                <a:tc>
                  <a:txBody>
                    <a:bodyPr/>
                    <a:lstStyle/>
                    <a:p>
                      <a:r>
                        <a:rPr lang="en-IN" sz="1400" dirty="0">
                          <a:solidFill>
                            <a:srgbClr val="000000"/>
                          </a:solidFill>
                          <a:effectLst/>
                          <a:latin typeface="__CircularFontRegular_2948a7"/>
                        </a:rPr>
                        <a:t>Signal Type</a:t>
                      </a:r>
                      <a:endParaRPr lang="en-IN" sz="1400" dirty="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IN" sz="1400">
                          <a:solidFill>
                            <a:srgbClr val="000000"/>
                          </a:solidFill>
                          <a:effectLst/>
                          <a:latin typeface="__CircularFontRegular_2948a7"/>
                        </a:rPr>
                        <a:t>Electrical impulses (action potentials) + chemical transmitters.</a:t>
                      </a:r>
                      <a:endParaRPr lang="en-IN" sz="140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400">
                          <a:solidFill>
                            <a:srgbClr val="000000"/>
                          </a:solidFill>
                          <a:effectLst/>
                          <a:latin typeface="__CircularFontRegular_2948a7"/>
                        </a:rPr>
                        <a:t>Numeric values passed between layers.</a:t>
                      </a:r>
                      <a:endParaRPr lang="en-US" sz="140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824363">
                <a:tc>
                  <a:txBody>
                    <a:bodyPr/>
                    <a:lstStyle/>
                    <a:p>
                      <a:r>
                        <a:rPr lang="en-IN" sz="1400" dirty="0">
                          <a:solidFill>
                            <a:srgbClr val="000000"/>
                          </a:solidFill>
                          <a:effectLst/>
                          <a:latin typeface="__CircularFontRegular_2948a7"/>
                        </a:rPr>
                        <a:t>Learning Process</a:t>
                      </a:r>
                      <a:endParaRPr lang="en-IN" sz="1400" dirty="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400">
                          <a:solidFill>
                            <a:srgbClr val="000000"/>
                          </a:solidFill>
                          <a:effectLst/>
                          <a:latin typeface="__CircularFontRegular_2948a7"/>
                        </a:rPr>
                        <a:t>Local changes in synapse strength (e.g., neurons that fire together wire together).</a:t>
                      </a:r>
                      <a:endParaRPr lang="en-US" sz="140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400" dirty="0">
                          <a:solidFill>
                            <a:srgbClr val="000000"/>
                          </a:solidFill>
                          <a:effectLst/>
                          <a:latin typeface="__CircularFontRegular_2948a7"/>
                        </a:rPr>
                        <a:t>Data-driven adjustments of weights guided by error calculations.</a:t>
                      </a:r>
                      <a:endParaRPr lang="en-US" sz="1400" dirty="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824363">
                <a:tc>
                  <a:txBody>
                    <a:bodyPr/>
                    <a:lstStyle/>
                    <a:p>
                      <a:r>
                        <a:rPr lang="en-IN" sz="1400">
                          <a:solidFill>
                            <a:srgbClr val="000000"/>
                          </a:solidFill>
                          <a:effectLst/>
                          <a:latin typeface="__CircularFontRegular_2948a7"/>
                        </a:rPr>
                        <a:t>Adaptation</a:t>
                      </a:r>
                      <a:endParaRPr lang="en-IN" sz="140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400" dirty="0">
                          <a:solidFill>
                            <a:srgbClr val="000000"/>
                          </a:solidFill>
                          <a:effectLst/>
                          <a:latin typeface="__CircularFontRegular_2948a7"/>
                        </a:rPr>
                        <a:t>Continuous remodeling of connections through growth or pruning (plasticity).</a:t>
                      </a:r>
                      <a:endParaRPr lang="en-US" sz="1400" dirty="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400">
                          <a:solidFill>
                            <a:srgbClr val="000000"/>
                          </a:solidFill>
                          <a:effectLst/>
                          <a:latin typeface="__CircularFontRegular_2948a7"/>
                        </a:rPr>
                        <a:t>Structured training phases that depend on large datasets and backpropagation.</a:t>
                      </a:r>
                      <a:endParaRPr lang="en-US" sz="140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582806">
                <a:tc>
                  <a:txBody>
                    <a:bodyPr/>
                    <a:lstStyle/>
                    <a:p>
                      <a:r>
                        <a:rPr lang="en-IN" sz="1400">
                          <a:solidFill>
                            <a:srgbClr val="000000"/>
                          </a:solidFill>
                          <a:effectLst/>
                          <a:latin typeface="__CircularFontRegular_2948a7"/>
                        </a:rPr>
                        <a:t>Energy Use</a:t>
                      </a:r>
                      <a:endParaRPr lang="en-IN" sz="140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400" dirty="0">
                          <a:solidFill>
                            <a:srgbClr val="000000"/>
                          </a:solidFill>
                          <a:effectLst/>
                          <a:latin typeface="__CircularFontRegular_2948a7"/>
                        </a:rPr>
                        <a:t>About 20 watts to run a vast parallel system.</a:t>
                      </a:r>
                      <a:endParaRPr lang="en-US" sz="1400" dirty="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400">
                          <a:solidFill>
                            <a:srgbClr val="000000"/>
                          </a:solidFill>
                          <a:effectLst/>
                          <a:latin typeface="__CircularFontRegular_2948a7"/>
                        </a:rPr>
                        <a:t>Often requires powerful processors, which can draw far more energy.</a:t>
                      </a:r>
                      <a:endParaRPr lang="en-US" sz="140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582806">
                <a:tc>
                  <a:txBody>
                    <a:bodyPr/>
                    <a:lstStyle/>
                    <a:p>
                      <a:r>
                        <a:rPr lang="en-IN" sz="1400">
                          <a:solidFill>
                            <a:srgbClr val="000000"/>
                          </a:solidFill>
                          <a:effectLst/>
                          <a:latin typeface="__CircularFontRegular_2948a7"/>
                        </a:rPr>
                        <a:t>Fault Tolerance</a:t>
                      </a:r>
                      <a:endParaRPr lang="en-IN" sz="140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400" dirty="0">
                          <a:solidFill>
                            <a:srgbClr val="000000"/>
                          </a:solidFill>
                          <a:effectLst/>
                          <a:latin typeface="__CircularFontRegular_2948a7"/>
                        </a:rPr>
                        <a:t>Can reroute signals if neurons or areas are damaged.</a:t>
                      </a:r>
                      <a:endParaRPr lang="en-US" sz="1400" dirty="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400">
                          <a:solidFill>
                            <a:srgbClr val="000000"/>
                          </a:solidFill>
                          <a:effectLst/>
                          <a:latin typeface="__CircularFontRegular_2948a7"/>
                        </a:rPr>
                        <a:t>Sensitive to broken nodes unless special redundancies are designed.</a:t>
                      </a:r>
                      <a:endParaRPr lang="en-US" sz="140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824363">
                <a:tc>
                  <a:txBody>
                    <a:bodyPr/>
                    <a:lstStyle/>
                    <a:p>
                      <a:r>
                        <a:rPr lang="en-IN" sz="1400">
                          <a:solidFill>
                            <a:srgbClr val="000000"/>
                          </a:solidFill>
                          <a:effectLst/>
                          <a:latin typeface="__CircularFontRegular_2948a7"/>
                        </a:rPr>
                        <a:t>Memory Storage</a:t>
                      </a:r>
                      <a:endParaRPr lang="en-IN" sz="140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400" dirty="0">
                          <a:solidFill>
                            <a:srgbClr val="000000"/>
                          </a:solidFill>
                          <a:effectLst/>
                          <a:latin typeface="__CircularFontRegular_2948a7"/>
                        </a:rPr>
                        <a:t>Distributed across connected neurons; shaped by daily experiences.</a:t>
                      </a:r>
                      <a:endParaRPr lang="en-US" sz="1400" dirty="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400" dirty="0">
                          <a:solidFill>
                            <a:srgbClr val="000000"/>
                          </a:solidFill>
                          <a:effectLst/>
                          <a:latin typeface="__CircularFontRegular_2948a7"/>
                        </a:rPr>
                        <a:t>Encoded in numeric weights; may forget old tasks when retrained.</a:t>
                      </a:r>
                      <a:endParaRPr lang="en-US" sz="1400" dirty="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824363">
                <a:tc>
                  <a:txBody>
                    <a:bodyPr/>
                    <a:lstStyle/>
                    <a:p>
                      <a:r>
                        <a:rPr lang="en-IN" sz="1400">
                          <a:solidFill>
                            <a:srgbClr val="000000"/>
                          </a:solidFill>
                          <a:effectLst/>
                          <a:latin typeface="__CircularFontRegular_2948a7"/>
                        </a:rPr>
                        <a:t>Speed</a:t>
                      </a:r>
                      <a:endParaRPr lang="en-IN" sz="140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400">
                          <a:solidFill>
                            <a:srgbClr val="000000"/>
                          </a:solidFill>
                          <a:effectLst/>
                          <a:latin typeface="__CircularFontRegular_2948a7"/>
                        </a:rPr>
                        <a:t>Slower signal transfer but extensive parallelism.</a:t>
                      </a:r>
                      <a:endParaRPr lang="en-US" sz="140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400" dirty="0">
                          <a:solidFill>
                            <a:srgbClr val="000000"/>
                          </a:solidFill>
                          <a:effectLst/>
                          <a:latin typeface="__CircularFontRegular_2948a7"/>
                        </a:rPr>
                        <a:t>Can compute very quickly on specialized hardware, but often in a more linear sequence.</a:t>
                      </a:r>
                      <a:endParaRPr lang="en-US" sz="1400" dirty="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582806">
                <a:tc>
                  <a:txBody>
                    <a:bodyPr/>
                    <a:lstStyle/>
                    <a:p>
                      <a:r>
                        <a:rPr lang="en-IN" sz="1400">
                          <a:solidFill>
                            <a:srgbClr val="000000"/>
                          </a:solidFill>
                          <a:effectLst/>
                          <a:latin typeface="__CircularFontRegular_2948a7"/>
                        </a:rPr>
                        <a:t>Interpretability</a:t>
                      </a:r>
                      <a:endParaRPr lang="en-IN" sz="140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400">
                          <a:solidFill>
                            <a:srgbClr val="000000"/>
                          </a:solidFill>
                          <a:effectLst/>
                          <a:latin typeface="__CircularFontRegular_2948a7"/>
                        </a:rPr>
                        <a:t>Hard to measure individual neuron contributions in complex thoughts.</a:t>
                      </a:r>
                      <a:endParaRPr lang="en-US" sz="140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400" dirty="0">
                          <a:solidFill>
                            <a:srgbClr val="000000"/>
                          </a:solidFill>
                          <a:effectLst/>
                          <a:latin typeface="__CircularFontRegular_2948a7"/>
                        </a:rPr>
                        <a:t>Sometimes seen as a “black box” of weights and biases.</a:t>
                      </a:r>
                      <a:endParaRPr lang="en-US" sz="1400" dirty="0">
                        <a:solidFill>
                          <a:srgbClr val="333333"/>
                        </a:solidFill>
                        <a:effectLst/>
                        <a:latin typeface="__CircularFontRegular_2948a7"/>
                      </a:endParaRPr>
                    </a:p>
                  </a:txBody>
                  <a:tcPr marL="44027" marR="44027" marT="44027" marB="4402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17161042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noChangeArrowheads="1"/>
          </p:cNvSpPr>
          <p:nvPr>
            <p:ph idx="1"/>
          </p:nvPr>
        </p:nvSpPr>
        <p:spPr>
          <a:xfrm>
            <a:off x="128216" y="692698"/>
            <a:ext cx="8476233" cy="4755629"/>
          </a:xfrm>
          <a:extLst/>
        </p:spPr>
        <p:txBody>
          <a:bodyPr>
            <a:normAutofit/>
          </a:bodyPr>
          <a:lstStyle/>
          <a:p>
            <a:pPr marL="1471400" lvl="8" indent="0" algn="ctr">
              <a:lnSpc>
                <a:spcPct val="80000"/>
              </a:lnSpc>
              <a:spcAft>
                <a:spcPts val="1200"/>
              </a:spcAft>
              <a:buFont typeface="Calibri" pitchFamily="34" charset="0"/>
              <a:buNone/>
              <a:defRPr/>
            </a:pPr>
            <a:r>
              <a:rPr lang="en-US" sz="2800" dirty="0">
                <a:solidFill>
                  <a:schemeClr val="tx1"/>
                </a:solidFill>
                <a:latin typeface="Book Antiqua" panose="02040602050305030304" pitchFamily="18" charset="0"/>
              </a:rPr>
              <a:t>Components of Neuron</a:t>
            </a:r>
          </a:p>
          <a:p>
            <a:pPr lvl="8" algn="ctr">
              <a:lnSpc>
                <a:spcPct val="80000"/>
              </a:lnSpc>
              <a:spcAft>
                <a:spcPts val="1200"/>
              </a:spcAft>
              <a:buFont typeface="Arial" panose="020B0604020202020204" pitchFamily="34" charset="0"/>
              <a:buChar char="•"/>
              <a:defRPr/>
            </a:pPr>
            <a:endParaRPr lang="en-US" altLang="en-US" sz="1800" dirty="0">
              <a:solidFill>
                <a:schemeClr val="tx1"/>
              </a:solidFill>
              <a:latin typeface="Book Antiqua" panose="02040602050305030304" pitchFamily="18" charset="0"/>
            </a:endParaRPr>
          </a:p>
          <a:p>
            <a:pPr marL="12700" marR="5080">
              <a:lnSpc>
                <a:spcPct val="113199"/>
              </a:lnSpc>
              <a:spcBef>
                <a:spcPts val="600"/>
              </a:spcBef>
              <a:defRPr/>
            </a:pPr>
            <a:r>
              <a:rPr lang="en-US" spc="-5" dirty="0">
                <a:latin typeface="Book Antiqua" panose="02040602050305030304" pitchFamily="18" charset="0"/>
                <a:cs typeface="LM Sans 10"/>
              </a:rPr>
              <a:t>Dendrites - sending </a:t>
            </a:r>
            <a:r>
              <a:rPr lang="en-US" spc="-10" dirty="0">
                <a:latin typeface="Book Antiqua" panose="02040602050305030304" pitchFamily="18" charset="0"/>
                <a:cs typeface="LM Sans 10"/>
              </a:rPr>
              <a:t>and </a:t>
            </a:r>
            <a:r>
              <a:rPr lang="en-US" spc="-5" dirty="0">
                <a:latin typeface="Book Antiqua" panose="02040602050305030304" pitchFamily="18" charset="0"/>
                <a:cs typeface="LM Sans 10"/>
              </a:rPr>
              <a:t>receipt of</a:t>
            </a:r>
            <a:r>
              <a:rPr lang="en-US" spc="-65" dirty="0">
                <a:latin typeface="Book Antiqua" panose="02040602050305030304" pitchFamily="18" charset="0"/>
                <a:cs typeface="LM Sans 10"/>
              </a:rPr>
              <a:t> </a:t>
            </a:r>
            <a:r>
              <a:rPr lang="en-US" spc="-5" dirty="0">
                <a:latin typeface="Book Antiqua" panose="02040602050305030304" pitchFamily="18" charset="0"/>
                <a:cs typeface="LM Sans 10"/>
              </a:rPr>
              <a:t>signals  </a:t>
            </a:r>
          </a:p>
          <a:p>
            <a:pPr marL="12700" marR="5080">
              <a:lnSpc>
                <a:spcPct val="113199"/>
              </a:lnSpc>
              <a:spcBef>
                <a:spcPts val="600"/>
              </a:spcBef>
              <a:defRPr/>
            </a:pPr>
            <a:r>
              <a:rPr lang="en-US" spc="-10" dirty="0">
                <a:latin typeface="Book Antiqua" panose="02040602050305030304" pitchFamily="18" charset="0"/>
                <a:cs typeface="LM Sans 10"/>
              </a:rPr>
              <a:t>Soma </a:t>
            </a:r>
            <a:r>
              <a:rPr lang="en-US" spc="-5" dirty="0">
                <a:latin typeface="Book Antiqua" panose="02040602050305030304" pitchFamily="18" charset="0"/>
                <a:cs typeface="LM Sans 10"/>
              </a:rPr>
              <a:t>- cell </a:t>
            </a:r>
            <a:r>
              <a:rPr lang="en-US" spc="5" dirty="0">
                <a:latin typeface="Book Antiqua" panose="02040602050305030304" pitchFamily="18" charset="0"/>
                <a:cs typeface="LM Sans 10"/>
              </a:rPr>
              <a:t>body </a:t>
            </a:r>
            <a:r>
              <a:rPr lang="en-US" spc="-5" dirty="0">
                <a:latin typeface="Book Antiqua" panose="02040602050305030304" pitchFamily="18" charset="0"/>
                <a:cs typeface="LM Sans 10"/>
              </a:rPr>
              <a:t>of</a:t>
            </a:r>
            <a:r>
              <a:rPr lang="en-US" spc="-25" dirty="0">
                <a:latin typeface="Book Antiqua" panose="02040602050305030304" pitchFamily="18" charset="0"/>
                <a:cs typeface="LM Sans 10"/>
              </a:rPr>
              <a:t> </a:t>
            </a:r>
            <a:r>
              <a:rPr lang="en-US" spc="-5" dirty="0">
                <a:latin typeface="Book Antiqua" panose="02040602050305030304" pitchFamily="18" charset="0"/>
                <a:cs typeface="LM Sans 10"/>
              </a:rPr>
              <a:t>neuron</a:t>
            </a:r>
          </a:p>
          <a:p>
            <a:pPr marL="500062" marR="5080" lvl="1" indent="-285750">
              <a:lnSpc>
                <a:spcPct val="100000"/>
              </a:lnSpc>
              <a:spcBef>
                <a:spcPts val="600"/>
              </a:spcBef>
              <a:buFont typeface="Arial" panose="020B0604020202020204" pitchFamily="34" charset="0"/>
              <a:buChar char="•"/>
              <a:defRPr/>
            </a:pPr>
            <a:r>
              <a:rPr lang="en-US" sz="2000" spc="-5" dirty="0">
                <a:latin typeface="Book Antiqua" panose="02040602050305030304" pitchFamily="18" charset="0"/>
                <a:cs typeface="LM Sans 10"/>
              </a:rPr>
              <a:t>accumulates activations and inhibitions received from other neurons </a:t>
            </a:r>
          </a:p>
          <a:p>
            <a:pPr marL="500062" marR="5080" lvl="1" indent="-285750">
              <a:lnSpc>
                <a:spcPct val="100000"/>
              </a:lnSpc>
              <a:spcBef>
                <a:spcPts val="600"/>
              </a:spcBef>
              <a:buFont typeface="Arial" panose="020B0604020202020204" pitchFamily="34" charset="0"/>
              <a:buChar char="•"/>
              <a:defRPr/>
            </a:pPr>
            <a:r>
              <a:rPr lang="en-US" sz="2000" spc="-5" dirty="0">
                <a:latin typeface="Book Antiqua" panose="02040602050305030304" pitchFamily="18" charset="0"/>
                <a:cs typeface="LM Sans 10"/>
              </a:rPr>
              <a:t>cumulative activation exceeds a certain</a:t>
            </a:r>
            <a:r>
              <a:rPr lang="en-US" sz="2000" spc="5" dirty="0">
                <a:latin typeface="Book Antiqua" panose="02040602050305030304" pitchFamily="18" charset="0"/>
                <a:cs typeface="LM Sans 10"/>
              </a:rPr>
              <a:t> </a:t>
            </a:r>
            <a:r>
              <a:rPr lang="en-US" sz="2000" spc="-5" dirty="0">
                <a:latin typeface="Book Antiqua" panose="02040602050305030304" pitchFamily="18" charset="0"/>
                <a:cs typeface="LM Sans 10"/>
              </a:rPr>
              <a:t>threshold</a:t>
            </a:r>
          </a:p>
          <a:p>
            <a:pPr marL="500062" marR="178435" lvl="1" indent="-285750">
              <a:lnSpc>
                <a:spcPts val="1200"/>
              </a:lnSpc>
              <a:spcBef>
                <a:spcPts val="600"/>
              </a:spcBef>
              <a:buFont typeface="Arial" panose="020B0604020202020204" pitchFamily="34" charset="0"/>
              <a:buChar char="•"/>
              <a:defRPr/>
            </a:pPr>
            <a:r>
              <a:rPr lang="en-US" sz="2000" spc="-5" dirty="0">
                <a:latin typeface="Book Antiqua" panose="02040602050305030304" pitchFamily="18" charset="0"/>
                <a:cs typeface="LM Sans 10"/>
              </a:rPr>
              <a:t>nucleus activates a pulse, which is transmitted to other neurons </a:t>
            </a:r>
          </a:p>
          <a:p>
            <a:pPr marL="500062" marR="178435" lvl="1" indent="-285750">
              <a:lnSpc>
                <a:spcPts val="1200"/>
              </a:lnSpc>
              <a:spcBef>
                <a:spcPts val="600"/>
              </a:spcBef>
              <a:buFont typeface="Arial" panose="020B0604020202020204" pitchFamily="34" charset="0"/>
              <a:buChar char="•"/>
              <a:defRPr/>
            </a:pPr>
            <a:r>
              <a:rPr lang="en-US" sz="2000" spc="-5" dirty="0">
                <a:latin typeface="Book Antiqua" panose="02040602050305030304" pitchFamily="18" charset="0"/>
                <a:cs typeface="LM Sans 10"/>
              </a:rPr>
              <a:t> axon transmits outgoing pulse to other neurons via</a:t>
            </a:r>
            <a:r>
              <a:rPr lang="en-US" sz="2000" spc="25" dirty="0">
                <a:latin typeface="Book Antiqua" panose="02040602050305030304" pitchFamily="18" charset="0"/>
                <a:cs typeface="LM Sans 10"/>
              </a:rPr>
              <a:t> </a:t>
            </a:r>
            <a:r>
              <a:rPr lang="en-US" sz="2000" spc="-5" dirty="0">
                <a:latin typeface="Book Antiqua" panose="02040602050305030304" pitchFamily="18" charset="0"/>
                <a:cs typeface="LM Sans 10"/>
              </a:rPr>
              <a:t>dendrites</a:t>
            </a:r>
            <a:endParaRPr lang="en-US" sz="2000" dirty="0">
              <a:latin typeface="Book Antiqua" panose="02040602050305030304" pitchFamily="18" charset="0"/>
              <a:cs typeface="LM Sans 10"/>
            </a:endParaRPr>
          </a:p>
          <a:p>
            <a:pPr marL="12700" marR="5080">
              <a:lnSpc>
                <a:spcPct val="113199"/>
              </a:lnSpc>
              <a:spcBef>
                <a:spcPts val="600"/>
              </a:spcBef>
              <a:defRPr/>
            </a:pPr>
            <a:r>
              <a:rPr lang="en-US" spc="-10" dirty="0">
                <a:latin typeface="Book Antiqua" panose="02040602050305030304" pitchFamily="18" charset="0"/>
                <a:cs typeface="LM Sans 10"/>
              </a:rPr>
              <a:t>Axon </a:t>
            </a:r>
            <a:r>
              <a:rPr lang="en-US" spc="-5" dirty="0">
                <a:latin typeface="Book Antiqua" panose="02040602050305030304" pitchFamily="18" charset="0"/>
                <a:cs typeface="LM Sans 10"/>
              </a:rPr>
              <a:t>is electrically isolated </a:t>
            </a:r>
            <a:r>
              <a:rPr lang="en-US" spc="-15" dirty="0">
                <a:latin typeface="Book Antiqua" panose="02040602050305030304" pitchFamily="18" charset="0"/>
                <a:cs typeface="LM Sans 10"/>
              </a:rPr>
              <a:t>for </a:t>
            </a:r>
            <a:r>
              <a:rPr lang="en-US" dirty="0">
                <a:latin typeface="Book Antiqua" panose="02040602050305030304" pitchFamily="18" charset="0"/>
                <a:cs typeface="LM Sans 10"/>
              </a:rPr>
              <a:t>better</a:t>
            </a:r>
            <a:r>
              <a:rPr lang="en-US" spc="-35" dirty="0">
                <a:latin typeface="Book Antiqua" panose="02040602050305030304" pitchFamily="18" charset="0"/>
                <a:cs typeface="LM Sans 10"/>
              </a:rPr>
              <a:t> </a:t>
            </a:r>
            <a:r>
              <a:rPr lang="en-US" spc="-5" dirty="0">
                <a:latin typeface="Book Antiqua" panose="02040602050305030304" pitchFamily="18" charset="0"/>
                <a:cs typeface="LM Sans 10"/>
              </a:rPr>
              <a:t>conduction</a:t>
            </a:r>
            <a:endParaRPr lang="en-US" dirty="0">
              <a:latin typeface="Book Antiqua" panose="02040602050305030304" pitchFamily="18" charset="0"/>
              <a:cs typeface="LM Sans 10"/>
            </a:endParaRPr>
          </a:p>
          <a:p>
            <a:pPr marL="12700" marR="5080">
              <a:lnSpc>
                <a:spcPct val="113199"/>
              </a:lnSpc>
              <a:spcBef>
                <a:spcPts val="100"/>
              </a:spcBef>
              <a:defRPr/>
            </a:pPr>
            <a:endParaRPr lang="en-US" sz="1800" dirty="0">
              <a:latin typeface="LM Sans 10"/>
              <a:cs typeface="LM Sans 10"/>
            </a:endParaRPr>
          </a:p>
          <a:p>
            <a:pPr marL="207962" marR="1045844" indent="-285750" eaLnBrk="1" hangingPunct="1">
              <a:lnSpc>
                <a:spcPct val="119300"/>
              </a:lnSpc>
              <a:spcBef>
                <a:spcPts val="180"/>
              </a:spcBef>
              <a:buFont typeface="Arial" panose="020B0604020202020204" pitchFamily="34" charset="0"/>
              <a:buChar char="•"/>
              <a:defRPr/>
            </a:pPr>
            <a:endParaRPr lang="en-US" altLang="en-US" sz="1800" dirty="0">
              <a:solidFill>
                <a:schemeClr val="tx1"/>
              </a:solidFill>
              <a:latin typeface="Book Antiqua" panose="02040602050305030304" pitchFamily="18" charset="0"/>
            </a:endParaRPr>
          </a:p>
        </p:txBody>
      </p:sp>
      <p:sp>
        <p:nvSpPr>
          <p:cNvPr id="36867"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E399B8FC-F66F-47D5-BB05-D009DDC8E1E4}" type="slidenum">
              <a:rPr lang="tr-TR" altLang="en-US" sz="1400" smtClean="0">
                <a:latin typeface="Palatino Linotype" pitchFamily="18" charset="0"/>
              </a:rPr>
              <a:pPr/>
              <a:t>28</a:t>
            </a:fld>
            <a:endParaRPr lang="tr-TR" altLang="en-US" sz="1400" smtClean="0">
              <a:latin typeface="Palatino Linotype" pitchFamily="18" charset="0"/>
            </a:endParaRPr>
          </a:p>
        </p:txBody>
      </p:sp>
    </p:spTree>
    <p:extLst>
      <p:ext uri="{BB962C8B-B14F-4D97-AF65-F5344CB8AC3E}">
        <p14:creationId xmlns:p14="http://schemas.microsoft.com/office/powerpoint/2010/main" val="364623183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noChangeArrowheads="1"/>
          </p:cNvSpPr>
          <p:nvPr>
            <p:ph idx="1"/>
          </p:nvPr>
        </p:nvSpPr>
        <p:spPr>
          <a:xfrm>
            <a:off x="128216" y="692696"/>
            <a:ext cx="8764265" cy="5256584"/>
          </a:xfrm>
          <a:extLst/>
        </p:spPr>
        <p:txBody>
          <a:bodyPr>
            <a:normAutofit/>
          </a:bodyPr>
          <a:lstStyle/>
          <a:p>
            <a:pPr marL="1471400" lvl="8" indent="0" algn="ctr">
              <a:lnSpc>
                <a:spcPct val="80000"/>
              </a:lnSpc>
              <a:spcAft>
                <a:spcPts val="1200"/>
              </a:spcAft>
              <a:buFont typeface="Calibri" pitchFamily="34" charset="0"/>
              <a:buNone/>
              <a:defRPr/>
            </a:pPr>
            <a:r>
              <a:rPr lang="en-US" sz="2800" dirty="0">
                <a:solidFill>
                  <a:schemeClr val="tx1"/>
                </a:solidFill>
                <a:latin typeface="Book Antiqua" panose="02040602050305030304" pitchFamily="18" charset="0"/>
              </a:rPr>
              <a:t>Components of Neuron - Synapses</a:t>
            </a:r>
          </a:p>
          <a:p>
            <a:pPr lvl="8" algn="ctr">
              <a:lnSpc>
                <a:spcPct val="80000"/>
              </a:lnSpc>
              <a:spcAft>
                <a:spcPts val="1200"/>
              </a:spcAft>
              <a:buFont typeface="Arial" panose="020B0604020202020204" pitchFamily="34" charset="0"/>
              <a:buChar char="•"/>
              <a:defRPr/>
            </a:pPr>
            <a:endParaRPr lang="en-US" altLang="en-US" sz="1800" dirty="0">
              <a:solidFill>
                <a:schemeClr val="tx1"/>
              </a:solidFill>
              <a:latin typeface="Book Antiqua" panose="02040602050305030304" pitchFamily="18" charset="0"/>
            </a:endParaRPr>
          </a:p>
          <a:p>
            <a:pPr marL="12700" marR="1045844" eaLnBrk="1" hangingPunct="1">
              <a:lnSpc>
                <a:spcPct val="119300"/>
              </a:lnSpc>
              <a:spcBef>
                <a:spcPts val="180"/>
              </a:spcBef>
              <a:defRPr/>
            </a:pPr>
            <a:endParaRPr lang="en-US" sz="1800" spc="-5" dirty="0">
              <a:latin typeface="Book Antiqua" panose="02040602050305030304" pitchFamily="18" charset="0"/>
              <a:cs typeface="LM Sans 10"/>
            </a:endParaRPr>
          </a:p>
          <a:p>
            <a:pPr marL="12700" marR="1045844" eaLnBrk="1" hangingPunct="1">
              <a:lnSpc>
                <a:spcPct val="119300"/>
              </a:lnSpc>
              <a:spcBef>
                <a:spcPts val="180"/>
              </a:spcBef>
              <a:defRPr/>
            </a:pPr>
            <a:r>
              <a:rPr lang="en-US" sz="1800" spc="-5" dirty="0">
                <a:latin typeface="Book Antiqua" panose="02040602050305030304" pitchFamily="18" charset="0"/>
                <a:cs typeface="LM Sans 10"/>
              </a:rPr>
              <a:t>Usually </a:t>
            </a:r>
            <a:r>
              <a:rPr lang="en-US" sz="1800" spc="-10" dirty="0">
                <a:latin typeface="Book Antiqua" panose="02040602050305030304" pitchFamily="18" charset="0"/>
                <a:cs typeface="LM Sans 10"/>
              </a:rPr>
              <a:t>found at </a:t>
            </a:r>
            <a:r>
              <a:rPr lang="en-US" sz="1800" spc="-5" dirty="0">
                <a:latin typeface="Book Antiqua" panose="02040602050305030304" pitchFamily="18" charset="0"/>
                <a:cs typeface="LM Sans 10"/>
              </a:rPr>
              <a:t>the dendrites of </a:t>
            </a:r>
            <a:r>
              <a:rPr lang="en-US" sz="1800" spc="-10" dirty="0">
                <a:latin typeface="Book Antiqua" panose="02040602050305030304" pitchFamily="18" charset="0"/>
                <a:cs typeface="LM Sans 10"/>
              </a:rPr>
              <a:t>a </a:t>
            </a:r>
            <a:r>
              <a:rPr lang="en-US" sz="1800" spc="-5" dirty="0">
                <a:latin typeface="Book Antiqua" panose="02040602050305030304" pitchFamily="18" charset="0"/>
                <a:cs typeface="LM Sans 10"/>
              </a:rPr>
              <a:t>neuron  </a:t>
            </a:r>
          </a:p>
          <a:p>
            <a:pPr marL="12700" marR="1045844" eaLnBrk="1" hangingPunct="1">
              <a:lnSpc>
                <a:spcPct val="119300"/>
              </a:lnSpc>
              <a:spcBef>
                <a:spcPts val="180"/>
              </a:spcBef>
              <a:defRPr/>
            </a:pPr>
            <a:r>
              <a:rPr lang="en-US" sz="1800" spc="-20" dirty="0">
                <a:latin typeface="Book Antiqua" panose="02040602050305030304" pitchFamily="18" charset="0"/>
                <a:cs typeface="LM Sans 10"/>
              </a:rPr>
              <a:t>Two </a:t>
            </a:r>
            <a:r>
              <a:rPr lang="en-US" sz="1800" spc="-10" dirty="0">
                <a:latin typeface="Book Antiqua" panose="02040602050305030304" pitchFamily="18" charset="0"/>
                <a:cs typeface="LM Sans 10"/>
              </a:rPr>
              <a:t>types </a:t>
            </a:r>
            <a:r>
              <a:rPr lang="en-US" sz="1800" spc="-5" dirty="0">
                <a:latin typeface="Book Antiqua" panose="02040602050305030304" pitchFamily="18" charset="0"/>
                <a:cs typeface="LM Sans 10"/>
              </a:rPr>
              <a:t>- electrical </a:t>
            </a:r>
            <a:r>
              <a:rPr lang="en-US" sz="1800" spc="-10" dirty="0">
                <a:latin typeface="Book Antiqua" panose="02040602050305030304" pitchFamily="18" charset="0"/>
                <a:cs typeface="LM Sans 10"/>
              </a:rPr>
              <a:t>and	</a:t>
            </a:r>
            <a:r>
              <a:rPr lang="en-US" sz="1800" spc="-5" dirty="0">
                <a:latin typeface="Book Antiqua" panose="02040602050305030304" pitchFamily="18" charset="0"/>
                <a:cs typeface="LM Sans 10"/>
              </a:rPr>
              <a:t>chemical synapse </a:t>
            </a:r>
          </a:p>
          <a:p>
            <a:pPr marL="12700" marR="1045844" eaLnBrk="1" hangingPunct="1">
              <a:lnSpc>
                <a:spcPct val="119300"/>
              </a:lnSpc>
              <a:spcBef>
                <a:spcPts val="180"/>
              </a:spcBef>
              <a:defRPr/>
            </a:pPr>
            <a:r>
              <a:rPr lang="en-US" sz="1800" spc="-5" dirty="0">
                <a:latin typeface="Book Antiqua" panose="02040602050305030304" pitchFamily="18" charset="0"/>
                <a:cs typeface="LM Sans 10"/>
              </a:rPr>
              <a:t> Electrical</a:t>
            </a:r>
            <a:r>
              <a:rPr lang="en-US" sz="1800" spc="-10" dirty="0">
                <a:latin typeface="Book Antiqua" panose="02040602050305030304" pitchFamily="18" charset="0"/>
                <a:cs typeface="LM Sans 10"/>
              </a:rPr>
              <a:t> </a:t>
            </a:r>
            <a:r>
              <a:rPr lang="en-US" sz="1800" spc="-5" dirty="0">
                <a:latin typeface="Book Antiqua" panose="02040602050305030304" pitchFamily="18" charset="0"/>
                <a:cs typeface="LM Sans 10"/>
              </a:rPr>
              <a:t>synapse</a:t>
            </a:r>
            <a:endParaRPr lang="en-US" sz="1800" dirty="0">
              <a:latin typeface="Book Antiqua" panose="02040602050305030304" pitchFamily="18" charset="0"/>
              <a:cs typeface="LM Sans 10"/>
            </a:endParaRPr>
          </a:p>
          <a:p>
            <a:pPr marL="776922" lvl="1" indent="-285750" eaLnBrk="1" hangingPunct="1">
              <a:lnSpc>
                <a:spcPct val="100000"/>
              </a:lnSpc>
              <a:spcBef>
                <a:spcPts val="175"/>
              </a:spcBef>
              <a:buFont typeface="Arial" panose="020B0604020202020204" pitchFamily="34" charset="0"/>
              <a:buChar char="•"/>
              <a:defRPr/>
            </a:pPr>
            <a:r>
              <a:rPr lang="en-US" sz="1600" spc="-5" dirty="0">
                <a:latin typeface="Book Antiqua" panose="02040602050305030304" pitchFamily="18" charset="0"/>
                <a:cs typeface="LM Sans 10"/>
              </a:rPr>
              <a:t>Strong, </a:t>
            </a:r>
            <a:r>
              <a:rPr lang="en-US" sz="1600" spc="-5" dirty="0" err="1">
                <a:latin typeface="Book Antiqua" panose="02040602050305030304" pitchFamily="18" charset="0"/>
                <a:cs typeface="LM Sans 10"/>
              </a:rPr>
              <a:t>unadjustable</a:t>
            </a:r>
            <a:r>
              <a:rPr lang="en-US" sz="1600" spc="-5" dirty="0">
                <a:latin typeface="Book Antiqua" panose="02040602050305030304" pitchFamily="18" charset="0"/>
                <a:cs typeface="LM Sans 10"/>
              </a:rPr>
              <a:t> connection </a:t>
            </a:r>
            <a:r>
              <a:rPr lang="en-US" sz="1600" spc="-10" dirty="0">
                <a:latin typeface="Book Antiqua" panose="02040602050305030304" pitchFamily="18" charset="0"/>
                <a:cs typeface="LM Sans 10"/>
              </a:rPr>
              <a:t>between </a:t>
            </a:r>
            <a:r>
              <a:rPr lang="en-US" sz="1600" spc="-5" dirty="0">
                <a:latin typeface="Book Antiqua" panose="02040602050305030304" pitchFamily="18" charset="0"/>
                <a:cs typeface="LM Sans 10"/>
              </a:rPr>
              <a:t>one neuron and</a:t>
            </a:r>
            <a:r>
              <a:rPr lang="en-US" sz="1600" spc="45" dirty="0">
                <a:latin typeface="Book Antiqua" panose="02040602050305030304" pitchFamily="18" charset="0"/>
                <a:cs typeface="LM Sans 10"/>
              </a:rPr>
              <a:t> </a:t>
            </a:r>
            <a:r>
              <a:rPr lang="en-US" sz="1600" spc="-5" dirty="0">
                <a:latin typeface="Book Antiqua" panose="02040602050305030304" pitchFamily="18" charset="0"/>
                <a:cs typeface="LM Sans 10"/>
              </a:rPr>
              <a:t>next</a:t>
            </a:r>
            <a:endParaRPr lang="en-US" sz="1600" dirty="0">
              <a:latin typeface="Book Antiqua" panose="02040602050305030304" pitchFamily="18" charset="0"/>
              <a:cs typeface="LM Sans 10"/>
            </a:endParaRPr>
          </a:p>
          <a:p>
            <a:pPr marL="12700" eaLnBrk="1" hangingPunct="1">
              <a:lnSpc>
                <a:spcPct val="100000"/>
              </a:lnSpc>
              <a:spcBef>
                <a:spcPts val="195"/>
              </a:spcBef>
              <a:defRPr/>
            </a:pPr>
            <a:r>
              <a:rPr lang="en-US" sz="1800" spc="-10" dirty="0">
                <a:latin typeface="Book Antiqua" panose="02040602050305030304" pitchFamily="18" charset="0"/>
                <a:cs typeface="LM Sans 10"/>
              </a:rPr>
              <a:t>Chemical </a:t>
            </a:r>
            <a:r>
              <a:rPr lang="en-US" sz="1800" spc="-5" dirty="0">
                <a:latin typeface="Book Antiqua" panose="02040602050305030304" pitchFamily="18" charset="0"/>
                <a:cs typeface="LM Sans 10"/>
              </a:rPr>
              <a:t>synapse</a:t>
            </a:r>
            <a:endParaRPr lang="en-US" sz="1800" dirty="0">
              <a:latin typeface="Book Antiqua" panose="02040602050305030304" pitchFamily="18" charset="0"/>
              <a:cs typeface="LM Sans 10"/>
            </a:endParaRPr>
          </a:p>
          <a:p>
            <a:pPr marL="776922" marR="811530" lvl="1" indent="-285750" eaLnBrk="1" hangingPunct="1">
              <a:lnSpc>
                <a:spcPct val="100000"/>
              </a:lnSpc>
              <a:spcBef>
                <a:spcPts val="175"/>
              </a:spcBef>
              <a:buFont typeface="Arial" panose="020B0604020202020204" pitchFamily="34" charset="0"/>
              <a:buChar char="•"/>
              <a:defRPr/>
            </a:pPr>
            <a:r>
              <a:rPr lang="en-US" sz="1600" spc="-5" dirty="0">
                <a:latin typeface="Book Antiqua" panose="02040602050305030304" pitchFamily="18" charset="0"/>
                <a:cs typeface="LM Sans 10"/>
              </a:rPr>
              <a:t>Electrical coupling interrupted </a:t>
            </a:r>
            <a:r>
              <a:rPr lang="en-US" sz="1600" spc="-20" dirty="0">
                <a:latin typeface="Book Antiqua" panose="02040602050305030304" pitchFamily="18" charset="0"/>
                <a:cs typeface="LM Sans 10"/>
              </a:rPr>
              <a:t>by </a:t>
            </a:r>
            <a:r>
              <a:rPr lang="en-US" sz="1600" spc="-5" dirty="0">
                <a:latin typeface="Book Antiqua" panose="02040602050305030304" pitchFamily="18" charset="0"/>
                <a:cs typeface="LM Sans 10"/>
              </a:rPr>
              <a:t>synaptic cleft  </a:t>
            </a:r>
          </a:p>
          <a:p>
            <a:pPr marL="776922" marR="811530" lvl="1" indent="-285750" eaLnBrk="1" hangingPunct="1">
              <a:lnSpc>
                <a:spcPct val="100000"/>
              </a:lnSpc>
              <a:spcBef>
                <a:spcPts val="175"/>
              </a:spcBef>
              <a:buFont typeface="Arial" panose="020B0604020202020204" pitchFamily="34" charset="0"/>
              <a:buChar char="•"/>
              <a:defRPr/>
            </a:pPr>
            <a:r>
              <a:rPr lang="en-US" sz="1600" spc="-10" dirty="0">
                <a:latin typeface="Book Antiqua" panose="02040602050305030304" pitchFamily="18" charset="0"/>
                <a:cs typeface="LM Sans 10"/>
              </a:rPr>
              <a:t>Cleft separates </a:t>
            </a:r>
            <a:r>
              <a:rPr lang="en-US" sz="1600" spc="-25" dirty="0">
                <a:latin typeface="Book Antiqua" panose="02040602050305030304" pitchFamily="18" charset="0"/>
                <a:cs typeface="LM Sans 10"/>
              </a:rPr>
              <a:t>two</a:t>
            </a:r>
            <a:r>
              <a:rPr lang="en-US" sz="1600" dirty="0">
                <a:latin typeface="Book Antiqua" panose="02040602050305030304" pitchFamily="18" charset="0"/>
                <a:cs typeface="LM Sans 10"/>
              </a:rPr>
              <a:t> </a:t>
            </a:r>
            <a:r>
              <a:rPr lang="en-US" sz="1600" spc="-5" dirty="0">
                <a:latin typeface="Book Antiqua" panose="02040602050305030304" pitchFamily="18" charset="0"/>
                <a:cs typeface="LM Sans 10"/>
              </a:rPr>
              <a:t>neurons</a:t>
            </a:r>
            <a:endParaRPr lang="en-US" sz="1600" dirty="0">
              <a:latin typeface="Book Antiqua" panose="02040602050305030304" pitchFamily="18" charset="0"/>
              <a:cs typeface="LM Sans 10"/>
            </a:endParaRPr>
          </a:p>
          <a:p>
            <a:pPr marL="776922" lvl="1" indent="-285750" eaLnBrk="1" hangingPunct="1">
              <a:lnSpc>
                <a:spcPts val="1190"/>
              </a:lnSpc>
              <a:buFont typeface="Arial" panose="020B0604020202020204" pitchFamily="34" charset="0"/>
              <a:buChar char="•"/>
              <a:defRPr/>
            </a:pPr>
            <a:r>
              <a:rPr lang="en-US" sz="1600" spc="-5" dirty="0">
                <a:latin typeface="Book Antiqua" panose="02040602050305030304" pitchFamily="18" charset="0"/>
                <a:cs typeface="LM Sans 10"/>
              </a:rPr>
              <a:t>Instead information </a:t>
            </a:r>
            <a:r>
              <a:rPr lang="en-US" sz="1600" spc="-15" dirty="0">
                <a:latin typeface="Book Antiqua" panose="02040602050305030304" pitchFamily="18" charset="0"/>
                <a:cs typeface="LM Sans 10"/>
              </a:rPr>
              <a:t>flow </a:t>
            </a:r>
            <a:r>
              <a:rPr lang="en-US" sz="1600" spc="-20" dirty="0">
                <a:latin typeface="Book Antiqua" panose="02040602050305030304" pitchFamily="18" charset="0"/>
                <a:cs typeface="LM Sans 10"/>
              </a:rPr>
              <a:t>by </a:t>
            </a:r>
            <a:r>
              <a:rPr lang="en-US" sz="1600" spc="-5" dirty="0">
                <a:latin typeface="Book Antiqua" panose="02040602050305030304" pitchFamily="18" charset="0"/>
                <a:cs typeface="LM Sans 10"/>
              </a:rPr>
              <a:t>means of chemicals</a:t>
            </a:r>
            <a:r>
              <a:rPr lang="en-US" sz="1600" spc="25" dirty="0">
                <a:latin typeface="Book Antiqua" panose="02040602050305030304" pitchFamily="18" charset="0"/>
                <a:cs typeface="LM Sans 10"/>
              </a:rPr>
              <a:t> </a:t>
            </a:r>
            <a:r>
              <a:rPr lang="en-US" sz="1600" spc="-5" dirty="0">
                <a:latin typeface="Book Antiqua" panose="02040602050305030304" pitchFamily="18" charset="0"/>
                <a:cs typeface="LM Sans 10"/>
              </a:rPr>
              <a:t>called </a:t>
            </a:r>
            <a:r>
              <a:rPr lang="en-US" sz="1600" i="1" spc="-5" dirty="0">
                <a:latin typeface="Book Antiqua" panose="02040602050305030304" pitchFamily="18" charset="0"/>
                <a:cs typeface="LM Sans 10"/>
              </a:rPr>
              <a:t>neurotransmitters</a:t>
            </a:r>
            <a:endParaRPr lang="en-US" sz="1600" dirty="0">
              <a:latin typeface="Book Antiqua" panose="02040602050305030304" pitchFamily="18" charset="0"/>
              <a:cs typeface="LM Sans 10"/>
            </a:endParaRPr>
          </a:p>
          <a:p>
            <a:pPr marL="12700">
              <a:lnSpc>
                <a:spcPct val="100000"/>
              </a:lnSpc>
              <a:spcBef>
                <a:spcPts val="285"/>
              </a:spcBef>
              <a:defRPr/>
            </a:pPr>
            <a:r>
              <a:rPr lang="en-US" spc="-10" dirty="0">
                <a:latin typeface="Book Antiqua" panose="02040602050305030304" pitchFamily="18" charset="0"/>
                <a:cs typeface="LM Sans 10"/>
              </a:rPr>
              <a:t>Advantage </a:t>
            </a:r>
            <a:r>
              <a:rPr lang="en-US" spc="-5" dirty="0">
                <a:latin typeface="Book Antiqua" panose="02040602050305030304" pitchFamily="18" charset="0"/>
                <a:cs typeface="LM Sans 10"/>
              </a:rPr>
              <a:t>of chemical synapse over electrical</a:t>
            </a:r>
            <a:r>
              <a:rPr lang="en-US" spc="-10" dirty="0">
                <a:latin typeface="Book Antiqua" panose="02040602050305030304" pitchFamily="18" charset="0"/>
                <a:cs typeface="LM Sans 10"/>
              </a:rPr>
              <a:t> </a:t>
            </a:r>
            <a:r>
              <a:rPr lang="en-US" spc="-5" dirty="0">
                <a:latin typeface="Book Antiqua" panose="02040602050305030304" pitchFamily="18" charset="0"/>
                <a:cs typeface="LM Sans 10"/>
              </a:rPr>
              <a:t>synapse</a:t>
            </a:r>
            <a:endParaRPr lang="en-US" dirty="0">
              <a:latin typeface="Book Antiqua" panose="02040602050305030304" pitchFamily="18" charset="0"/>
              <a:cs typeface="LM Sans 10"/>
            </a:endParaRPr>
          </a:p>
          <a:p>
            <a:pPr marL="484822" indent="-285750">
              <a:lnSpc>
                <a:spcPts val="1200"/>
              </a:lnSpc>
              <a:spcBef>
                <a:spcPts val="175"/>
              </a:spcBef>
              <a:buFont typeface="Arial" panose="020B0604020202020204" pitchFamily="34" charset="0"/>
              <a:buChar char="•"/>
              <a:defRPr/>
            </a:pPr>
            <a:r>
              <a:rPr lang="en-US" sz="1800" spc="-15" dirty="0">
                <a:latin typeface="Book Antiqua" panose="02040602050305030304" pitchFamily="18" charset="0"/>
                <a:cs typeface="LM Sans 10"/>
              </a:rPr>
              <a:t>One-way</a:t>
            </a:r>
            <a:r>
              <a:rPr lang="en-US" sz="1800" spc="-10" dirty="0">
                <a:latin typeface="Book Antiqua" panose="02040602050305030304" pitchFamily="18" charset="0"/>
                <a:cs typeface="LM Sans 10"/>
              </a:rPr>
              <a:t> </a:t>
            </a:r>
            <a:r>
              <a:rPr lang="en-US" sz="1800" spc="-5" dirty="0">
                <a:latin typeface="Book Antiqua" panose="02040602050305030304" pitchFamily="18" charset="0"/>
                <a:cs typeface="LM Sans 10"/>
              </a:rPr>
              <a:t>connection</a:t>
            </a:r>
            <a:endParaRPr lang="en-US" sz="1800" dirty="0">
              <a:latin typeface="Book Antiqua" panose="02040602050305030304" pitchFamily="18" charset="0"/>
              <a:cs typeface="LM Sans 10"/>
            </a:endParaRPr>
          </a:p>
          <a:p>
            <a:pPr marL="484822" indent="-285750">
              <a:lnSpc>
                <a:spcPts val="1200"/>
              </a:lnSpc>
              <a:buFont typeface="Arial" panose="020B0604020202020204" pitchFamily="34" charset="0"/>
              <a:buChar char="•"/>
              <a:defRPr/>
            </a:pPr>
            <a:r>
              <a:rPr lang="en-US" sz="1800" spc="-5" dirty="0">
                <a:latin typeface="Book Antiqua" panose="02040602050305030304" pitchFamily="18" charset="0"/>
                <a:cs typeface="LM Sans 10"/>
              </a:rPr>
              <a:t>Adjustability - </a:t>
            </a:r>
            <a:r>
              <a:rPr lang="en-US" sz="1800" spc="-10" dirty="0">
                <a:latin typeface="Book Antiqua" panose="02040602050305030304" pitchFamily="18" charset="0"/>
                <a:cs typeface="LM Sans 10"/>
              </a:rPr>
              <a:t>quantity </a:t>
            </a:r>
            <a:r>
              <a:rPr lang="en-US" sz="1800" spc="-5" dirty="0">
                <a:latin typeface="Book Antiqua" panose="02040602050305030304" pitchFamily="18" charset="0"/>
                <a:cs typeface="LM Sans 10"/>
              </a:rPr>
              <a:t>of neurotransmitter, inversion of</a:t>
            </a:r>
            <a:r>
              <a:rPr lang="en-US" sz="1800" spc="65" dirty="0">
                <a:latin typeface="Book Antiqua" panose="02040602050305030304" pitchFamily="18" charset="0"/>
                <a:cs typeface="LM Sans 10"/>
              </a:rPr>
              <a:t> </a:t>
            </a:r>
            <a:r>
              <a:rPr lang="en-US" sz="1800" spc="-5" dirty="0">
                <a:latin typeface="Book Antiqua" panose="02040602050305030304" pitchFamily="18" charset="0"/>
                <a:cs typeface="LM Sans 10"/>
              </a:rPr>
              <a:t>stimulation</a:t>
            </a:r>
            <a:endParaRPr lang="en-US" sz="1800" dirty="0">
              <a:latin typeface="Book Antiqua" panose="02040602050305030304" pitchFamily="18" charset="0"/>
              <a:cs typeface="LM Sans 10"/>
            </a:endParaRPr>
          </a:p>
          <a:p>
            <a:pPr marL="207962" marR="1045844" indent="-285750" eaLnBrk="1" hangingPunct="1">
              <a:lnSpc>
                <a:spcPct val="119300"/>
              </a:lnSpc>
              <a:spcBef>
                <a:spcPts val="180"/>
              </a:spcBef>
              <a:buFont typeface="Arial" panose="020B0604020202020204" pitchFamily="34" charset="0"/>
              <a:buChar char="•"/>
              <a:defRPr/>
            </a:pPr>
            <a:endParaRPr lang="en-US" altLang="en-US" sz="1800" dirty="0">
              <a:solidFill>
                <a:schemeClr val="tx1"/>
              </a:solidFill>
              <a:latin typeface="Book Antiqua" panose="02040602050305030304" pitchFamily="18" charset="0"/>
            </a:endParaRPr>
          </a:p>
        </p:txBody>
      </p:sp>
      <p:sp>
        <p:nvSpPr>
          <p:cNvPr id="37891"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3318CA3C-D46C-4405-B515-0C859E3260CE}" type="slidenum">
              <a:rPr lang="tr-TR" altLang="en-US" sz="1400" smtClean="0">
                <a:latin typeface="Palatino Linotype" pitchFamily="18" charset="0"/>
              </a:rPr>
              <a:pPr/>
              <a:t>29</a:t>
            </a:fld>
            <a:endParaRPr lang="tr-TR" altLang="en-US" sz="1400" smtClean="0">
              <a:latin typeface="Palatino Linotype" pitchFamily="18" charset="0"/>
            </a:endParaRPr>
          </a:p>
        </p:txBody>
      </p:sp>
    </p:spTree>
    <p:extLst>
      <p:ext uri="{BB962C8B-B14F-4D97-AF65-F5344CB8AC3E}">
        <p14:creationId xmlns:p14="http://schemas.microsoft.com/office/powerpoint/2010/main" val="342694670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332658"/>
            <a:ext cx="8712968" cy="4022725"/>
          </a:xfrm>
        </p:spPr>
        <p:txBody>
          <a:bodyPr>
            <a:normAutofit fontScale="25000" lnSpcReduction="20000"/>
          </a:bodyPr>
          <a:lstStyle/>
          <a:p>
            <a:pPr marL="0" indent="0">
              <a:buNone/>
            </a:pPr>
            <a:r>
              <a:rPr lang="en-US" sz="12800" b="1" dirty="0" smtClean="0"/>
              <a:t>Two Types of Synapses in the Nervous System</a:t>
            </a:r>
          </a:p>
          <a:p>
            <a:r>
              <a:rPr lang="en-US" sz="12800" b="1" dirty="0" smtClean="0"/>
              <a:t>1. ⚡ Electrical Synapse</a:t>
            </a:r>
          </a:p>
          <a:p>
            <a:r>
              <a:rPr lang="en-US" sz="12800" b="1" dirty="0" smtClean="0"/>
              <a:t>Definition:</a:t>
            </a:r>
            <a:r>
              <a:rPr lang="en-US" sz="12800" dirty="0" smtClean="0"/>
              <a:t> A direct, </a:t>
            </a:r>
            <a:r>
              <a:rPr lang="en-US" sz="12800" b="1" dirty="0" smtClean="0"/>
              <a:t>fast</a:t>
            </a:r>
            <a:r>
              <a:rPr lang="en-US" sz="12800" dirty="0" smtClean="0"/>
              <a:t> communication between neurons using electrical current.</a:t>
            </a:r>
          </a:p>
          <a:p>
            <a:r>
              <a:rPr lang="en-US" sz="12800" b="1" dirty="0" smtClean="0"/>
              <a:t>How it works:</a:t>
            </a:r>
            <a:r>
              <a:rPr lang="en-US" sz="12800" dirty="0" smtClean="0"/>
              <a:t> Ions flow directly from one neuron to another through </a:t>
            </a:r>
            <a:r>
              <a:rPr lang="en-US" sz="12800" b="1" dirty="0" smtClean="0"/>
              <a:t>gap junctions</a:t>
            </a:r>
            <a:r>
              <a:rPr lang="en-US" sz="12800" dirty="0" smtClean="0"/>
              <a:t> (tiny channels).</a:t>
            </a:r>
          </a:p>
          <a:p>
            <a:r>
              <a:rPr lang="en-US" sz="12800" b="1" dirty="0" smtClean="0"/>
              <a:t>Speed:</a:t>
            </a:r>
            <a:r>
              <a:rPr lang="en-US" sz="12800" dirty="0" smtClean="0"/>
              <a:t> Very fast (almost instant).</a:t>
            </a:r>
          </a:p>
          <a:p>
            <a:r>
              <a:rPr lang="en-US" sz="12800" b="1" dirty="0" smtClean="0"/>
              <a:t>Direction:</a:t>
            </a:r>
            <a:r>
              <a:rPr lang="en-US" sz="12800" dirty="0" smtClean="0"/>
              <a:t> Usually </a:t>
            </a:r>
            <a:r>
              <a:rPr lang="en-US" sz="12800" b="1" dirty="0" smtClean="0"/>
              <a:t>bidirectional</a:t>
            </a:r>
            <a:r>
              <a:rPr lang="en-US" sz="12800" dirty="0" smtClean="0"/>
              <a:t> (signals can go both ways).</a:t>
            </a:r>
          </a:p>
          <a:p>
            <a:r>
              <a:rPr lang="en-US" sz="12800" b="1" dirty="0" smtClean="0"/>
              <a:t>Example use:</a:t>
            </a:r>
            <a:r>
              <a:rPr lang="en-US" sz="12800" dirty="0" smtClean="0"/>
              <a:t> Found in reflexes, heartbeat coordination, and some brain circuits where speed is critical.</a:t>
            </a:r>
          </a:p>
          <a:p>
            <a:r>
              <a:rPr lang="en-US" sz="12800" b="1" dirty="0" smtClean="0"/>
              <a:t>Key feature:</a:t>
            </a:r>
            <a:r>
              <a:rPr lang="en-US" sz="12800" dirty="0" smtClean="0"/>
              <a:t> No neurotransmitters are involved.</a:t>
            </a:r>
          </a:p>
          <a:p>
            <a:endParaRPr lang="en-IN" dirty="0"/>
          </a:p>
        </p:txBody>
      </p:sp>
      <p:sp>
        <p:nvSpPr>
          <p:cNvPr id="4" name="Footer Placeholder 3"/>
          <p:cNvSpPr>
            <a:spLocks noGrp="1"/>
          </p:cNvSpPr>
          <p:nvPr>
            <p:ph type="ftr" sz="quarter" idx="11"/>
          </p:nvPr>
        </p:nvSpPr>
        <p:spPr/>
        <p:txBody>
          <a:bodyPr/>
          <a:lstStyle/>
          <a:p>
            <a:pPr>
              <a:defRPr/>
            </a:pPr>
            <a:r>
              <a:rPr lang="en-US" smtClean="0"/>
              <a:t>Alpydin &amp; Ch. Eick: ML Topic1</a:t>
            </a:r>
            <a:endParaRPr lang="tr-TR"/>
          </a:p>
        </p:txBody>
      </p:sp>
      <p:sp>
        <p:nvSpPr>
          <p:cNvPr id="5" name="Slide Number Placeholder 4"/>
          <p:cNvSpPr>
            <a:spLocks noGrp="1"/>
          </p:cNvSpPr>
          <p:nvPr>
            <p:ph type="sldNum" sz="quarter" idx="12"/>
          </p:nvPr>
        </p:nvSpPr>
        <p:spPr/>
        <p:txBody>
          <a:bodyPr/>
          <a:lstStyle/>
          <a:p>
            <a:pPr>
              <a:defRPr/>
            </a:pPr>
            <a:fld id="{0AFB485D-3481-49FD-B5B4-FD277F6B517C}" type="slidenum">
              <a:rPr lang="tr-TR" altLang="en-US" smtClean="0"/>
              <a:pPr>
                <a:defRPr/>
              </a:pPr>
              <a:t>30</a:t>
            </a:fld>
            <a:endParaRPr lang="tr-TR" altLang="en-US"/>
          </a:p>
        </p:txBody>
      </p:sp>
    </p:spTree>
    <p:extLst>
      <p:ext uri="{BB962C8B-B14F-4D97-AF65-F5344CB8AC3E}">
        <p14:creationId xmlns:p14="http://schemas.microsoft.com/office/powerpoint/2010/main" val="12474585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3" y="332656"/>
            <a:ext cx="8784976" cy="6048672"/>
          </a:xfrm>
        </p:spPr>
        <p:txBody>
          <a:bodyPr>
            <a:normAutofit fontScale="92500" lnSpcReduction="20000"/>
          </a:bodyPr>
          <a:lstStyle/>
          <a:p>
            <a:r>
              <a:rPr lang="en-US" b="1" dirty="0" smtClean="0"/>
              <a:t>2. 🧪 Chemical Synapse</a:t>
            </a:r>
          </a:p>
          <a:p>
            <a:r>
              <a:rPr lang="en-US" b="1" dirty="0" smtClean="0"/>
              <a:t>Definition:</a:t>
            </a:r>
            <a:r>
              <a:rPr lang="en-US" dirty="0" smtClean="0"/>
              <a:t> A </a:t>
            </a:r>
            <a:r>
              <a:rPr lang="en-US" b="1" dirty="0" smtClean="0"/>
              <a:t>slower</a:t>
            </a:r>
            <a:r>
              <a:rPr lang="en-US" dirty="0" smtClean="0"/>
              <a:t>, but more </a:t>
            </a:r>
            <a:r>
              <a:rPr lang="en-US" b="1" dirty="0" smtClean="0"/>
              <a:t>flexible and complex</a:t>
            </a:r>
            <a:r>
              <a:rPr lang="en-US" dirty="0" smtClean="0"/>
              <a:t> communication method using chemicals called </a:t>
            </a:r>
            <a:r>
              <a:rPr lang="en-US" b="1" dirty="0" smtClean="0"/>
              <a:t>neurotransmitters</a:t>
            </a:r>
            <a:r>
              <a:rPr lang="en-US" dirty="0" smtClean="0"/>
              <a:t>.</a:t>
            </a:r>
          </a:p>
          <a:p>
            <a:r>
              <a:rPr lang="en-US" b="1" dirty="0" smtClean="0"/>
              <a:t>How it works:</a:t>
            </a:r>
            <a:endParaRPr lang="en-US" dirty="0" smtClean="0"/>
          </a:p>
          <a:p>
            <a:pPr lvl="1"/>
            <a:r>
              <a:rPr lang="en-US" dirty="0" smtClean="0"/>
              <a:t>Electrical signal reaches the axon terminal.</a:t>
            </a:r>
          </a:p>
          <a:p>
            <a:pPr lvl="1"/>
            <a:r>
              <a:rPr lang="en-US" dirty="0" smtClean="0"/>
              <a:t>Neurotransmitters are released into the </a:t>
            </a:r>
            <a:r>
              <a:rPr lang="en-US" b="1" dirty="0" smtClean="0"/>
              <a:t>synaptic cleft</a:t>
            </a:r>
            <a:r>
              <a:rPr lang="en-US" dirty="0" smtClean="0"/>
              <a:t> (gap).</a:t>
            </a:r>
          </a:p>
          <a:p>
            <a:pPr lvl="1"/>
            <a:r>
              <a:rPr lang="en-US" dirty="0" smtClean="0"/>
              <a:t>These chemicals bind to receptors on the next neuron, starting a new electrical signal.</a:t>
            </a:r>
          </a:p>
          <a:p>
            <a:r>
              <a:rPr lang="en-US" b="1" dirty="0" smtClean="0"/>
              <a:t>Speed:</a:t>
            </a:r>
            <a:r>
              <a:rPr lang="en-US" dirty="0" smtClean="0"/>
              <a:t> Slower than electrical (milliseconds delay).</a:t>
            </a:r>
          </a:p>
          <a:p>
            <a:r>
              <a:rPr lang="en-US" b="1" dirty="0" smtClean="0"/>
              <a:t>Direction:</a:t>
            </a:r>
            <a:r>
              <a:rPr lang="en-US" dirty="0" smtClean="0"/>
              <a:t> Always </a:t>
            </a:r>
            <a:r>
              <a:rPr lang="en-US" b="1" dirty="0" smtClean="0"/>
              <a:t>unidirectional</a:t>
            </a:r>
            <a:r>
              <a:rPr lang="en-US" dirty="0" smtClean="0"/>
              <a:t> (from presynaptic to postsynaptic neuron).</a:t>
            </a:r>
          </a:p>
          <a:p>
            <a:r>
              <a:rPr lang="en-US" b="1" dirty="0" smtClean="0"/>
              <a:t>Example use:</a:t>
            </a:r>
            <a:r>
              <a:rPr lang="en-US" dirty="0" smtClean="0"/>
              <a:t> Most common type in the brain and body (e.g., muscle movement, mood control).</a:t>
            </a:r>
          </a:p>
          <a:p>
            <a:endParaRPr lang="en-IN" dirty="0"/>
          </a:p>
        </p:txBody>
      </p:sp>
    </p:spTree>
    <p:extLst>
      <p:ext uri="{BB962C8B-B14F-4D97-AF65-F5344CB8AC3E}">
        <p14:creationId xmlns:p14="http://schemas.microsoft.com/office/powerpoint/2010/main" val="19431383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Content Placeholder 2"/>
          <p:cNvSpPr>
            <a:spLocks noGrp="1" noChangeArrowheads="1"/>
          </p:cNvSpPr>
          <p:nvPr>
            <p:ph idx="1"/>
          </p:nvPr>
        </p:nvSpPr>
        <p:spPr>
          <a:xfrm>
            <a:off x="179513" y="188640"/>
            <a:ext cx="8764265" cy="6192688"/>
          </a:xfrm>
          <a:extLst/>
        </p:spPr>
        <p:txBody>
          <a:bodyPr>
            <a:normAutofit fontScale="25000" lnSpcReduction="20000"/>
          </a:bodyPr>
          <a:lstStyle/>
          <a:p>
            <a:pPr marL="1471400" lvl="8" indent="0" algn="ctr">
              <a:lnSpc>
                <a:spcPct val="80000"/>
              </a:lnSpc>
              <a:spcAft>
                <a:spcPts val="1200"/>
              </a:spcAft>
              <a:buFont typeface="Calibri" pitchFamily="34" charset="0"/>
              <a:buNone/>
              <a:defRPr/>
            </a:pPr>
            <a:r>
              <a:rPr lang="en-US" sz="12800" dirty="0">
                <a:solidFill>
                  <a:schemeClr val="tx1"/>
                </a:solidFill>
                <a:latin typeface="Book Antiqua" panose="02040602050305030304" pitchFamily="18" charset="0"/>
              </a:rPr>
              <a:t>Neuron - Electrochemical Processes</a:t>
            </a:r>
          </a:p>
          <a:p>
            <a:pPr marL="1471400" lvl="8" indent="0" algn="ctr">
              <a:lnSpc>
                <a:spcPct val="80000"/>
              </a:lnSpc>
              <a:spcAft>
                <a:spcPts val="1200"/>
              </a:spcAft>
              <a:buFont typeface="Calibri" pitchFamily="34" charset="0"/>
              <a:buNone/>
              <a:defRPr/>
            </a:pPr>
            <a:endParaRPr lang="en-US" altLang="en-US" sz="1800" dirty="0">
              <a:solidFill>
                <a:schemeClr val="tx1"/>
              </a:solidFill>
              <a:latin typeface="Book Antiqua" panose="02040602050305030304" pitchFamily="18" charset="0"/>
            </a:endParaRPr>
          </a:p>
          <a:p>
            <a:pPr marL="12700">
              <a:lnSpc>
                <a:spcPct val="100000"/>
              </a:lnSpc>
              <a:spcBef>
                <a:spcPts val="600"/>
              </a:spcBef>
              <a:spcAft>
                <a:spcPts val="600"/>
              </a:spcAft>
              <a:defRPr/>
            </a:pPr>
            <a:r>
              <a:rPr lang="en-US" sz="7000" spc="-10" dirty="0" smtClean="0">
                <a:solidFill>
                  <a:schemeClr val="tx1"/>
                </a:solidFill>
                <a:latin typeface="Book Antiqua" panose="02040602050305030304" pitchFamily="18" charset="0"/>
                <a:cs typeface="LM Sans 12"/>
              </a:rPr>
              <a:t>Concentration </a:t>
            </a:r>
            <a:r>
              <a:rPr lang="en-US" sz="7000" spc="-10" dirty="0">
                <a:solidFill>
                  <a:schemeClr val="tx1"/>
                </a:solidFill>
                <a:latin typeface="Book Antiqua" panose="02040602050305030304" pitchFamily="18" charset="0"/>
                <a:cs typeface="LM Sans 12"/>
              </a:rPr>
              <a:t>Gradient</a:t>
            </a:r>
          </a:p>
          <a:p>
            <a:pPr marL="488950" lvl="2">
              <a:lnSpc>
                <a:spcPct val="100000"/>
              </a:lnSpc>
              <a:spcBef>
                <a:spcPts val="600"/>
              </a:spcBef>
              <a:spcAft>
                <a:spcPts val="600"/>
              </a:spcAft>
              <a:defRPr/>
            </a:pPr>
            <a:r>
              <a:rPr lang="en-US" sz="7000" spc="-10" dirty="0">
                <a:solidFill>
                  <a:schemeClr val="tx1"/>
                </a:solidFill>
                <a:latin typeface="Book Antiqua" panose="02040602050305030304" pitchFamily="18" charset="0"/>
              </a:rPr>
              <a:t>Ions diffuse from a region of high concentration to a region of low  concentration</a:t>
            </a:r>
          </a:p>
          <a:p>
            <a:pPr marL="12700" marR="5080">
              <a:lnSpc>
                <a:spcPct val="113199"/>
              </a:lnSpc>
              <a:spcBef>
                <a:spcPts val="600"/>
              </a:spcBef>
              <a:spcAft>
                <a:spcPts val="600"/>
              </a:spcAft>
              <a:defRPr/>
            </a:pPr>
            <a:r>
              <a:rPr lang="en-US" sz="7000" spc="-10" dirty="0">
                <a:solidFill>
                  <a:schemeClr val="tx1"/>
                </a:solidFill>
                <a:latin typeface="Book Antiqua" panose="02040602050305030304" pitchFamily="18" charset="0"/>
              </a:rPr>
              <a:t>Electrical Gradient</a:t>
            </a:r>
          </a:p>
          <a:p>
            <a:pPr marL="488950" marR="5080" lvl="2">
              <a:lnSpc>
                <a:spcPct val="113199"/>
              </a:lnSpc>
              <a:spcBef>
                <a:spcPts val="600"/>
              </a:spcBef>
              <a:spcAft>
                <a:spcPts val="600"/>
              </a:spcAft>
              <a:defRPr/>
            </a:pPr>
            <a:r>
              <a:rPr lang="en-US" sz="7000" spc="-10" dirty="0">
                <a:solidFill>
                  <a:schemeClr val="tx1"/>
                </a:solidFill>
                <a:latin typeface="Book Antiqua" panose="02040602050305030304" pitchFamily="18" charset="0"/>
              </a:rPr>
              <a:t>Ions move in order to neutralize charge </a:t>
            </a:r>
            <a:r>
              <a:rPr lang="en-US" sz="7000" spc="-10" dirty="0" err="1">
                <a:solidFill>
                  <a:schemeClr val="tx1"/>
                </a:solidFill>
                <a:latin typeface="Book Antiqua" panose="02040602050305030304" pitchFamily="18" charset="0"/>
              </a:rPr>
              <a:t>i.e</a:t>
            </a:r>
            <a:r>
              <a:rPr lang="en-US" sz="7000" spc="-10" dirty="0">
                <a:solidFill>
                  <a:schemeClr val="tx1"/>
                </a:solidFill>
                <a:latin typeface="Book Antiqua" panose="02040602050305030304" pitchFamily="18" charset="0"/>
              </a:rPr>
              <a:t> positive with negative and vice  versa</a:t>
            </a:r>
          </a:p>
          <a:p>
            <a:pPr marL="38100" marR="334645">
              <a:lnSpc>
                <a:spcPts val="1200"/>
              </a:lnSpc>
              <a:spcBef>
                <a:spcPts val="600"/>
              </a:spcBef>
              <a:spcAft>
                <a:spcPts val="600"/>
              </a:spcAft>
              <a:defRPr/>
            </a:pPr>
            <a:r>
              <a:rPr lang="en-US" sz="7000" spc="-10" dirty="0">
                <a:solidFill>
                  <a:schemeClr val="tx1"/>
                </a:solidFill>
                <a:latin typeface="Book Antiqua" panose="02040602050305030304" pitchFamily="18" charset="0"/>
              </a:rPr>
              <a:t>Potassium K + is found in high concentration inside cell and low  concentration outside</a:t>
            </a:r>
          </a:p>
          <a:p>
            <a:pPr marL="607060" marR="725805" lvl="1">
              <a:lnSpc>
                <a:spcPct val="100000"/>
              </a:lnSpc>
              <a:spcBef>
                <a:spcPts val="600"/>
              </a:spcBef>
              <a:spcAft>
                <a:spcPts val="600"/>
              </a:spcAft>
              <a:defRPr/>
            </a:pPr>
            <a:r>
              <a:rPr lang="en-US" sz="7000" spc="-10" dirty="0">
                <a:solidFill>
                  <a:schemeClr val="tx1"/>
                </a:solidFill>
                <a:latin typeface="Book Antiqua" panose="02040602050305030304" pitchFamily="18" charset="0"/>
              </a:rPr>
              <a:t>therefore slowly diffuses out of neuron through membrane  (concentration gradient)</a:t>
            </a:r>
          </a:p>
          <a:p>
            <a:pPr marL="38100" marR="343535">
              <a:lnSpc>
                <a:spcPts val="1200"/>
              </a:lnSpc>
              <a:spcBef>
                <a:spcPts val="600"/>
              </a:spcBef>
              <a:spcAft>
                <a:spcPts val="600"/>
              </a:spcAft>
              <a:defRPr/>
            </a:pPr>
            <a:r>
              <a:rPr lang="en-US" sz="7000" spc="-10" dirty="0">
                <a:solidFill>
                  <a:schemeClr val="tx1"/>
                </a:solidFill>
                <a:latin typeface="Book Antiqua" panose="02040602050305030304" pitchFamily="18" charset="0"/>
              </a:rPr>
              <a:t>Sodium Na+ is found in high concentration outside cell and low  concentration inside</a:t>
            </a:r>
          </a:p>
          <a:p>
            <a:pPr marL="607060" marR="30480" lvl="1">
              <a:lnSpc>
                <a:spcPct val="100000"/>
              </a:lnSpc>
              <a:spcBef>
                <a:spcPts val="600"/>
              </a:spcBef>
              <a:spcAft>
                <a:spcPts val="600"/>
              </a:spcAft>
              <a:defRPr/>
            </a:pPr>
            <a:r>
              <a:rPr lang="en-US" sz="7000" spc="-10" dirty="0">
                <a:solidFill>
                  <a:schemeClr val="tx1"/>
                </a:solidFill>
                <a:latin typeface="Book Antiqua" panose="02040602050305030304" pitchFamily="18" charset="0"/>
              </a:rPr>
              <a:t>therefore slowly diffuses into neuron through membrane (concentration  gradient)</a:t>
            </a:r>
          </a:p>
          <a:p>
            <a:pPr marL="607060" lvl="1">
              <a:lnSpc>
                <a:spcPts val="1190"/>
              </a:lnSpc>
              <a:spcBef>
                <a:spcPts val="600"/>
              </a:spcBef>
              <a:spcAft>
                <a:spcPts val="600"/>
              </a:spcAft>
              <a:defRPr/>
            </a:pPr>
            <a:r>
              <a:rPr lang="en-US" sz="7000" spc="-10" dirty="0">
                <a:solidFill>
                  <a:schemeClr val="tx1"/>
                </a:solidFill>
                <a:latin typeface="Book Antiqua" panose="02040602050305030304" pitchFamily="18" charset="0"/>
              </a:rPr>
              <a:t>plus interior of cell is negatively charged (electrical gradient)</a:t>
            </a:r>
          </a:p>
          <a:p>
            <a:pPr marL="38100">
              <a:lnSpc>
                <a:spcPct val="100000"/>
              </a:lnSpc>
              <a:spcBef>
                <a:spcPts val="600"/>
              </a:spcBef>
              <a:spcAft>
                <a:spcPts val="600"/>
              </a:spcAft>
              <a:defRPr/>
            </a:pPr>
            <a:r>
              <a:rPr lang="en-US" sz="7000" spc="-10" dirty="0">
                <a:solidFill>
                  <a:schemeClr val="tx1"/>
                </a:solidFill>
                <a:latin typeface="Book Antiqua" panose="02040602050305030304" pitchFamily="18" charset="0"/>
              </a:rPr>
              <a:t>Negative ions A− remain inside the cell</a:t>
            </a:r>
          </a:p>
          <a:p>
            <a:pPr marL="607060" lvl="1">
              <a:lnSpc>
                <a:spcPct val="100000"/>
              </a:lnSpc>
              <a:spcBef>
                <a:spcPts val="600"/>
              </a:spcBef>
              <a:spcAft>
                <a:spcPts val="600"/>
              </a:spcAft>
              <a:defRPr/>
            </a:pPr>
            <a:r>
              <a:rPr lang="en-US" sz="7000" spc="-10" dirty="0">
                <a:solidFill>
                  <a:schemeClr val="tx1"/>
                </a:solidFill>
                <a:latin typeface="Book Antiqua" panose="02040602050305030304" pitchFamily="18" charset="0"/>
              </a:rPr>
              <a:t>cell membrane not permeable to them</a:t>
            </a:r>
          </a:p>
          <a:p>
            <a:pPr marL="304800" marR="5080" lvl="1">
              <a:lnSpc>
                <a:spcPct val="113199"/>
              </a:lnSpc>
              <a:spcBef>
                <a:spcPts val="600"/>
              </a:spcBef>
              <a:spcAft>
                <a:spcPts val="600"/>
              </a:spcAft>
              <a:defRPr/>
            </a:pPr>
            <a:endParaRPr lang="en-US" sz="1600" dirty="0">
              <a:latin typeface="Book Antiqua" panose="02040602050305030304" pitchFamily="18" charset="0"/>
              <a:cs typeface="LM Sans 10"/>
            </a:endParaRPr>
          </a:p>
          <a:p>
            <a:pPr marL="12700" marR="5080">
              <a:lnSpc>
                <a:spcPct val="113199"/>
              </a:lnSpc>
              <a:spcBef>
                <a:spcPts val="600"/>
              </a:spcBef>
              <a:spcAft>
                <a:spcPts val="600"/>
              </a:spcAft>
              <a:defRPr/>
            </a:pPr>
            <a:endParaRPr lang="en-US" sz="1800" dirty="0">
              <a:solidFill>
                <a:schemeClr val="tx1"/>
              </a:solidFill>
              <a:latin typeface="Book Antiqua" panose="02040602050305030304" pitchFamily="18" charset="0"/>
              <a:cs typeface="LM Sans 10"/>
            </a:endParaRPr>
          </a:p>
          <a:p>
            <a:pPr marL="207962" marR="1045844" indent="-285750" eaLnBrk="1" hangingPunct="1">
              <a:lnSpc>
                <a:spcPct val="119300"/>
              </a:lnSpc>
              <a:spcBef>
                <a:spcPts val="180"/>
              </a:spcBef>
              <a:buFont typeface="Arial" panose="020B0604020202020204" pitchFamily="34" charset="0"/>
              <a:buChar char="•"/>
              <a:defRPr/>
            </a:pPr>
            <a:endParaRPr lang="en-US" altLang="en-US" sz="1800" dirty="0">
              <a:solidFill>
                <a:schemeClr val="tx1"/>
              </a:solidFill>
              <a:latin typeface="Book Antiqua" panose="02040602050305030304" pitchFamily="18" charset="0"/>
            </a:endParaRPr>
          </a:p>
        </p:txBody>
      </p:sp>
      <p:sp>
        <p:nvSpPr>
          <p:cNvPr id="38915"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CB39D45E-C26B-4B35-ACF6-17E62056617F}" type="slidenum">
              <a:rPr lang="tr-TR" altLang="en-US" sz="1400" smtClean="0">
                <a:latin typeface="Palatino Linotype" pitchFamily="18" charset="0"/>
              </a:rPr>
              <a:pPr/>
              <a:t>32</a:t>
            </a:fld>
            <a:endParaRPr lang="tr-TR" altLang="en-US" sz="1400" smtClean="0">
              <a:latin typeface="Palatino Linotype" pitchFamily="18" charset="0"/>
            </a:endParaRPr>
          </a:p>
        </p:txBody>
      </p:sp>
    </p:spTree>
    <p:extLst>
      <p:ext uri="{BB962C8B-B14F-4D97-AF65-F5344CB8AC3E}">
        <p14:creationId xmlns:p14="http://schemas.microsoft.com/office/powerpoint/2010/main" val="1914823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Content Placeholder 2"/>
          <p:cNvSpPr>
            <a:spLocks noGrp="1" noChangeArrowheads="1"/>
          </p:cNvSpPr>
          <p:nvPr>
            <p:ph idx="1"/>
          </p:nvPr>
        </p:nvSpPr>
        <p:spPr>
          <a:xfrm>
            <a:off x="128216" y="692698"/>
            <a:ext cx="8476233" cy="4755629"/>
          </a:xfrm>
          <a:extLst/>
        </p:spPr>
        <p:txBody>
          <a:bodyPr>
            <a:normAutofit/>
          </a:bodyPr>
          <a:lstStyle/>
          <a:p>
            <a:pPr marL="1471400" lvl="8" indent="0" algn="ctr">
              <a:lnSpc>
                <a:spcPct val="80000"/>
              </a:lnSpc>
              <a:spcAft>
                <a:spcPts val="1200"/>
              </a:spcAft>
              <a:buFont typeface="Calibri" pitchFamily="34" charset="0"/>
              <a:buNone/>
              <a:defRPr/>
            </a:pPr>
            <a:r>
              <a:rPr lang="en-US" sz="2800" dirty="0">
                <a:solidFill>
                  <a:schemeClr val="tx1"/>
                </a:solidFill>
                <a:latin typeface="Book Antiqua" panose="02040602050305030304" pitchFamily="18" charset="0"/>
              </a:rPr>
              <a:t>Neuron - Electrochemical Processes</a:t>
            </a:r>
          </a:p>
          <a:p>
            <a:pPr marL="38100" algn="ctr">
              <a:lnSpc>
                <a:spcPct val="100000"/>
              </a:lnSpc>
              <a:spcBef>
                <a:spcPts val="95"/>
              </a:spcBef>
              <a:defRPr/>
            </a:pPr>
            <a:r>
              <a:rPr lang="en-US" spc="-5" dirty="0">
                <a:solidFill>
                  <a:srgbClr val="3333B2"/>
                </a:solidFill>
                <a:latin typeface="Book Antiqua" panose="02040602050305030304" pitchFamily="18" charset="0"/>
                <a:cs typeface="LM Sans 10"/>
              </a:rPr>
              <a:t>Figure: </a:t>
            </a:r>
            <a:r>
              <a:rPr lang="en-US" spc="-5" dirty="0">
                <a:latin typeface="Book Antiqua" panose="02040602050305030304" pitchFamily="18" charset="0"/>
                <a:cs typeface="LM Sans 10"/>
              </a:rPr>
              <a:t>Sodium </a:t>
            </a:r>
            <a:r>
              <a:rPr lang="en-US" spc="-10" dirty="0">
                <a:latin typeface="Book Antiqua" panose="02040602050305030304" pitchFamily="18" charset="0"/>
                <a:cs typeface="LM Sans 10"/>
              </a:rPr>
              <a:t>Potassium </a:t>
            </a:r>
            <a:r>
              <a:rPr lang="en-US" spc="-5" dirty="0">
                <a:latin typeface="Book Antiqua" panose="02040602050305030304" pitchFamily="18" charset="0"/>
                <a:cs typeface="LM Sans 10"/>
              </a:rPr>
              <a:t>Pump</a:t>
            </a:r>
            <a:r>
              <a:rPr lang="en-US" spc="15" dirty="0">
                <a:latin typeface="Book Antiqua" panose="02040602050305030304" pitchFamily="18" charset="0"/>
                <a:cs typeface="LM Sans 10"/>
              </a:rPr>
              <a:t> </a:t>
            </a:r>
            <a:r>
              <a:rPr lang="en-US" sz="2400" spc="-7" baseline="27777" dirty="0">
                <a:latin typeface="Book Antiqua" panose="02040602050305030304" pitchFamily="18" charset="0"/>
                <a:cs typeface="LM Sans 8"/>
              </a:rPr>
              <a:t>4</a:t>
            </a:r>
            <a:endParaRPr lang="en-US" sz="2400" baseline="27777" dirty="0">
              <a:latin typeface="Book Antiqua" panose="02040602050305030304" pitchFamily="18" charset="0"/>
              <a:cs typeface="LM Sans 8"/>
            </a:endParaRPr>
          </a:p>
          <a:p>
            <a:pPr marL="306387" lvl="2" indent="0">
              <a:lnSpc>
                <a:spcPct val="100000"/>
              </a:lnSpc>
              <a:spcBef>
                <a:spcPts val="600"/>
              </a:spcBef>
              <a:spcAft>
                <a:spcPts val="600"/>
              </a:spcAft>
              <a:buFont typeface="Calibri" pitchFamily="34" charset="0"/>
              <a:buNone/>
              <a:defRPr/>
            </a:pPr>
            <a:endParaRPr lang="en-US" sz="1600" dirty="0">
              <a:latin typeface="Book Antiqua" panose="02040602050305030304" pitchFamily="18" charset="0"/>
              <a:cs typeface="LM Sans 10"/>
            </a:endParaRPr>
          </a:p>
          <a:p>
            <a:pPr marL="12700" marR="5080">
              <a:lnSpc>
                <a:spcPct val="113199"/>
              </a:lnSpc>
              <a:spcBef>
                <a:spcPts val="600"/>
              </a:spcBef>
              <a:spcAft>
                <a:spcPts val="600"/>
              </a:spcAft>
              <a:defRPr/>
            </a:pPr>
            <a:endParaRPr lang="en-US" sz="1800" dirty="0">
              <a:solidFill>
                <a:schemeClr val="tx1"/>
              </a:solidFill>
              <a:latin typeface="Book Antiqua" panose="02040602050305030304" pitchFamily="18" charset="0"/>
              <a:cs typeface="LM Sans 10"/>
            </a:endParaRPr>
          </a:p>
          <a:p>
            <a:pPr marL="207962" marR="1045844" indent="-285750" eaLnBrk="1" hangingPunct="1">
              <a:lnSpc>
                <a:spcPct val="119300"/>
              </a:lnSpc>
              <a:spcBef>
                <a:spcPts val="180"/>
              </a:spcBef>
              <a:buFont typeface="Arial" panose="020B0604020202020204" pitchFamily="34" charset="0"/>
              <a:buChar char="•"/>
              <a:defRPr/>
            </a:pPr>
            <a:endParaRPr lang="en-US" altLang="en-US" sz="1800" dirty="0">
              <a:solidFill>
                <a:schemeClr val="tx1"/>
              </a:solidFill>
              <a:latin typeface="Book Antiqua" panose="02040602050305030304" pitchFamily="18" charset="0"/>
            </a:endParaRPr>
          </a:p>
        </p:txBody>
      </p:sp>
      <p:sp>
        <p:nvSpPr>
          <p:cNvPr id="44035"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971D901B-28A9-47E3-BFF0-696EA4FB5E07}" type="slidenum">
              <a:rPr lang="tr-TR" altLang="en-US" sz="1400" smtClean="0">
                <a:latin typeface="Palatino Linotype" pitchFamily="18" charset="0"/>
              </a:rPr>
              <a:pPr/>
              <a:t>33</a:t>
            </a:fld>
            <a:endParaRPr lang="tr-TR" altLang="en-US" sz="1400" smtClean="0">
              <a:latin typeface="Palatino Linotype" pitchFamily="18" charset="0"/>
            </a:endParaRPr>
          </a:p>
        </p:txBody>
      </p:sp>
      <p:sp>
        <p:nvSpPr>
          <p:cNvPr id="44036" name="object 5"/>
          <p:cNvSpPr>
            <a:spLocks noChangeArrowheads="1"/>
          </p:cNvSpPr>
          <p:nvPr/>
        </p:nvSpPr>
        <p:spPr bwMode="auto">
          <a:xfrm>
            <a:off x="444501" y="2287590"/>
            <a:ext cx="8691563" cy="4537075"/>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ltLang="en-US"/>
          </a:p>
        </p:txBody>
      </p:sp>
    </p:spTree>
    <p:extLst>
      <p:ext uri="{BB962C8B-B14F-4D97-AF65-F5344CB8AC3E}">
        <p14:creationId xmlns:p14="http://schemas.microsoft.com/office/powerpoint/2010/main" val="973059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Content Placeholder 2"/>
          <p:cNvSpPr>
            <a:spLocks noGrp="1" noChangeArrowheads="1"/>
          </p:cNvSpPr>
          <p:nvPr>
            <p:ph idx="1"/>
          </p:nvPr>
        </p:nvSpPr>
        <p:spPr>
          <a:xfrm>
            <a:off x="-11084" y="991011"/>
            <a:ext cx="8476233" cy="4755629"/>
          </a:xfrm>
          <a:extLst/>
        </p:spPr>
        <p:txBody>
          <a:bodyPr>
            <a:normAutofit/>
          </a:bodyPr>
          <a:lstStyle/>
          <a:p>
            <a:pPr marL="1471400" lvl="8" indent="0" algn="ctr">
              <a:lnSpc>
                <a:spcPct val="80000"/>
              </a:lnSpc>
              <a:spcAft>
                <a:spcPts val="1200"/>
              </a:spcAft>
              <a:buFont typeface="Calibri" pitchFamily="34" charset="0"/>
              <a:buNone/>
              <a:defRPr/>
            </a:pPr>
            <a:r>
              <a:rPr lang="en-US" sz="2800" dirty="0">
                <a:solidFill>
                  <a:schemeClr val="tx1"/>
                </a:solidFill>
                <a:latin typeface="Book Antiqua" panose="02040602050305030304" pitchFamily="18" charset="0"/>
              </a:rPr>
              <a:t>Neuron – Action Potential</a:t>
            </a:r>
          </a:p>
          <a:p>
            <a:pPr marL="1471400" lvl="8" indent="0" algn="ctr">
              <a:lnSpc>
                <a:spcPct val="80000"/>
              </a:lnSpc>
              <a:spcAft>
                <a:spcPts val="1200"/>
              </a:spcAft>
              <a:buFont typeface="Calibri" pitchFamily="34" charset="0"/>
              <a:buNone/>
              <a:defRPr/>
            </a:pPr>
            <a:endParaRPr lang="en-US" altLang="en-US" sz="1800" dirty="0">
              <a:solidFill>
                <a:schemeClr val="tx1"/>
              </a:solidFill>
              <a:latin typeface="Book Antiqua" panose="02040602050305030304" pitchFamily="18" charset="0"/>
            </a:endParaRPr>
          </a:p>
          <a:p>
            <a:pPr marL="1471400" lvl="8" indent="0" algn="ctr">
              <a:lnSpc>
                <a:spcPct val="80000"/>
              </a:lnSpc>
              <a:spcAft>
                <a:spcPts val="1200"/>
              </a:spcAft>
              <a:buFont typeface="Calibri" pitchFamily="34" charset="0"/>
              <a:buNone/>
              <a:defRPr/>
            </a:pPr>
            <a:endParaRPr lang="en-US" altLang="en-US" sz="1800" dirty="0">
              <a:solidFill>
                <a:schemeClr val="tx1"/>
              </a:solidFill>
              <a:latin typeface="Book Antiqua" panose="02040602050305030304" pitchFamily="18" charset="0"/>
            </a:endParaRPr>
          </a:p>
          <a:p>
            <a:pPr marL="12700" marR="5080">
              <a:lnSpc>
                <a:spcPct val="113199"/>
              </a:lnSpc>
              <a:spcBef>
                <a:spcPts val="600"/>
              </a:spcBef>
              <a:spcAft>
                <a:spcPts val="600"/>
              </a:spcAft>
              <a:defRPr/>
            </a:pPr>
            <a:endParaRPr lang="en-US" sz="1800" dirty="0">
              <a:solidFill>
                <a:schemeClr val="tx1"/>
              </a:solidFill>
              <a:latin typeface="Book Antiqua" panose="02040602050305030304" pitchFamily="18" charset="0"/>
              <a:cs typeface="LM Sans 10"/>
            </a:endParaRPr>
          </a:p>
          <a:p>
            <a:pPr marL="207962" marR="1045844" indent="-285750" eaLnBrk="1" hangingPunct="1">
              <a:lnSpc>
                <a:spcPct val="119300"/>
              </a:lnSpc>
              <a:spcBef>
                <a:spcPts val="180"/>
              </a:spcBef>
              <a:buFont typeface="Arial" panose="020B0604020202020204" pitchFamily="34" charset="0"/>
              <a:buChar char="•"/>
              <a:defRPr/>
            </a:pPr>
            <a:endParaRPr lang="en-US" altLang="en-US" sz="1800" dirty="0">
              <a:solidFill>
                <a:schemeClr val="tx1"/>
              </a:solidFill>
              <a:latin typeface="Book Antiqua" panose="02040602050305030304" pitchFamily="18" charset="0"/>
            </a:endParaRPr>
          </a:p>
        </p:txBody>
      </p:sp>
      <p:sp>
        <p:nvSpPr>
          <p:cNvPr id="45059"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CAB94E1A-96D7-4EF9-9803-D0194CB83F14}" type="slidenum">
              <a:rPr lang="tr-TR" altLang="en-US" sz="1400" smtClean="0">
                <a:latin typeface="Palatino Linotype" pitchFamily="18" charset="0"/>
              </a:rPr>
              <a:pPr/>
              <a:t>34</a:t>
            </a:fld>
            <a:endParaRPr lang="tr-TR" altLang="en-US" sz="1400" smtClean="0">
              <a:latin typeface="Palatino Linotype" pitchFamily="18" charset="0"/>
            </a:endParaRPr>
          </a:p>
        </p:txBody>
      </p:sp>
      <p:sp>
        <p:nvSpPr>
          <p:cNvPr id="45060" name="object 5"/>
          <p:cNvSpPr>
            <a:spLocks noChangeArrowheads="1"/>
          </p:cNvSpPr>
          <p:nvPr/>
        </p:nvSpPr>
        <p:spPr bwMode="auto">
          <a:xfrm>
            <a:off x="655638" y="2060575"/>
            <a:ext cx="7643812" cy="3549650"/>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ltLang="en-US"/>
          </a:p>
        </p:txBody>
      </p:sp>
    </p:spTree>
    <p:extLst>
      <p:ext uri="{BB962C8B-B14F-4D97-AF65-F5344CB8AC3E}">
        <p14:creationId xmlns:p14="http://schemas.microsoft.com/office/powerpoint/2010/main" val="13173028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Why It’s Called "Electrochemical"?</a:t>
            </a:r>
            <a:br>
              <a:rPr lang="en-US" b="1" dirty="0" smtClean="0"/>
            </a:br>
            <a:endParaRPr lang="en-IN" dirty="0"/>
          </a:p>
        </p:txBody>
      </p:sp>
      <p:sp>
        <p:nvSpPr>
          <p:cNvPr id="3" name="Content Placeholder 2"/>
          <p:cNvSpPr>
            <a:spLocks noGrp="1"/>
          </p:cNvSpPr>
          <p:nvPr>
            <p:ph idx="1"/>
          </p:nvPr>
        </p:nvSpPr>
        <p:spPr>
          <a:xfrm>
            <a:off x="179513" y="1340770"/>
            <a:ext cx="8784976" cy="4525963"/>
          </a:xfrm>
        </p:spPr>
        <p:txBody>
          <a:bodyPr/>
          <a:lstStyle/>
          <a:p>
            <a:r>
              <a:rPr lang="en-US" sz="4000" dirty="0" smtClean="0"/>
              <a:t>Inside the neuron = </a:t>
            </a:r>
            <a:r>
              <a:rPr lang="en-US" sz="4000" b="1" dirty="0" smtClean="0"/>
              <a:t>Electrical signals</a:t>
            </a:r>
            <a:r>
              <a:rPr lang="en-US" sz="4000" dirty="0" smtClean="0"/>
              <a:t> (ion flow)</a:t>
            </a:r>
          </a:p>
          <a:p>
            <a:pPr marL="0" indent="0">
              <a:buNone/>
            </a:pPr>
            <a:endParaRPr lang="en-US" sz="4000" dirty="0" smtClean="0"/>
          </a:p>
          <a:p>
            <a:r>
              <a:rPr lang="en-US" sz="4000" dirty="0" smtClean="0"/>
              <a:t>Between neurons = </a:t>
            </a:r>
            <a:r>
              <a:rPr lang="en-US" sz="4000" b="1" dirty="0" smtClean="0"/>
              <a:t>Chemical signals</a:t>
            </a:r>
            <a:r>
              <a:rPr lang="en-US" sz="4000" dirty="0" smtClean="0"/>
              <a:t> (neurotransmitters)</a:t>
            </a:r>
          </a:p>
          <a:p>
            <a:endParaRPr lang="en-IN" dirty="0"/>
          </a:p>
        </p:txBody>
      </p:sp>
    </p:spTree>
    <p:extLst>
      <p:ext uri="{BB962C8B-B14F-4D97-AF65-F5344CB8AC3E}">
        <p14:creationId xmlns:p14="http://schemas.microsoft.com/office/powerpoint/2010/main" val="218221851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7506" y="797311"/>
            <a:ext cx="8928992" cy="5728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95536" y="89423"/>
            <a:ext cx="7003032" cy="707886"/>
          </a:xfrm>
          <a:prstGeom prst="rect">
            <a:avLst/>
          </a:prstGeom>
          <a:noFill/>
        </p:spPr>
        <p:txBody>
          <a:bodyPr wrap="square" rtlCol="0">
            <a:spAutoFit/>
          </a:bodyPr>
          <a:lstStyle/>
          <a:p>
            <a:r>
              <a:rPr lang="en-US" sz="4000" dirty="0" smtClean="0">
                <a:solidFill>
                  <a:srgbClr val="002060"/>
                </a:solidFill>
              </a:rPr>
              <a:t>BIOLOGICAL NEURONS</a:t>
            </a:r>
            <a:endParaRPr lang="en-IN" sz="4000" dirty="0">
              <a:solidFill>
                <a:srgbClr val="002060"/>
              </a:solidFill>
            </a:endParaRPr>
          </a:p>
        </p:txBody>
      </p:sp>
    </p:spTree>
    <p:extLst>
      <p:ext uri="{BB962C8B-B14F-4D97-AF65-F5344CB8AC3E}">
        <p14:creationId xmlns:p14="http://schemas.microsoft.com/office/powerpoint/2010/main" val="29364966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95536" y="89423"/>
            <a:ext cx="7003032" cy="707886"/>
          </a:xfrm>
          <a:prstGeom prst="rect">
            <a:avLst/>
          </a:prstGeom>
          <a:noFill/>
        </p:spPr>
        <p:txBody>
          <a:bodyPr wrap="square" rtlCol="0">
            <a:spAutoFit/>
          </a:bodyPr>
          <a:lstStyle/>
          <a:p>
            <a:r>
              <a:rPr lang="en-US" sz="4000" dirty="0" smtClean="0">
                <a:solidFill>
                  <a:srgbClr val="002060"/>
                </a:solidFill>
              </a:rPr>
              <a:t>BIOLOGICAL NEURONS</a:t>
            </a:r>
            <a:endParaRPr lang="en-IN" sz="4000" dirty="0">
              <a:solidFill>
                <a:srgbClr val="002060"/>
              </a:solidFill>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797311"/>
            <a:ext cx="8892480" cy="5584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048585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95536" y="89423"/>
            <a:ext cx="7003032" cy="707886"/>
          </a:xfrm>
          <a:prstGeom prst="rect">
            <a:avLst/>
          </a:prstGeom>
          <a:noFill/>
        </p:spPr>
        <p:txBody>
          <a:bodyPr wrap="square" rtlCol="0">
            <a:spAutoFit/>
          </a:bodyPr>
          <a:lstStyle/>
          <a:p>
            <a:r>
              <a:rPr lang="en-US" sz="4000" dirty="0" smtClean="0">
                <a:solidFill>
                  <a:srgbClr val="002060"/>
                </a:solidFill>
              </a:rPr>
              <a:t>BIOLOGICAL NEURONS</a:t>
            </a:r>
            <a:endParaRPr lang="en-IN" sz="4000" dirty="0">
              <a:solidFill>
                <a:srgbClr val="002060"/>
              </a:solidFill>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3" y="797311"/>
            <a:ext cx="8568952" cy="5656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344673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95536" y="89423"/>
            <a:ext cx="7003032" cy="707886"/>
          </a:xfrm>
          <a:prstGeom prst="rect">
            <a:avLst/>
          </a:prstGeom>
          <a:noFill/>
        </p:spPr>
        <p:txBody>
          <a:bodyPr wrap="square" rtlCol="0">
            <a:spAutoFit/>
          </a:bodyPr>
          <a:lstStyle/>
          <a:p>
            <a:r>
              <a:rPr lang="en-US" sz="4000" dirty="0" smtClean="0">
                <a:solidFill>
                  <a:srgbClr val="002060"/>
                </a:solidFill>
              </a:rPr>
              <a:t>BIOLOGICAL NEURONS</a:t>
            </a:r>
            <a:endParaRPr lang="en-IN" sz="4000" dirty="0">
              <a:solidFill>
                <a:srgbClr val="002060"/>
              </a:solidFill>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1" y="1268760"/>
            <a:ext cx="8496944"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1126222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95536" y="89423"/>
            <a:ext cx="7003032" cy="707886"/>
          </a:xfrm>
          <a:prstGeom prst="rect">
            <a:avLst/>
          </a:prstGeom>
          <a:noFill/>
        </p:spPr>
        <p:txBody>
          <a:bodyPr wrap="square" rtlCol="0">
            <a:spAutoFit/>
          </a:bodyPr>
          <a:lstStyle/>
          <a:p>
            <a:r>
              <a:rPr lang="en-US" sz="4000" dirty="0" smtClean="0">
                <a:solidFill>
                  <a:srgbClr val="002060"/>
                </a:solidFill>
              </a:rPr>
              <a:t>BIOLOGICAL NEURONS</a:t>
            </a:r>
            <a:endParaRPr lang="en-IN" sz="4000" dirty="0">
              <a:solidFill>
                <a:srgbClr val="002060"/>
              </a:solidFill>
            </a:endParaRP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797311"/>
            <a:ext cx="8424936" cy="5728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1292024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95536" y="89423"/>
            <a:ext cx="7003032" cy="707886"/>
          </a:xfrm>
          <a:prstGeom prst="rect">
            <a:avLst/>
          </a:prstGeom>
          <a:noFill/>
        </p:spPr>
        <p:txBody>
          <a:bodyPr wrap="square" rtlCol="0">
            <a:spAutoFit/>
          </a:bodyPr>
          <a:lstStyle/>
          <a:p>
            <a:r>
              <a:rPr lang="en-US" sz="4000" dirty="0" smtClean="0">
                <a:solidFill>
                  <a:srgbClr val="002060"/>
                </a:solidFill>
              </a:rPr>
              <a:t>BIOLOGICAL NEURONS</a:t>
            </a:r>
            <a:endParaRPr lang="en-IN" sz="4000" dirty="0">
              <a:solidFill>
                <a:srgbClr val="002060"/>
              </a:solidFill>
            </a:endParaRP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3" y="797310"/>
            <a:ext cx="8712967" cy="5656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90287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28142"/>
            <a:ext cx="9144000" cy="3648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05" y="4077072"/>
            <a:ext cx="8928992" cy="266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521296" y="-279744"/>
            <a:ext cx="7003032" cy="707886"/>
          </a:xfrm>
          <a:prstGeom prst="rect">
            <a:avLst/>
          </a:prstGeom>
          <a:noFill/>
        </p:spPr>
        <p:txBody>
          <a:bodyPr wrap="square" rtlCol="0">
            <a:spAutoFit/>
          </a:bodyPr>
          <a:lstStyle/>
          <a:p>
            <a:r>
              <a:rPr lang="en-US" sz="4000" dirty="0" smtClean="0">
                <a:solidFill>
                  <a:srgbClr val="002060"/>
                </a:solidFill>
              </a:rPr>
              <a:t>BIOLOGICAL NEURONS</a:t>
            </a:r>
            <a:endParaRPr lang="en-IN" sz="4000" dirty="0">
              <a:solidFill>
                <a:srgbClr val="002060"/>
              </a:solidFill>
            </a:endParaRPr>
          </a:p>
        </p:txBody>
      </p:sp>
    </p:spTree>
    <p:extLst>
      <p:ext uri="{BB962C8B-B14F-4D97-AF65-F5344CB8AC3E}">
        <p14:creationId xmlns:p14="http://schemas.microsoft.com/office/powerpoint/2010/main" val="386893385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575" y="620688"/>
            <a:ext cx="8324850" cy="5832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493513" y="-57226"/>
            <a:ext cx="7003032" cy="707886"/>
          </a:xfrm>
          <a:prstGeom prst="rect">
            <a:avLst/>
          </a:prstGeom>
          <a:noFill/>
        </p:spPr>
        <p:txBody>
          <a:bodyPr wrap="square" rtlCol="0">
            <a:spAutoFit/>
          </a:bodyPr>
          <a:lstStyle/>
          <a:p>
            <a:r>
              <a:rPr lang="en-US" sz="4000" dirty="0" smtClean="0">
                <a:solidFill>
                  <a:srgbClr val="002060"/>
                </a:solidFill>
              </a:rPr>
              <a:t>BIOLOGICAL NEURONS</a:t>
            </a:r>
            <a:endParaRPr lang="en-IN" sz="4000" dirty="0">
              <a:solidFill>
                <a:srgbClr val="002060"/>
              </a:solidFill>
            </a:endParaRPr>
          </a:p>
        </p:txBody>
      </p:sp>
    </p:spTree>
    <p:extLst>
      <p:ext uri="{BB962C8B-B14F-4D97-AF65-F5344CB8AC3E}">
        <p14:creationId xmlns:p14="http://schemas.microsoft.com/office/powerpoint/2010/main" val="179579888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9512" y="89423"/>
            <a:ext cx="7003032" cy="707886"/>
          </a:xfrm>
          <a:prstGeom prst="rect">
            <a:avLst/>
          </a:prstGeom>
          <a:noFill/>
        </p:spPr>
        <p:txBody>
          <a:bodyPr wrap="square" rtlCol="0">
            <a:spAutoFit/>
          </a:bodyPr>
          <a:lstStyle/>
          <a:p>
            <a:r>
              <a:rPr lang="en-US" sz="4000" dirty="0" smtClean="0">
                <a:solidFill>
                  <a:srgbClr val="002060"/>
                </a:solidFill>
              </a:rPr>
              <a:t>BIOLOGICAL NEURONS</a:t>
            </a:r>
            <a:endParaRPr lang="en-IN" sz="4000" dirty="0">
              <a:solidFill>
                <a:srgbClr val="002060"/>
              </a:solidFill>
            </a:endParaRP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527" y="797309"/>
            <a:ext cx="8817962" cy="5512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579930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797311"/>
            <a:ext cx="4139952" cy="6060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961" y="1988840"/>
            <a:ext cx="4824536" cy="3024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179512" y="89423"/>
            <a:ext cx="7003032" cy="707886"/>
          </a:xfrm>
          <a:prstGeom prst="rect">
            <a:avLst/>
          </a:prstGeom>
          <a:noFill/>
        </p:spPr>
        <p:txBody>
          <a:bodyPr wrap="square" rtlCol="0">
            <a:spAutoFit/>
          </a:bodyPr>
          <a:lstStyle/>
          <a:p>
            <a:r>
              <a:rPr lang="en-US" sz="4000" dirty="0" smtClean="0">
                <a:solidFill>
                  <a:srgbClr val="002060"/>
                </a:solidFill>
              </a:rPr>
              <a:t>BIOLOGICAL NEURONS</a:t>
            </a:r>
            <a:endParaRPr lang="en-IN" sz="4000" dirty="0">
              <a:solidFill>
                <a:srgbClr val="002060"/>
              </a:solidFill>
            </a:endParaRPr>
          </a:p>
        </p:txBody>
      </p:sp>
    </p:spTree>
    <p:extLst>
      <p:ext uri="{BB962C8B-B14F-4D97-AF65-F5344CB8AC3E}">
        <p14:creationId xmlns:p14="http://schemas.microsoft.com/office/powerpoint/2010/main" val="307317009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7504" y="836712"/>
            <a:ext cx="9036496" cy="5832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4"/>
          <p:cNvSpPr txBox="1">
            <a:spLocks noGrp="1"/>
          </p:cNvSpPr>
          <p:nvPr>
            <p:ph type="title"/>
          </p:nvPr>
        </p:nvSpPr>
        <p:spPr>
          <a:xfrm>
            <a:off x="323528" y="242231"/>
            <a:ext cx="8229600" cy="707886"/>
          </a:xfrm>
          <a:prstGeom prst="rect">
            <a:avLst/>
          </a:prstGeom>
          <a:noFill/>
        </p:spPr>
        <p:txBody>
          <a:bodyPr wrap="square" rtlCol="0">
            <a:spAutoFit/>
          </a:bodyPr>
          <a:lstStyle/>
          <a:p>
            <a:r>
              <a:rPr lang="en-US" sz="4000" dirty="0" smtClean="0">
                <a:solidFill>
                  <a:srgbClr val="002060"/>
                </a:solidFill>
              </a:rPr>
              <a:t>BIOLOGICAL NEURONS</a:t>
            </a:r>
            <a:endParaRPr lang="en-IN" sz="4000" dirty="0">
              <a:solidFill>
                <a:srgbClr val="002060"/>
              </a:solidFill>
            </a:endParaRPr>
          </a:p>
        </p:txBody>
      </p:sp>
    </p:spTree>
    <p:extLst>
      <p:ext uri="{BB962C8B-B14F-4D97-AF65-F5344CB8AC3E}">
        <p14:creationId xmlns:p14="http://schemas.microsoft.com/office/powerpoint/2010/main" val="377450671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2" y="908720"/>
            <a:ext cx="8712968" cy="568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179512" y="89423"/>
            <a:ext cx="7003032" cy="707886"/>
          </a:xfrm>
          <a:prstGeom prst="rect">
            <a:avLst/>
          </a:prstGeom>
          <a:noFill/>
        </p:spPr>
        <p:txBody>
          <a:bodyPr wrap="square" rtlCol="0">
            <a:spAutoFit/>
          </a:bodyPr>
          <a:lstStyle/>
          <a:p>
            <a:r>
              <a:rPr lang="en-US" sz="4000" dirty="0" smtClean="0">
                <a:solidFill>
                  <a:srgbClr val="002060"/>
                </a:solidFill>
              </a:rPr>
              <a:t>BIOLOGICAL NEURONS</a:t>
            </a:r>
            <a:endParaRPr lang="en-IN" sz="4000" dirty="0">
              <a:solidFill>
                <a:srgbClr val="002060"/>
              </a:solidFill>
            </a:endParaRPr>
          </a:p>
        </p:txBody>
      </p:sp>
    </p:spTree>
    <p:extLst>
      <p:ext uri="{BB962C8B-B14F-4D97-AF65-F5344CB8AC3E}">
        <p14:creationId xmlns:p14="http://schemas.microsoft.com/office/powerpoint/2010/main" val="331918497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9"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3" y="1124744"/>
            <a:ext cx="8784976" cy="5256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2267746" y="188642"/>
            <a:ext cx="4777783" cy="769441"/>
          </a:xfrm>
          <a:prstGeom prst="rect">
            <a:avLst/>
          </a:prstGeom>
        </p:spPr>
        <p:txBody>
          <a:bodyPr wrap="none">
            <a:spAutoFit/>
          </a:bodyPr>
          <a:lstStyle/>
          <a:p>
            <a:r>
              <a:rPr lang="en-IN" sz="4400" dirty="0" smtClean="0"/>
              <a:t>Neural computation</a:t>
            </a:r>
            <a:endParaRPr lang="en-IN" sz="4400" dirty="0"/>
          </a:p>
        </p:txBody>
      </p:sp>
    </p:spTree>
    <p:extLst>
      <p:ext uri="{BB962C8B-B14F-4D97-AF65-F5344CB8AC3E}">
        <p14:creationId xmlns:p14="http://schemas.microsoft.com/office/powerpoint/2010/main" val="380041663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267746" y="188642"/>
            <a:ext cx="4777783" cy="769441"/>
          </a:xfrm>
          <a:prstGeom prst="rect">
            <a:avLst/>
          </a:prstGeom>
        </p:spPr>
        <p:txBody>
          <a:bodyPr wrap="none">
            <a:spAutoFit/>
          </a:bodyPr>
          <a:lstStyle/>
          <a:p>
            <a:r>
              <a:rPr lang="en-IN" sz="4400" dirty="0" smtClean="0"/>
              <a:t>Neural computation</a:t>
            </a:r>
            <a:endParaRPr lang="en-IN" sz="4400"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958081"/>
            <a:ext cx="8640960" cy="5423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0088803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267746" y="188642"/>
            <a:ext cx="4777783" cy="769441"/>
          </a:xfrm>
          <a:prstGeom prst="rect">
            <a:avLst/>
          </a:prstGeom>
        </p:spPr>
        <p:txBody>
          <a:bodyPr wrap="none">
            <a:spAutoFit/>
          </a:bodyPr>
          <a:lstStyle/>
          <a:p>
            <a:r>
              <a:rPr lang="en-IN" sz="4400" dirty="0" smtClean="0"/>
              <a:t>Neural computation</a:t>
            </a:r>
            <a:endParaRPr lang="en-IN" sz="4400"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1" y="1196754"/>
            <a:ext cx="8659688" cy="5328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1866926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267746" y="188642"/>
            <a:ext cx="4777783" cy="769441"/>
          </a:xfrm>
          <a:prstGeom prst="rect">
            <a:avLst/>
          </a:prstGeom>
        </p:spPr>
        <p:txBody>
          <a:bodyPr wrap="none">
            <a:spAutoFit/>
          </a:bodyPr>
          <a:lstStyle/>
          <a:p>
            <a:r>
              <a:rPr lang="en-IN" sz="4400" dirty="0" smtClean="0"/>
              <a:t>Neural computation</a:t>
            </a:r>
            <a:endParaRPr lang="en-IN" sz="4400" dirty="0"/>
          </a:p>
        </p:txBody>
      </p:sp>
      <p:pic>
        <p:nvPicPr>
          <p:cNvPr id="21506"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340770"/>
            <a:ext cx="7620000" cy="4800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608159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08870" y="-29074"/>
            <a:ext cx="4777783" cy="769441"/>
          </a:xfrm>
          <a:prstGeom prst="rect">
            <a:avLst/>
          </a:prstGeom>
        </p:spPr>
        <p:txBody>
          <a:bodyPr wrap="none">
            <a:spAutoFit/>
          </a:bodyPr>
          <a:lstStyle/>
          <a:p>
            <a:r>
              <a:rPr lang="en-IN" sz="4400" dirty="0" smtClean="0"/>
              <a:t>Neural computation</a:t>
            </a:r>
            <a:endParaRPr lang="en-IN" sz="4400" dirty="0"/>
          </a:p>
        </p:txBody>
      </p:sp>
      <p:sp>
        <p:nvSpPr>
          <p:cNvPr id="2" name="Rectangle 1"/>
          <p:cNvSpPr/>
          <p:nvPr/>
        </p:nvSpPr>
        <p:spPr>
          <a:xfrm>
            <a:off x="0" y="740368"/>
            <a:ext cx="9144000" cy="6124754"/>
          </a:xfrm>
          <a:prstGeom prst="rect">
            <a:avLst/>
          </a:prstGeom>
        </p:spPr>
        <p:txBody>
          <a:bodyPr wrap="square">
            <a:spAutoFit/>
          </a:bodyPr>
          <a:lstStyle/>
          <a:p>
            <a:pPr fontAlgn="base"/>
            <a:r>
              <a:rPr lang="en-US" sz="2800" b="1" dirty="0"/>
              <a:t>Working of Artificial Neural Networks</a:t>
            </a:r>
          </a:p>
          <a:p>
            <a:pPr fontAlgn="base"/>
            <a:r>
              <a:rPr lang="en-US" sz="2800" dirty="0"/>
              <a:t>ANNs work by learning patterns in data through a process called training. During training, the network adjusts itself to improve its accuracy by comparing its predictions with the actual results.</a:t>
            </a:r>
          </a:p>
          <a:p>
            <a:pPr fontAlgn="base"/>
            <a:r>
              <a:rPr lang="en-US" sz="2800" dirty="0"/>
              <a:t>Lets see how the learning process works:</a:t>
            </a:r>
          </a:p>
          <a:p>
            <a:pPr fontAlgn="base"/>
            <a:r>
              <a:rPr lang="en-US" sz="2800" b="1" dirty="0"/>
              <a:t>Input Layer</a:t>
            </a:r>
            <a:r>
              <a:rPr lang="en-US" sz="2800" dirty="0"/>
              <a:t>: Data such as an image, text or number is fed into the network through the input layer.</a:t>
            </a:r>
          </a:p>
          <a:p>
            <a:pPr fontAlgn="base"/>
            <a:r>
              <a:rPr lang="en-US" sz="2800" b="1" dirty="0"/>
              <a:t>Hidden Layers</a:t>
            </a:r>
            <a:r>
              <a:rPr lang="en-US" sz="2800" dirty="0"/>
              <a:t>: Each neuron in the hidden layers performs some calculation on the input, passing the result to the next layer. The data is transformed and abstracted at each layer.</a:t>
            </a:r>
          </a:p>
          <a:p>
            <a:pPr fontAlgn="base"/>
            <a:r>
              <a:rPr lang="en-US" sz="2800" b="1" dirty="0"/>
              <a:t>Output Layer</a:t>
            </a:r>
            <a:r>
              <a:rPr lang="en-US" sz="2800" dirty="0"/>
              <a:t>: After passing through all the layers, the network gives its final prediction like classifying an image as a cat or a dog.</a:t>
            </a:r>
          </a:p>
        </p:txBody>
      </p:sp>
    </p:spTree>
    <p:extLst>
      <p:ext uri="{BB962C8B-B14F-4D97-AF65-F5344CB8AC3E}">
        <p14:creationId xmlns:p14="http://schemas.microsoft.com/office/powerpoint/2010/main" val="302649530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08870" y="-29074"/>
            <a:ext cx="4777783" cy="769441"/>
          </a:xfrm>
          <a:prstGeom prst="rect">
            <a:avLst/>
          </a:prstGeom>
        </p:spPr>
        <p:txBody>
          <a:bodyPr wrap="none">
            <a:spAutoFit/>
          </a:bodyPr>
          <a:lstStyle/>
          <a:p>
            <a:r>
              <a:rPr lang="en-IN" sz="4400" dirty="0" smtClean="0"/>
              <a:t>Neural computation</a:t>
            </a:r>
            <a:endParaRPr lang="en-IN" sz="4400" dirty="0"/>
          </a:p>
        </p:txBody>
      </p:sp>
      <p:sp>
        <p:nvSpPr>
          <p:cNvPr id="3" name="Rectangle 2"/>
          <p:cNvSpPr/>
          <p:nvPr/>
        </p:nvSpPr>
        <p:spPr>
          <a:xfrm>
            <a:off x="117577" y="620688"/>
            <a:ext cx="8838729" cy="2308324"/>
          </a:xfrm>
          <a:prstGeom prst="rect">
            <a:avLst/>
          </a:prstGeom>
        </p:spPr>
        <p:txBody>
          <a:bodyPr wrap="square">
            <a:spAutoFit/>
          </a:bodyPr>
          <a:lstStyle/>
          <a:p>
            <a:pPr fontAlgn="base"/>
            <a:r>
              <a:rPr lang="en-US" sz="2400" b="1" dirty="0"/>
              <a:t>Training and Testing:</a:t>
            </a:r>
          </a:p>
          <a:p>
            <a:pPr algn="just" fontAlgn="base"/>
            <a:r>
              <a:rPr lang="en-US" sz="2400" dirty="0"/>
              <a:t>During training, the network is shown examples like images of cats and learns to recognize patterns in them.</a:t>
            </a:r>
          </a:p>
          <a:p>
            <a:pPr algn="just" fontAlgn="base"/>
            <a:r>
              <a:rPr lang="en-US" sz="2400" dirty="0"/>
              <a:t>After training, the network is tested on new data to check its performance. The better the network is trained, the more accurately it will predict new data.</a:t>
            </a:r>
          </a:p>
        </p:txBody>
      </p:sp>
      <p:sp>
        <p:nvSpPr>
          <p:cNvPr id="4" name="Rectangle 3"/>
          <p:cNvSpPr/>
          <p:nvPr/>
        </p:nvSpPr>
        <p:spPr>
          <a:xfrm>
            <a:off x="207841" y="2929013"/>
            <a:ext cx="8748464" cy="3785652"/>
          </a:xfrm>
          <a:prstGeom prst="rect">
            <a:avLst/>
          </a:prstGeom>
        </p:spPr>
        <p:txBody>
          <a:bodyPr wrap="square">
            <a:spAutoFit/>
          </a:bodyPr>
          <a:lstStyle/>
          <a:p>
            <a:pPr fontAlgn="base"/>
            <a:r>
              <a:rPr lang="en-US" sz="2000" b="1" dirty="0"/>
              <a:t>How do Artificial Neural Networks learn?</a:t>
            </a:r>
          </a:p>
          <a:p>
            <a:pPr algn="just" fontAlgn="base"/>
            <a:r>
              <a:rPr lang="en-US" sz="2000" dirty="0"/>
              <a:t>Artificial Neural Networks (ANNs) learn by training on a set of data. For example, to teach an ANN to recognize a cat, we show it thousands of images of cats. The network processes these images and learns to identify the features that define a cat</a:t>
            </a:r>
            <a:r>
              <a:rPr lang="en-US" sz="2000" dirty="0" smtClean="0"/>
              <a:t>.</a:t>
            </a:r>
          </a:p>
          <a:p>
            <a:pPr algn="just" fontAlgn="base"/>
            <a:endParaRPr lang="en-US" sz="2000" dirty="0"/>
          </a:p>
          <a:p>
            <a:pPr algn="just" fontAlgn="base"/>
            <a:r>
              <a:rPr lang="en-US" sz="2000" dirty="0"/>
              <a:t>Once the network has been trained, we test it by providing new images to see if it can correctly identify cats. The network’s prediction is then compared to the actual label (whether it's a cat or not). If it makes an incorrect prediction, the network adjusts by fine-tuning the weights of the connections between neurons using a process called </a:t>
            </a:r>
            <a:r>
              <a:rPr lang="en-US" sz="2000" dirty="0" err="1"/>
              <a:t>backpropagation</a:t>
            </a:r>
            <a:r>
              <a:rPr lang="en-US" sz="2000" dirty="0"/>
              <a:t>. This involves correcting the weights based on the difference between the predicted and actual result</a:t>
            </a:r>
            <a:r>
              <a:rPr lang="en-US" sz="2000" dirty="0" smtClean="0"/>
              <a:t>.</a:t>
            </a:r>
            <a:endParaRPr lang="en-US" sz="2000" dirty="0"/>
          </a:p>
        </p:txBody>
      </p:sp>
    </p:spTree>
    <p:extLst>
      <p:ext uri="{BB962C8B-B14F-4D97-AF65-F5344CB8AC3E}">
        <p14:creationId xmlns:p14="http://schemas.microsoft.com/office/powerpoint/2010/main" val="315075871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08870" y="-29074"/>
            <a:ext cx="4777783" cy="769441"/>
          </a:xfrm>
          <a:prstGeom prst="rect">
            <a:avLst/>
          </a:prstGeom>
        </p:spPr>
        <p:txBody>
          <a:bodyPr wrap="none">
            <a:spAutoFit/>
          </a:bodyPr>
          <a:lstStyle/>
          <a:p>
            <a:r>
              <a:rPr lang="en-IN" sz="4400" dirty="0" smtClean="0"/>
              <a:t>Neural computation</a:t>
            </a:r>
            <a:endParaRPr lang="en-IN" sz="4400" dirty="0"/>
          </a:p>
        </p:txBody>
      </p:sp>
      <p:graphicFrame>
        <p:nvGraphicFramePr>
          <p:cNvPr id="2" name="Table 1"/>
          <p:cNvGraphicFramePr>
            <a:graphicFrameLocks noGrp="1"/>
          </p:cNvGraphicFramePr>
          <p:nvPr>
            <p:extLst>
              <p:ext uri="{D42A27DB-BD31-4B8C-83A1-F6EECF244321}">
                <p14:modId xmlns:p14="http://schemas.microsoft.com/office/powerpoint/2010/main" val="823864631"/>
              </p:ext>
            </p:extLst>
          </p:nvPr>
        </p:nvGraphicFramePr>
        <p:xfrm>
          <a:off x="107505" y="1212531"/>
          <a:ext cx="8784976" cy="5674538"/>
        </p:xfrm>
        <a:graphic>
          <a:graphicData uri="http://schemas.openxmlformats.org/drawingml/2006/table">
            <a:tbl>
              <a:tblPr/>
              <a:tblGrid>
                <a:gridCol w="1673328"/>
                <a:gridCol w="3555824"/>
                <a:gridCol w="3555824"/>
              </a:tblGrid>
              <a:tr h="466442">
                <a:tc>
                  <a:txBody>
                    <a:bodyPr/>
                    <a:lstStyle/>
                    <a:p>
                      <a:pPr algn="ctr" fontAlgn="base"/>
                      <a:r>
                        <a:rPr lang="en-IN" sz="1600" b="1" dirty="0">
                          <a:effectLst/>
                        </a:rPr>
                        <a:t>Aspect</a:t>
                      </a:r>
                    </a:p>
                  </a:txBody>
                  <a:tcPr marL="36917" marR="36917" marT="92291" marB="9229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600" b="1">
                          <a:effectLst/>
                        </a:rPr>
                        <a:t>Biological Neurons</a:t>
                      </a:r>
                    </a:p>
                  </a:txBody>
                  <a:tcPr marL="92291" marR="92291" marT="92291" marB="9229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600" b="1">
                          <a:effectLst/>
                        </a:rPr>
                        <a:t>Artificial Neurons</a:t>
                      </a:r>
                    </a:p>
                  </a:txBody>
                  <a:tcPr marL="92291" marR="92291" marT="92291" marB="9229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r>
              <a:tr h="735610">
                <a:tc>
                  <a:txBody>
                    <a:bodyPr/>
                    <a:lstStyle/>
                    <a:p>
                      <a:pPr algn="ctr" fontAlgn="base"/>
                      <a:r>
                        <a:rPr lang="en-IN" sz="1600" b="1" dirty="0">
                          <a:effectLst/>
                        </a:rPr>
                        <a:t>Structure</a:t>
                      </a:r>
                    </a:p>
                  </a:txBody>
                  <a:tcPr marL="36917" marR="36917" marT="64457" marB="64457"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1600" b="1">
                          <a:effectLst/>
                        </a:rPr>
                        <a:t>Dendrites</a:t>
                      </a:r>
                      <a:r>
                        <a:rPr lang="en-US" sz="1600" b="0">
                          <a:effectLst/>
                        </a:rPr>
                        <a:t>: Receive signals from other neurons.</a:t>
                      </a:r>
                    </a:p>
                  </a:txBody>
                  <a:tcPr marL="92291" marR="92291" marT="129208" marB="12920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1">
                          <a:effectLst/>
                        </a:rPr>
                        <a:t>Input Nodes</a:t>
                      </a:r>
                      <a:r>
                        <a:rPr lang="en-US" sz="1600" b="0">
                          <a:effectLst/>
                        </a:rPr>
                        <a:t>: Receive data and pass it on to the next layer.</a:t>
                      </a:r>
                    </a:p>
                  </a:txBody>
                  <a:tcPr marL="92291" marR="92291" marT="129208" marB="12920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735610">
                <a:tc>
                  <a:txBody>
                    <a:bodyPr/>
                    <a:lstStyle/>
                    <a:p>
                      <a:pPr algn="ctr" fontAlgn="base"/>
                      <a:endParaRPr lang="en-IN" sz="1600" b="1" dirty="0">
                        <a:effectLst/>
                      </a:endParaRPr>
                    </a:p>
                  </a:txBody>
                  <a:tcPr marL="36917" marR="36917" marT="64457" marB="64457"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1600" b="1" dirty="0">
                          <a:effectLst/>
                        </a:rPr>
                        <a:t>Cell Body (Soma)</a:t>
                      </a:r>
                      <a:r>
                        <a:rPr lang="en-US" sz="1600" b="0" dirty="0">
                          <a:effectLst/>
                        </a:rPr>
                        <a:t>: Processes the signals.</a:t>
                      </a:r>
                    </a:p>
                  </a:txBody>
                  <a:tcPr marL="92291" marR="92291" marT="129208" marB="12920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1">
                          <a:effectLst/>
                        </a:rPr>
                        <a:t>Hidden Layer Nodes</a:t>
                      </a:r>
                      <a:r>
                        <a:rPr lang="en-US" sz="1600" b="0">
                          <a:effectLst/>
                        </a:rPr>
                        <a:t>: Process and transform the data.</a:t>
                      </a:r>
                    </a:p>
                  </a:txBody>
                  <a:tcPr marL="92291" marR="92291" marT="129208" marB="12920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735610">
                <a:tc>
                  <a:txBody>
                    <a:bodyPr/>
                    <a:lstStyle/>
                    <a:p>
                      <a:pPr algn="ctr" fontAlgn="base"/>
                      <a:endParaRPr lang="en-IN" sz="1600" b="1">
                        <a:effectLst/>
                      </a:endParaRPr>
                    </a:p>
                  </a:txBody>
                  <a:tcPr marL="36917" marR="36917" marT="64457" marB="64457"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1600" b="1" dirty="0">
                          <a:effectLst/>
                        </a:rPr>
                        <a:t>Axon</a:t>
                      </a:r>
                      <a:r>
                        <a:rPr lang="en-US" sz="1600" b="0" dirty="0">
                          <a:effectLst/>
                        </a:rPr>
                        <a:t>: Transmits processed signals to other neurons.</a:t>
                      </a:r>
                    </a:p>
                  </a:txBody>
                  <a:tcPr marL="92291" marR="92291" marT="129208" marB="12920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1">
                          <a:effectLst/>
                        </a:rPr>
                        <a:t>Output Nodes</a:t>
                      </a:r>
                      <a:r>
                        <a:rPr lang="en-US" sz="1600" b="0">
                          <a:effectLst/>
                        </a:rPr>
                        <a:t>: Produce the final result after processing.</a:t>
                      </a:r>
                    </a:p>
                  </a:txBody>
                  <a:tcPr marL="92291" marR="92291" marT="129208" marB="12920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735610">
                <a:tc>
                  <a:txBody>
                    <a:bodyPr/>
                    <a:lstStyle/>
                    <a:p>
                      <a:pPr algn="ctr" fontAlgn="base"/>
                      <a:r>
                        <a:rPr lang="en-IN" sz="1600" b="1">
                          <a:effectLst/>
                        </a:rPr>
                        <a:t>Connections</a:t>
                      </a:r>
                    </a:p>
                  </a:txBody>
                  <a:tcPr marL="36917" marR="36917" marT="64457" marB="64457"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1600" b="1" dirty="0">
                          <a:effectLst/>
                        </a:rPr>
                        <a:t>Synapses</a:t>
                      </a:r>
                      <a:r>
                        <a:rPr lang="en-US" sz="1600" b="0" dirty="0">
                          <a:effectLst/>
                        </a:rPr>
                        <a:t>: Links between neurons that transmit signals.</a:t>
                      </a:r>
                    </a:p>
                  </a:txBody>
                  <a:tcPr marL="92291" marR="92291" marT="129208" marB="12920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1" dirty="0">
                          <a:effectLst/>
                        </a:rPr>
                        <a:t>Weights</a:t>
                      </a:r>
                      <a:r>
                        <a:rPr lang="en-US" sz="1600" b="0" dirty="0">
                          <a:effectLst/>
                        </a:rPr>
                        <a:t>: Connections between neurons that control the influence of one neuron on another.</a:t>
                      </a:r>
                    </a:p>
                  </a:txBody>
                  <a:tcPr marL="92291" marR="92291" marT="129208" marB="12920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951965">
                <a:tc>
                  <a:txBody>
                    <a:bodyPr/>
                    <a:lstStyle/>
                    <a:p>
                      <a:pPr algn="ctr" fontAlgn="base"/>
                      <a:r>
                        <a:rPr lang="en-IN" sz="1600" b="1">
                          <a:effectLst/>
                        </a:rPr>
                        <a:t>Learning Mechanism</a:t>
                      </a:r>
                    </a:p>
                  </a:txBody>
                  <a:tcPr marL="36917" marR="36917" marT="64457" marB="64457"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1600" b="1">
                          <a:effectLst/>
                        </a:rPr>
                        <a:t>Synaptic Plasticity</a:t>
                      </a:r>
                      <a:r>
                        <a:rPr lang="en-US" sz="1600" b="0">
                          <a:effectLst/>
                        </a:rPr>
                        <a:t>: Changes in synaptic strength based on activity over time.</a:t>
                      </a:r>
                    </a:p>
                  </a:txBody>
                  <a:tcPr marL="92291" marR="92291" marT="129208" marB="12920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1" dirty="0" err="1">
                          <a:effectLst/>
                        </a:rPr>
                        <a:t>Backpropagation</a:t>
                      </a:r>
                      <a:r>
                        <a:rPr lang="en-US" sz="1600" b="0" dirty="0">
                          <a:effectLst/>
                        </a:rPr>
                        <a:t>: Adjusts the weights based on errors in predictions to improve future performance.</a:t>
                      </a:r>
                    </a:p>
                  </a:txBody>
                  <a:tcPr marL="92291" marR="92291" marT="129208" marB="12920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951965">
                <a:tc>
                  <a:txBody>
                    <a:bodyPr/>
                    <a:lstStyle/>
                    <a:p>
                      <a:pPr algn="ctr" fontAlgn="base"/>
                      <a:r>
                        <a:rPr lang="en-IN" sz="1600" b="1" dirty="0">
                          <a:effectLst/>
                        </a:rPr>
                        <a:t>Activation</a:t>
                      </a:r>
                    </a:p>
                  </a:txBody>
                  <a:tcPr marL="36917" marR="36917" marT="64457" marB="64457"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1600" b="1" dirty="0">
                          <a:effectLst/>
                        </a:rPr>
                        <a:t>Activation</a:t>
                      </a:r>
                      <a:r>
                        <a:rPr lang="en-US" sz="1600" b="0" dirty="0">
                          <a:effectLst/>
                        </a:rPr>
                        <a:t>: Neurons fire when signals are strong enough to reach a threshold.</a:t>
                      </a:r>
                    </a:p>
                  </a:txBody>
                  <a:tcPr marL="92291" marR="92291" marT="129208" marB="12920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1" dirty="0">
                          <a:effectLst/>
                        </a:rPr>
                        <a:t>Activation Function</a:t>
                      </a:r>
                      <a:r>
                        <a:rPr lang="en-US" sz="1600" b="0" dirty="0">
                          <a:effectLst/>
                        </a:rPr>
                        <a:t>: Maps input to output, deciding if the neuron should fire based on the processed data.</a:t>
                      </a:r>
                    </a:p>
                  </a:txBody>
                  <a:tcPr marL="92291" marR="92291" marT="129208" marB="12920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bl>
          </a:graphicData>
        </a:graphic>
      </p:graphicFrame>
      <p:sp>
        <p:nvSpPr>
          <p:cNvPr id="5" name="Rectangle 1"/>
          <p:cNvSpPr>
            <a:spLocks noChangeArrowheads="1"/>
          </p:cNvSpPr>
          <p:nvPr/>
        </p:nvSpPr>
        <p:spPr bwMode="auto">
          <a:xfrm>
            <a:off x="8023" y="706936"/>
            <a:ext cx="4360168"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rgbClr val="273239"/>
                </a:solidFill>
                <a:effectLst/>
                <a:latin typeface="Nunito"/>
                <a:cs typeface="Arial" pitchFamily="34" charset="0"/>
              </a:rPr>
              <a:t>Artificial neurons </a:t>
            </a:r>
            <a:r>
              <a:rPr kumimoji="0" lang="en-US" sz="1800" b="1" i="0" u="none" strike="noStrike" cap="none" normalizeH="0" baseline="0" dirty="0" err="1" smtClean="0">
                <a:ln>
                  <a:noFill/>
                </a:ln>
                <a:solidFill>
                  <a:srgbClr val="273239"/>
                </a:solidFill>
                <a:effectLst/>
                <a:latin typeface="Nunito"/>
                <a:cs typeface="Arial" pitchFamily="34" charset="0"/>
              </a:rPr>
              <a:t>vs</a:t>
            </a:r>
            <a:r>
              <a:rPr kumimoji="0" lang="en-US" sz="1800" b="1" i="0" u="none" strike="noStrike" cap="none" normalizeH="0" baseline="0" dirty="0" smtClean="0">
                <a:ln>
                  <a:noFill/>
                </a:ln>
                <a:solidFill>
                  <a:srgbClr val="273239"/>
                </a:solidFill>
                <a:effectLst/>
                <a:latin typeface="Nunito"/>
                <a:cs typeface="Arial" pitchFamily="34" charset="0"/>
              </a:rPr>
              <a:t> Biological neurons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50516353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08870" y="-29074"/>
            <a:ext cx="4777783" cy="769441"/>
          </a:xfrm>
          <a:prstGeom prst="rect">
            <a:avLst/>
          </a:prstGeom>
        </p:spPr>
        <p:txBody>
          <a:bodyPr wrap="none">
            <a:spAutoFit/>
          </a:bodyPr>
          <a:lstStyle/>
          <a:p>
            <a:r>
              <a:rPr lang="en-IN" sz="4400" dirty="0" smtClean="0"/>
              <a:t>Neural computation</a:t>
            </a:r>
            <a:endParaRPr lang="en-IN" sz="4400" dirty="0"/>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 y="740368"/>
            <a:ext cx="8896350" cy="5856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620278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90066"/>
          </a:xfrm>
        </p:spPr>
        <p:txBody>
          <a:bodyPr>
            <a:normAutofit fontScale="90000"/>
          </a:bodyPr>
          <a:lstStyle/>
          <a:p>
            <a:r>
              <a:rPr lang="en-IN" dirty="0"/>
              <a:t>ANN versus BNN</a:t>
            </a:r>
            <a:br>
              <a:rPr lang="en-IN" dirty="0"/>
            </a:b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42665619"/>
              </p:ext>
            </p:extLst>
          </p:nvPr>
        </p:nvGraphicFramePr>
        <p:xfrm>
          <a:off x="251520" y="836712"/>
          <a:ext cx="8496944" cy="2956560"/>
        </p:xfrm>
        <a:graphic>
          <a:graphicData uri="http://schemas.openxmlformats.org/drawingml/2006/table">
            <a:tbl>
              <a:tblPr/>
              <a:tblGrid>
                <a:gridCol w="4248472"/>
                <a:gridCol w="4248472"/>
              </a:tblGrid>
              <a:tr h="0">
                <a:tc>
                  <a:txBody>
                    <a:bodyPr/>
                    <a:lstStyle/>
                    <a:p>
                      <a:pPr algn="ctr"/>
                      <a:r>
                        <a:rPr lang="en-IN" sz="2400" b="1" dirty="0">
                          <a:solidFill>
                            <a:srgbClr val="000000"/>
                          </a:solidFill>
                          <a:effectLst/>
                          <a:latin typeface="inherit"/>
                        </a:rPr>
                        <a:t>Biological Neural Network </a:t>
                      </a:r>
                      <a:r>
                        <a:rPr lang="en-IN" sz="2400" b="0" i="0" u="none" strike="noStrike" dirty="0">
                          <a:solidFill>
                            <a:srgbClr val="000000"/>
                          </a:solidFill>
                          <a:effectLst/>
                          <a:latin typeface="MathJax_Math-italic"/>
                        </a:rPr>
                        <a:t>BNN</a:t>
                      </a:r>
                      <a:endParaRPr lang="en-IN" sz="2400" b="1" dirty="0">
                        <a:solidFill>
                          <a:srgbClr val="000000"/>
                        </a:solidFill>
                        <a:effectLst/>
                        <a:latin typeface="inherit"/>
                      </a:endParaRP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ctr"/>
                      <a:r>
                        <a:rPr lang="en-IN" sz="2400" b="1">
                          <a:solidFill>
                            <a:srgbClr val="000000"/>
                          </a:solidFill>
                          <a:effectLst/>
                          <a:latin typeface="inherit"/>
                        </a:rPr>
                        <a:t>Artificial Neural Network </a:t>
                      </a:r>
                      <a:r>
                        <a:rPr lang="en-IN" sz="2400" b="0" i="0" u="none" strike="noStrike">
                          <a:solidFill>
                            <a:srgbClr val="000000"/>
                          </a:solidFill>
                          <a:effectLst/>
                          <a:latin typeface="MathJax_Math-italic"/>
                        </a:rPr>
                        <a:t>ANN</a:t>
                      </a:r>
                      <a:endParaRPr lang="en-IN" sz="2400" b="1">
                        <a:solidFill>
                          <a:srgbClr val="000000"/>
                        </a:solidFill>
                        <a:effectLst/>
                        <a:latin typeface="inherit"/>
                      </a:endParaRP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0">
                <a:tc>
                  <a:txBody>
                    <a:bodyPr/>
                    <a:lstStyle/>
                    <a:p>
                      <a:pPr algn="l"/>
                      <a:r>
                        <a:rPr lang="en-IN" sz="2400" dirty="0">
                          <a:effectLst/>
                        </a:rPr>
                        <a:t>Soma</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IN" sz="2400">
                          <a:effectLst/>
                        </a:rPr>
                        <a:t>Node</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0">
                <a:tc>
                  <a:txBody>
                    <a:bodyPr/>
                    <a:lstStyle/>
                    <a:p>
                      <a:pPr algn="l"/>
                      <a:r>
                        <a:rPr lang="en-IN" sz="2400" dirty="0">
                          <a:effectLst/>
                        </a:rPr>
                        <a:t>Dendrites</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IN" sz="2400">
                          <a:effectLst/>
                        </a:rPr>
                        <a:t>Input</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0">
                <a:tc>
                  <a:txBody>
                    <a:bodyPr/>
                    <a:lstStyle/>
                    <a:p>
                      <a:pPr algn="l"/>
                      <a:r>
                        <a:rPr lang="en-IN" sz="2400" dirty="0">
                          <a:effectLst/>
                        </a:rPr>
                        <a:t>Synapse</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IN" sz="2400" dirty="0">
                          <a:effectLst/>
                        </a:rPr>
                        <a:t>Weights or Interconnections</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0">
                <a:tc>
                  <a:txBody>
                    <a:bodyPr/>
                    <a:lstStyle/>
                    <a:p>
                      <a:pPr algn="l"/>
                      <a:r>
                        <a:rPr lang="en-IN" sz="2400">
                          <a:effectLst/>
                        </a:rPr>
                        <a:t>Axon</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IN" sz="2400" dirty="0">
                          <a:effectLst/>
                        </a:rPr>
                        <a:t>Output</a:t>
                      </a:r>
                    </a:p>
                  </a:txBody>
                  <a:tcPr marL="76200" marR="76200" marT="76200" marB="76200" anchor="ctr">
                    <a:lnL w="9525" cap="flat" cmpd="sng" algn="ctr">
                      <a:solidFill>
                        <a:srgbClr val="EEEEEE"/>
                      </a:solidFill>
                      <a:prstDash val="solid"/>
                      <a:round/>
                      <a:headEnd type="none" w="med" len="med"/>
                      <a:tailEnd type="none" w="med" len="med"/>
                    </a:lnL>
                    <a:lnR w="9525" cap="flat" cmpd="sng" algn="ctr">
                      <a:solidFill>
                        <a:srgbClr val="EEEEEE"/>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274738814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7504" y="116632"/>
            <a:ext cx="8928992" cy="6552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101196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3528" y="260648"/>
            <a:ext cx="8352928" cy="6120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882413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2" y="18278"/>
            <a:ext cx="8640960" cy="341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3573016"/>
            <a:ext cx="8640960" cy="316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669116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88640"/>
            <a:ext cx="8424935" cy="4248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7046743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557338"/>
            <a:ext cx="7543800" cy="450850"/>
          </a:xfrm>
        </p:spPr>
        <p:txBody>
          <a:bodyPr>
            <a:normAutofit fontScale="90000"/>
          </a:bodyPr>
          <a:lstStyle/>
          <a:p>
            <a:pPr>
              <a:defRPr/>
            </a:pPr>
            <a:r>
              <a:rPr lang="en-US" dirty="0">
                <a:solidFill>
                  <a:srgbClr val="000000"/>
                </a:solidFill>
                <a:latin typeface="var(--ff-lato)"/>
              </a:rPr>
              <a:t/>
            </a:r>
            <a:br>
              <a:rPr lang="en-US" dirty="0">
                <a:solidFill>
                  <a:srgbClr val="000000"/>
                </a:solidFill>
                <a:latin typeface="var(--ff-lato)"/>
              </a:rPr>
            </a:br>
            <a:r>
              <a:rPr lang="en-US" dirty="0">
                <a:solidFill>
                  <a:srgbClr val="000000"/>
                </a:solidFill>
                <a:latin typeface="var(--ff-lato)"/>
              </a:rPr>
              <a:t/>
            </a:r>
            <a:br>
              <a:rPr lang="en-US" dirty="0">
                <a:solidFill>
                  <a:srgbClr val="000000"/>
                </a:solidFill>
                <a:latin typeface="var(--ff-lato)"/>
              </a:rPr>
            </a:br>
            <a:r>
              <a:rPr lang="en-US" dirty="0">
                <a:solidFill>
                  <a:srgbClr val="000000"/>
                </a:solidFill>
                <a:latin typeface="var(--ff-lato)"/>
              </a:rPr>
              <a:t/>
            </a:r>
            <a:br>
              <a:rPr lang="en-US" dirty="0">
                <a:solidFill>
                  <a:srgbClr val="000000"/>
                </a:solidFill>
                <a:latin typeface="var(--ff-lato)"/>
              </a:rPr>
            </a:br>
            <a:r>
              <a:rPr lang="en-US" dirty="0">
                <a:solidFill>
                  <a:srgbClr val="000000"/>
                </a:solidFill>
                <a:latin typeface="var(--ff-lato)"/>
              </a:rPr>
              <a:t/>
            </a:r>
            <a:br>
              <a:rPr lang="en-US" dirty="0">
                <a:solidFill>
                  <a:srgbClr val="000000"/>
                </a:solidFill>
                <a:latin typeface="var(--ff-lato)"/>
              </a:rPr>
            </a:br>
            <a:r>
              <a:rPr lang="en-US" dirty="0">
                <a:solidFill>
                  <a:srgbClr val="000000"/>
                </a:solidFill>
                <a:latin typeface="var(--ff-lato)"/>
              </a:rPr>
              <a:t/>
            </a:r>
            <a:br>
              <a:rPr lang="en-US" dirty="0">
                <a:solidFill>
                  <a:srgbClr val="000000"/>
                </a:solidFill>
                <a:latin typeface="var(--ff-lato)"/>
              </a:rPr>
            </a:br>
            <a:r>
              <a:rPr lang="en-US" dirty="0">
                <a:solidFill>
                  <a:srgbClr val="000000"/>
                </a:solidFill>
                <a:latin typeface="var(--ff-lato)"/>
              </a:rPr>
              <a:t>Model of Artificial Neural Network</a:t>
            </a:r>
            <a:br>
              <a:rPr lang="en-US" dirty="0">
                <a:solidFill>
                  <a:srgbClr val="000000"/>
                </a:solidFill>
                <a:latin typeface="var(--ff-lato)"/>
              </a:rPr>
            </a:br>
            <a:endParaRPr lang="en-IN" dirty="0"/>
          </a:p>
        </p:txBody>
      </p:sp>
      <p:pic>
        <p:nvPicPr>
          <p:cNvPr id="29699" name="Content Placeholder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68314" y="1341438"/>
            <a:ext cx="8280400" cy="4464050"/>
          </a:xfrm>
        </p:spPr>
      </p:pic>
      <p:sp>
        <p:nvSpPr>
          <p:cNvPr id="4" name="Footer Placeholder 3"/>
          <p:cNvSpPr>
            <a:spLocks noGrp="1"/>
          </p:cNvSpPr>
          <p:nvPr>
            <p:ph type="ftr" sz="quarter" idx="11"/>
          </p:nvPr>
        </p:nvSpPr>
        <p:spPr/>
        <p:txBody>
          <a:bodyPr/>
          <a:lstStyle/>
          <a:p>
            <a:pPr>
              <a:defRPr/>
            </a:pPr>
            <a:r>
              <a:rPr lang="en-US"/>
              <a:t>Alpydin &amp; Ch. Eick: ML Topic1</a:t>
            </a:r>
            <a:endParaRPr lang="tr-TR"/>
          </a:p>
        </p:txBody>
      </p:sp>
      <p:sp>
        <p:nvSpPr>
          <p:cNvPr id="5" name="Slide Number Placeholder 4"/>
          <p:cNvSpPr>
            <a:spLocks noGrp="1"/>
          </p:cNvSpPr>
          <p:nvPr>
            <p:ph type="sldNum" sz="quarter" idx="12"/>
          </p:nvPr>
        </p:nvSpPr>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38EACC48-9ABB-4AE7-A419-B4E50C248115}" type="slidenum">
              <a:rPr lang="tr-TR" altLang="en-US">
                <a:solidFill>
                  <a:srgbClr val="FFFFFF"/>
                </a:solidFill>
              </a:rPr>
              <a:pPr/>
              <a:t>61</a:t>
            </a:fld>
            <a:endParaRPr lang="tr-TR" altLang="en-US">
              <a:solidFill>
                <a:srgbClr val="FFFFFF"/>
              </a:solidFill>
            </a:endParaRPr>
          </a:p>
        </p:txBody>
      </p:sp>
      <p:sp>
        <p:nvSpPr>
          <p:cNvPr id="3" name="Rectangle 2"/>
          <p:cNvSpPr/>
          <p:nvPr/>
        </p:nvSpPr>
        <p:spPr>
          <a:xfrm>
            <a:off x="2545542" y="332658"/>
            <a:ext cx="3934860" cy="646331"/>
          </a:xfrm>
          <a:prstGeom prst="rect">
            <a:avLst/>
          </a:prstGeom>
        </p:spPr>
        <p:txBody>
          <a:bodyPr wrap="none">
            <a:spAutoFit/>
          </a:bodyPr>
          <a:lstStyle/>
          <a:p>
            <a:r>
              <a:rPr lang="en-IN" sz="3600" dirty="0" smtClean="0"/>
              <a:t>Neural computation</a:t>
            </a:r>
            <a:endParaRPr lang="en-IN" sz="3600" dirty="0"/>
          </a:p>
        </p:txBody>
      </p:sp>
    </p:spTree>
    <p:extLst>
      <p:ext uri="{BB962C8B-B14F-4D97-AF65-F5344CB8AC3E}">
        <p14:creationId xmlns:p14="http://schemas.microsoft.com/office/powerpoint/2010/main" val="332856674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Neural Computation</a:t>
            </a:r>
            <a:br>
              <a:rPr lang="en-IN" b="1" dirty="0" smtClean="0"/>
            </a:br>
            <a:endParaRPr lang="en-IN" dirty="0"/>
          </a:p>
        </p:txBody>
      </p:sp>
      <p:pic>
        <p:nvPicPr>
          <p:cNvPr id="32769" name="Picture 1"/>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99592" y="1844824"/>
            <a:ext cx="3024336" cy="446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7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913" y="1700808"/>
            <a:ext cx="5040560"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291509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8640"/>
            <a:ext cx="8229600" cy="864096"/>
          </a:xfrm>
        </p:spPr>
        <p:txBody>
          <a:bodyPr>
            <a:normAutofit fontScale="90000"/>
          </a:bodyPr>
          <a:lstStyle/>
          <a:p>
            <a:pPr>
              <a:defRPr/>
            </a:pPr>
            <a:r>
              <a:rPr lang="en-US" dirty="0">
                <a:solidFill>
                  <a:srgbClr val="000000"/>
                </a:solidFill>
                <a:latin typeface="var(--ff-lato)"/>
              </a:rPr>
              <a:t>Model of Artificial Neural Network</a:t>
            </a:r>
            <a:endParaRPr lang="en-IN" dirty="0"/>
          </a:p>
        </p:txBody>
      </p:sp>
      <p:pic>
        <p:nvPicPr>
          <p:cNvPr id="30723" name="Content Placeholder 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51520" y="1124746"/>
            <a:ext cx="8784976" cy="3068637"/>
          </a:xfrm>
        </p:spPr>
      </p:pic>
      <p:sp>
        <p:nvSpPr>
          <p:cNvPr id="4" name="Footer Placeholder 3"/>
          <p:cNvSpPr>
            <a:spLocks noGrp="1"/>
          </p:cNvSpPr>
          <p:nvPr>
            <p:ph type="ftr" sz="quarter" idx="11"/>
          </p:nvPr>
        </p:nvSpPr>
        <p:spPr/>
        <p:txBody>
          <a:bodyPr/>
          <a:lstStyle/>
          <a:p>
            <a:pPr>
              <a:defRPr/>
            </a:pPr>
            <a:r>
              <a:rPr lang="en-US"/>
              <a:t>Alpydin &amp; Ch. Eick: ML Topic1</a:t>
            </a:r>
            <a:endParaRPr lang="tr-TR"/>
          </a:p>
        </p:txBody>
      </p:sp>
      <p:sp>
        <p:nvSpPr>
          <p:cNvPr id="5" name="Slide Number Placeholder 4"/>
          <p:cNvSpPr>
            <a:spLocks noGrp="1"/>
          </p:cNvSpPr>
          <p:nvPr>
            <p:ph type="sldNum" sz="quarter" idx="12"/>
          </p:nvPr>
        </p:nvSpPr>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eaLnBrk="0" fontAlgn="base" hangingPunct="0">
              <a:spcBef>
                <a:spcPct val="0"/>
              </a:spcBef>
              <a:spcAft>
                <a:spcPct val="0"/>
              </a:spcAft>
              <a:defRPr>
                <a:solidFill>
                  <a:schemeClr val="tx1"/>
                </a:solidFill>
                <a:latin typeface="Calibri" pitchFamily="34" charset="0"/>
              </a:defRPr>
            </a:lvl6pPr>
            <a:lvl7pPr marL="2971800" indent="-228600" defTabSz="457200" eaLnBrk="0" fontAlgn="base" hangingPunct="0">
              <a:spcBef>
                <a:spcPct val="0"/>
              </a:spcBef>
              <a:spcAft>
                <a:spcPct val="0"/>
              </a:spcAft>
              <a:defRPr>
                <a:solidFill>
                  <a:schemeClr val="tx1"/>
                </a:solidFill>
                <a:latin typeface="Calibri" pitchFamily="34" charset="0"/>
              </a:defRPr>
            </a:lvl7pPr>
            <a:lvl8pPr marL="3429000" indent="-228600" defTabSz="457200" eaLnBrk="0" fontAlgn="base" hangingPunct="0">
              <a:spcBef>
                <a:spcPct val="0"/>
              </a:spcBef>
              <a:spcAft>
                <a:spcPct val="0"/>
              </a:spcAft>
              <a:defRPr>
                <a:solidFill>
                  <a:schemeClr val="tx1"/>
                </a:solidFill>
                <a:latin typeface="Calibri" pitchFamily="34" charset="0"/>
              </a:defRPr>
            </a:lvl8pPr>
            <a:lvl9pPr marL="3886200" indent="-228600" defTabSz="457200" eaLnBrk="0" fontAlgn="base" hangingPunct="0">
              <a:spcBef>
                <a:spcPct val="0"/>
              </a:spcBef>
              <a:spcAft>
                <a:spcPct val="0"/>
              </a:spcAft>
              <a:defRPr>
                <a:solidFill>
                  <a:schemeClr val="tx1"/>
                </a:solidFill>
                <a:latin typeface="Calibri" pitchFamily="34" charset="0"/>
              </a:defRPr>
            </a:lvl9pPr>
          </a:lstStyle>
          <a:p>
            <a:fld id="{7464D79C-D015-4495-B3EA-3853CCBB2950}" type="slidenum">
              <a:rPr lang="tr-TR" altLang="en-US">
                <a:solidFill>
                  <a:srgbClr val="FFFFFF"/>
                </a:solidFill>
              </a:rPr>
              <a:pPr/>
              <a:t>63</a:t>
            </a:fld>
            <a:endParaRPr lang="tr-TR" altLang="en-US">
              <a:solidFill>
                <a:srgbClr val="FFFFFF"/>
              </a:solidFill>
            </a:endParaRPr>
          </a:p>
        </p:txBody>
      </p:sp>
      <p:pic>
        <p:nvPicPr>
          <p:cNvPr id="266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3" y="4350777"/>
            <a:ext cx="7632848" cy="189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0493191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0"/>
            <a:ext cx="8784976" cy="4714603"/>
          </a:xfrm>
        </p:spPr>
        <p:txBody>
          <a:bodyPr>
            <a:noAutofit/>
          </a:bodyPr>
          <a:lstStyle/>
          <a:p>
            <a:pPr marL="0" indent="0" algn="ctr">
              <a:buNone/>
            </a:pPr>
            <a:r>
              <a:rPr lang="en-US" sz="3600" b="1" dirty="0">
                <a:solidFill>
                  <a:srgbClr val="002060"/>
                </a:solidFill>
              </a:rPr>
              <a:t>K</a:t>
            </a:r>
            <a:r>
              <a:rPr lang="en-US" sz="3600" b="1" dirty="0" smtClean="0">
                <a:solidFill>
                  <a:srgbClr val="002060"/>
                </a:solidFill>
              </a:rPr>
              <a:t>ey </a:t>
            </a:r>
            <a:r>
              <a:rPr lang="en-US" sz="3600" b="1" dirty="0">
                <a:solidFill>
                  <a:srgbClr val="002060"/>
                </a:solidFill>
              </a:rPr>
              <a:t>components of a neural network </a:t>
            </a:r>
            <a:r>
              <a:rPr lang="en-US" sz="3600" b="1" dirty="0" smtClean="0">
                <a:solidFill>
                  <a:srgbClr val="002060"/>
                </a:solidFill>
              </a:rPr>
              <a:t>architecture</a:t>
            </a:r>
            <a:endParaRPr lang="en-US" sz="3600" b="1" dirty="0">
              <a:solidFill>
                <a:srgbClr val="002060"/>
              </a:solidFill>
            </a:endParaRPr>
          </a:p>
          <a:p>
            <a:r>
              <a:rPr lang="en-US" sz="2800" b="1" dirty="0"/>
              <a:t>Layers: </a:t>
            </a:r>
            <a:r>
              <a:rPr lang="en-US" sz="2800" dirty="0"/>
              <a:t>Neural networks consist of layers of neurons, which include the input layers, hidden layers, and output layers.</a:t>
            </a:r>
          </a:p>
          <a:p>
            <a:r>
              <a:rPr lang="en-US" sz="2800" b="1" dirty="0"/>
              <a:t>Neurons (Nodes): </a:t>
            </a:r>
            <a:r>
              <a:rPr lang="en-US" sz="2800" dirty="0"/>
              <a:t>Neurons are the basic computational units that perform a weighted sum of their inputs, apply a bias, and pass the result through an activation function. </a:t>
            </a:r>
          </a:p>
          <a:p>
            <a:r>
              <a:rPr lang="en-US" sz="2800" b="1" dirty="0"/>
              <a:t>Weights and biases:</a:t>
            </a:r>
            <a:r>
              <a:rPr lang="en-US" sz="2800" dirty="0"/>
              <a:t> Weights represent the strength of the connections between neurons, and biases allow neurons to make predictions even when all inputs are zero. </a:t>
            </a:r>
          </a:p>
          <a:p>
            <a:r>
              <a:rPr lang="en-US" sz="2800" b="1" dirty="0"/>
              <a:t>Activation function:</a:t>
            </a:r>
            <a:r>
              <a:rPr lang="en-US" sz="2800" dirty="0"/>
              <a:t> Non-linear functions (like </a:t>
            </a:r>
            <a:r>
              <a:rPr lang="en-US" sz="2800" dirty="0" err="1"/>
              <a:t>ReLU</a:t>
            </a:r>
            <a:r>
              <a:rPr lang="en-US" sz="2800" dirty="0"/>
              <a:t> and Sigmoid) are used to introduce non-linearity into the network, enabling it to model complex relationships. </a:t>
            </a:r>
          </a:p>
          <a:p>
            <a:pPr marL="0" indent="0">
              <a:buNone/>
            </a:pPr>
            <a:endParaRPr lang="en-US" sz="2800" dirty="0"/>
          </a:p>
          <a:p>
            <a:endParaRPr lang="en-IN" sz="2800" dirty="0"/>
          </a:p>
        </p:txBody>
      </p:sp>
    </p:spTree>
    <p:extLst>
      <p:ext uri="{BB962C8B-B14F-4D97-AF65-F5344CB8AC3E}">
        <p14:creationId xmlns:p14="http://schemas.microsoft.com/office/powerpoint/2010/main" val="296420791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55212"/>
            <a:ext cx="8712968" cy="5002788"/>
          </a:xfrm>
        </p:spPr>
        <p:txBody>
          <a:bodyPr>
            <a:normAutofit fontScale="62500" lnSpcReduction="20000"/>
          </a:bodyPr>
          <a:lstStyle/>
          <a:p>
            <a:r>
              <a:rPr lang="en-US" sz="3800" b="1" dirty="0"/>
              <a:t>Efficiency</a:t>
            </a:r>
            <a:endParaRPr lang="en-US" sz="3800" dirty="0"/>
          </a:p>
          <a:p>
            <a:r>
              <a:rPr lang="en-US" sz="3800" dirty="0"/>
              <a:t>The neural network’s architecture affects the efficiency of the model. For instance, convolutional neural networks (CNNs) have lower computational costs compared to fully connected networks.</a:t>
            </a:r>
          </a:p>
          <a:p>
            <a:r>
              <a:rPr lang="en-US" sz="3800" b="1" dirty="0"/>
              <a:t>Optimization </a:t>
            </a:r>
            <a:endParaRPr lang="en-US" sz="3800" dirty="0"/>
          </a:p>
          <a:p>
            <a:r>
              <a:rPr lang="en-US" sz="3800" dirty="0"/>
              <a:t>The network’s structure affects its optimization. For instance, deeper networks may face issues like vanishing gradients, where the gradients become too small for effective learning in early layers.</a:t>
            </a:r>
          </a:p>
          <a:p>
            <a:r>
              <a:rPr lang="en-US" sz="3800" b="1" dirty="0"/>
              <a:t>Task-specific design</a:t>
            </a:r>
            <a:endParaRPr lang="en-US" sz="3800" dirty="0"/>
          </a:p>
          <a:p>
            <a:r>
              <a:rPr lang="en-US" sz="3800" dirty="0"/>
              <a:t>The architecture of networks can be tailored to specific tasks, such as CNNs for </a:t>
            </a:r>
            <a:r>
              <a:rPr lang="en-US" sz="3800" u="sng" dirty="0">
                <a:hlinkClick r:id="rId2"/>
              </a:rPr>
              <a:t>image classification</a:t>
            </a:r>
            <a:r>
              <a:rPr lang="en-US" sz="3800" dirty="0"/>
              <a:t> and RNNs for sequence prediction.</a:t>
            </a:r>
          </a:p>
          <a:p>
            <a:endParaRPr lang="en-IN" dirty="0"/>
          </a:p>
        </p:txBody>
      </p:sp>
      <p:sp>
        <p:nvSpPr>
          <p:cNvPr id="4" name="Rectangle 3"/>
          <p:cNvSpPr/>
          <p:nvPr/>
        </p:nvSpPr>
        <p:spPr>
          <a:xfrm>
            <a:off x="251520" y="260648"/>
            <a:ext cx="8712968" cy="1569660"/>
          </a:xfrm>
          <a:prstGeom prst="rect">
            <a:avLst/>
          </a:prstGeom>
        </p:spPr>
        <p:txBody>
          <a:bodyPr wrap="square">
            <a:spAutoFit/>
          </a:bodyPr>
          <a:lstStyle/>
          <a:p>
            <a:r>
              <a:rPr lang="en-US" sz="2400" b="1" dirty="0"/>
              <a:t>Model’s capacity</a:t>
            </a:r>
            <a:endParaRPr lang="en-US" sz="2400" dirty="0"/>
          </a:p>
          <a:p>
            <a:r>
              <a:rPr lang="en-US" sz="2400" dirty="0"/>
              <a:t>A model with high depth (number of layers) and width (number of neurons in each layer) can handle complex relationships. A network with few layers cannot handle tasks like image or speech recognition</a:t>
            </a:r>
            <a:endParaRPr lang="en-IN" sz="2400" dirty="0"/>
          </a:p>
        </p:txBody>
      </p:sp>
    </p:spTree>
    <p:extLst>
      <p:ext uri="{BB962C8B-B14F-4D97-AF65-F5344CB8AC3E}">
        <p14:creationId xmlns:p14="http://schemas.microsoft.com/office/powerpoint/2010/main" val="129207770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0"/>
            <a:ext cx="8805664" cy="6858000"/>
          </a:xfrm>
        </p:spPr>
        <p:txBody>
          <a:bodyPr>
            <a:normAutofit fontScale="62500" lnSpcReduction="20000"/>
          </a:bodyPr>
          <a:lstStyle/>
          <a:p>
            <a:pPr marL="0" indent="0" algn="just">
              <a:buNone/>
            </a:pPr>
            <a:r>
              <a:rPr lang="en-US" sz="4200" b="1" dirty="0"/>
              <a:t>What is ANN Architecture and Its Role in Neural Networks?</a:t>
            </a:r>
          </a:p>
          <a:p>
            <a:pPr algn="just"/>
            <a:r>
              <a:rPr lang="en-US" sz="4200" dirty="0"/>
              <a:t>The Artificial Neural Network (ANN) architecture refers to the structured arrangement of nodes (neurons) and layers that define how an artificial neural network processes and learns from data. The design of ANN influences its ability to learn complex patterns and perform tasks </a:t>
            </a:r>
            <a:r>
              <a:rPr lang="en-US" sz="4200" dirty="0" smtClean="0"/>
              <a:t>efficiently.</a:t>
            </a:r>
          </a:p>
          <a:p>
            <a:pPr marL="0" indent="0" algn="just">
              <a:buNone/>
            </a:pPr>
            <a:endParaRPr lang="en-US" sz="4200" dirty="0"/>
          </a:p>
          <a:p>
            <a:pPr marL="0" indent="0" algn="just">
              <a:buNone/>
            </a:pPr>
            <a:r>
              <a:rPr lang="en-US" sz="4200" dirty="0"/>
              <a:t>Here’s the role of ANN architecture in neural networks</a:t>
            </a:r>
            <a:r>
              <a:rPr lang="en-US" sz="4200" dirty="0" smtClean="0"/>
              <a:t>.</a:t>
            </a:r>
          </a:p>
          <a:p>
            <a:pPr marL="0" indent="0" algn="just">
              <a:buNone/>
            </a:pPr>
            <a:endParaRPr lang="en-US" sz="4200" dirty="0"/>
          </a:p>
          <a:p>
            <a:pPr marL="0" indent="0" algn="just">
              <a:buNone/>
            </a:pPr>
            <a:r>
              <a:rPr lang="en-US" sz="4200" b="1" dirty="0"/>
              <a:t>Task-specific design</a:t>
            </a:r>
            <a:endParaRPr lang="en-US" sz="4200" dirty="0"/>
          </a:p>
          <a:p>
            <a:pPr algn="just"/>
            <a:r>
              <a:rPr lang="en-US" sz="4200" dirty="0"/>
              <a:t>The architecture is chosen based on the task and the type of data. For example, Convolutional Neural Networks (CNNs) are suitable for image data, while Recurrent Neural Networks (RNNs) or transformers are preferred for sequential functions like speech and text analysis. CNNs, in particular, leverage convolutional layers to detect spatial hierarchies in images, making the </a:t>
            </a:r>
            <a:r>
              <a:rPr lang="en-US" sz="4200" u="sng" dirty="0">
                <a:hlinkClick r:id="rId3"/>
              </a:rPr>
              <a:t>architecture of CNN</a:t>
            </a:r>
            <a:r>
              <a:rPr lang="en-US" sz="4200" dirty="0"/>
              <a:t> an essential factor in tasks like image classification.</a:t>
            </a:r>
          </a:p>
          <a:p>
            <a:pPr marL="0" indent="0" algn="just">
              <a:buNone/>
            </a:pPr>
            <a:endParaRPr lang="en-US" sz="4200" dirty="0"/>
          </a:p>
          <a:p>
            <a:endParaRPr lang="en-IN" dirty="0"/>
          </a:p>
        </p:txBody>
      </p:sp>
    </p:spTree>
    <p:extLst>
      <p:ext uri="{BB962C8B-B14F-4D97-AF65-F5344CB8AC3E}">
        <p14:creationId xmlns:p14="http://schemas.microsoft.com/office/powerpoint/2010/main" val="90610367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036496" cy="6858000"/>
          </a:xfrm>
        </p:spPr>
        <p:txBody>
          <a:bodyPr>
            <a:noAutofit/>
          </a:bodyPr>
          <a:lstStyle/>
          <a:p>
            <a:pPr marL="0" indent="0" algn="just">
              <a:buNone/>
            </a:pPr>
            <a:r>
              <a:rPr lang="en-US" sz="2400" b="1" dirty="0"/>
              <a:t>Capacity to learn complex patterns</a:t>
            </a:r>
            <a:endParaRPr lang="en-US" sz="2400" dirty="0"/>
          </a:p>
          <a:p>
            <a:pPr algn="just"/>
            <a:r>
              <a:rPr lang="en-US" sz="2300" dirty="0"/>
              <a:t>A network's depth (number of hidden layers) and width (number of neurons per layer) affect its capacity to capture complex relationships in the data. Deep architectures are effective for complex tasks like image recognition and speech processing.</a:t>
            </a:r>
          </a:p>
          <a:p>
            <a:pPr marL="0" indent="0" algn="just">
              <a:buNone/>
            </a:pPr>
            <a:r>
              <a:rPr lang="en-US" sz="2300" b="1" dirty="0"/>
              <a:t>Efficiency</a:t>
            </a:r>
            <a:endParaRPr lang="en-US" sz="2300" dirty="0"/>
          </a:p>
          <a:p>
            <a:pPr algn="just"/>
            <a:r>
              <a:rPr lang="en-US" sz="2300" dirty="0"/>
              <a:t>The architecture affects the computational efficiency of the network. For example, CNNs use of shared weights in convolutional layers reduces the number of parameters and computational cost. </a:t>
            </a:r>
          </a:p>
          <a:p>
            <a:pPr marL="0" indent="0" algn="just">
              <a:buNone/>
            </a:pPr>
            <a:r>
              <a:rPr lang="en-US" sz="2300" b="1" dirty="0"/>
              <a:t>Optimization </a:t>
            </a:r>
            <a:endParaRPr lang="en-US" sz="2300" dirty="0"/>
          </a:p>
          <a:p>
            <a:pPr algn="just"/>
            <a:r>
              <a:rPr lang="en-US" sz="2300" dirty="0"/>
              <a:t>The structure of the architecture impacts the effectiveness of the network. For instance, deeper networks face challenges like the vanishing gradient problem.</a:t>
            </a:r>
          </a:p>
          <a:p>
            <a:pPr marL="0" indent="0" algn="just">
              <a:buNone/>
            </a:pPr>
            <a:r>
              <a:rPr lang="en-US" sz="2300" b="1" dirty="0"/>
              <a:t>Model generalization</a:t>
            </a:r>
            <a:endParaRPr lang="en-US" sz="2300" dirty="0"/>
          </a:p>
          <a:p>
            <a:pPr algn="just"/>
            <a:r>
              <a:rPr lang="en-US" sz="2300" dirty="0"/>
              <a:t>The architecture influences the model's ability to generalize to unseen data. Complex architectures with too many parameters can lead to overfitting, while simpler architectures may not capture enough data </a:t>
            </a:r>
            <a:r>
              <a:rPr lang="en-US" sz="2300" dirty="0" smtClean="0"/>
              <a:t>complexity.</a:t>
            </a:r>
            <a:endParaRPr lang="en-IN" sz="2300" dirty="0"/>
          </a:p>
        </p:txBody>
      </p:sp>
    </p:spTree>
    <p:extLst>
      <p:ext uri="{BB962C8B-B14F-4D97-AF65-F5344CB8AC3E}">
        <p14:creationId xmlns:p14="http://schemas.microsoft.com/office/powerpoint/2010/main" val="1974850790"/>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476672"/>
            <a:ext cx="8892480" cy="4525963"/>
          </a:xfrm>
        </p:spPr>
        <p:txBody>
          <a:bodyPr/>
          <a:lstStyle/>
          <a:p>
            <a:pPr marL="0" indent="0">
              <a:buNone/>
            </a:pPr>
            <a:r>
              <a:rPr lang="en-US" b="1" dirty="0"/>
              <a:t>Loss Function</a:t>
            </a:r>
            <a:endParaRPr lang="en-US" dirty="0"/>
          </a:p>
          <a:p>
            <a:pPr algn="just"/>
            <a:r>
              <a:rPr lang="en-US" dirty="0"/>
              <a:t>The loss function (or cost function) measures the distance of the network's predictions from the actual target values. Common loss functions include mean squared error (for regression) and cross-entropy (for classification). The loss function is critical for training, as it guides the optimization process. </a:t>
            </a:r>
          </a:p>
          <a:p>
            <a:endParaRPr lang="en-IN" dirty="0"/>
          </a:p>
        </p:txBody>
      </p:sp>
    </p:spTree>
    <p:extLst>
      <p:ext uri="{BB962C8B-B14F-4D97-AF65-F5344CB8AC3E}">
        <p14:creationId xmlns:p14="http://schemas.microsoft.com/office/powerpoint/2010/main" val="333998511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379693951"/>
              </p:ext>
            </p:extLst>
          </p:nvPr>
        </p:nvGraphicFramePr>
        <p:xfrm>
          <a:off x="107504" y="872491"/>
          <a:ext cx="8833725" cy="4428716"/>
        </p:xfrm>
        <a:graphic>
          <a:graphicData uri="http://schemas.openxmlformats.org/drawingml/2006/table">
            <a:tbl>
              <a:tblPr/>
              <a:tblGrid>
                <a:gridCol w="2944575"/>
                <a:gridCol w="2944575"/>
                <a:gridCol w="2944575"/>
              </a:tblGrid>
              <a:tr h="375919">
                <a:tc>
                  <a:txBody>
                    <a:bodyPr/>
                    <a:lstStyle/>
                    <a:p>
                      <a:r>
                        <a:rPr lang="en-IN" sz="1800" b="1" dirty="0"/>
                        <a:t>Feature</a:t>
                      </a:r>
                    </a:p>
                  </a:txBody>
                  <a:tcPr marL="66558" marR="66558" marT="33279" marB="33279" anchor="ctr">
                    <a:lnL>
                      <a:noFill/>
                    </a:lnL>
                    <a:lnR>
                      <a:noFill/>
                    </a:lnR>
                    <a:lnT>
                      <a:noFill/>
                    </a:lnT>
                    <a:lnB>
                      <a:noFill/>
                    </a:lnB>
                  </a:tcPr>
                </a:tc>
                <a:tc>
                  <a:txBody>
                    <a:bodyPr/>
                    <a:lstStyle/>
                    <a:p>
                      <a:r>
                        <a:rPr lang="en-IN" sz="1800" b="1"/>
                        <a:t>Transfer Function</a:t>
                      </a:r>
                      <a:endParaRPr lang="en-IN" sz="1800"/>
                    </a:p>
                  </a:txBody>
                  <a:tcPr marL="66558" marR="66558" marT="33279" marB="33279" anchor="ctr">
                    <a:lnL>
                      <a:noFill/>
                    </a:lnL>
                    <a:lnR>
                      <a:noFill/>
                    </a:lnR>
                    <a:lnT>
                      <a:noFill/>
                    </a:lnT>
                    <a:lnB>
                      <a:noFill/>
                    </a:lnB>
                  </a:tcPr>
                </a:tc>
                <a:tc>
                  <a:txBody>
                    <a:bodyPr/>
                    <a:lstStyle/>
                    <a:p>
                      <a:r>
                        <a:rPr lang="en-IN" sz="1800" b="1"/>
                        <a:t>Activation Function</a:t>
                      </a:r>
                      <a:endParaRPr lang="en-IN" sz="1800"/>
                    </a:p>
                  </a:txBody>
                  <a:tcPr marL="66558" marR="66558" marT="33279" marB="33279" anchor="ctr">
                    <a:lnL>
                      <a:noFill/>
                    </a:lnL>
                    <a:lnR>
                      <a:noFill/>
                    </a:lnR>
                    <a:lnT>
                      <a:noFill/>
                    </a:lnT>
                    <a:lnB>
                      <a:noFill/>
                    </a:lnB>
                  </a:tcPr>
                </a:tc>
              </a:tr>
              <a:tr h="980958">
                <a:tc>
                  <a:txBody>
                    <a:bodyPr/>
                    <a:lstStyle/>
                    <a:p>
                      <a:r>
                        <a:rPr lang="en-IN" sz="1800" b="1" dirty="0"/>
                        <a:t>Definition</a:t>
                      </a:r>
                      <a:endParaRPr lang="en-IN" sz="1800" dirty="0"/>
                    </a:p>
                  </a:txBody>
                  <a:tcPr marL="66558" marR="66558" marT="33279" marB="33279" anchor="ctr">
                    <a:lnL>
                      <a:noFill/>
                    </a:lnL>
                    <a:lnR>
                      <a:noFill/>
                    </a:lnR>
                    <a:lnT>
                      <a:noFill/>
                    </a:lnT>
                    <a:lnB>
                      <a:noFill/>
                    </a:lnB>
                  </a:tcPr>
                </a:tc>
                <a:tc>
                  <a:txBody>
                    <a:bodyPr/>
                    <a:lstStyle/>
                    <a:p>
                      <a:r>
                        <a:rPr lang="en-US" sz="1800" dirty="0"/>
                        <a:t>Mathematical function applied to the weighted sum of inputs.</a:t>
                      </a:r>
                    </a:p>
                  </a:txBody>
                  <a:tcPr marL="66558" marR="66558" marT="33279" marB="33279" anchor="ctr">
                    <a:lnL>
                      <a:noFill/>
                    </a:lnL>
                    <a:lnR>
                      <a:noFill/>
                    </a:lnR>
                    <a:lnT>
                      <a:noFill/>
                    </a:lnT>
                    <a:lnB>
                      <a:noFill/>
                    </a:lnB>
                  </a:tcPr>
                </a:tc>
                <a:tc>
                  <a:txBody>
                    <a:bodyPr/>
                    <a:lstStyle/>
                    <a:p>
                      <a:r>
                        <a:rPr lang="en-US" sz="1800"/>
                        <a:t>Nonlinear function that determines the neuron’s output.</a:t>
                      </a:r>
                    </a:p>
                  </a:txBody>
                  <a:tcPr marL="66558" marR="66558" marT="33279" marB="33279" anchor="ctr">
                    <a:lnL>
                      <a:noFill/>
                    </a:lnL>
                    <a:lnR>
                      <a:noFill/>
                    </a:lnR>
                    <a:lnT>
                      <a:noFill/>
                    </a:lnT>
                    <a:lnB>
                      <a:noFill/>
                    </a:lnB>
                  </a:tcPr>
                </a:tc>
              </a:tr>
              <a:tr h="980958">
                <a:tc>
                  <a:txBody>
                    <a:bodyPr/>
                    <a:lstStyle/>
                    <a:p>
                      <a:r>
                        <a:rPr lang="en-IN" sz="1800" b="1" dirty="0"/>
                        <a:t>Role in Neural Networks</a:t>
                      </a:r>
                      <a:endParaRPr lang="en-IN" sz="1800" dirty="0"/>
                    </a:p>
                  </a:txBody>
                  <a:tcPr marL="66558" marR="66558" marT="33279" marB="33279" anchor="ctr">
                    <a:lnL>
                      <a:noFill/>
                    </a:lnL>
                    <a:lnR>
                      <a:noFill/>
                    </a:lnR>
                    <a:lnT>
                      <a:noFill/>
                    </a:lnT>
                    <a:lnB>
                      <a:noFill/>
                    </a:lnB>
                  </a:tcPr>
                </a:tc>
                <a:tc>
                  <a:txBody>
                    <a:bodyPr/>
                    <a:lstStyle/>
                    <a:p>
                      <a:r>
                        <a:rPr lang="en-US" sz="1800" dirty="0"/>
                        <a:t>Converts the input to an intermediate value (sometimes linear).</a:t>
                      </a:r>
                    </a:p>
                  </a:txBody>
                  <a:tcPr marL="66558" marR="66558" marT="33279" marB="33279" anchor="ctr">
                    <a:lnL>
                      <a:noFill/>
                    </a:lnL>
                    <a:lnR>
                      <a:noFill/>
                    </a:lnR>
                    <a:lnT>
                      <a:noFill/>
                    </a:lnT>
                    <a:lnB>
                      <a:noFill/>
                    </a:lnB>
                  </a:tcPr>
                </a:tc>
                <a:tc>
                  <a:txBody>
                    <a:bodyPr/>
                    <a:lstStyle/>
                    <a:p>
                      <a:r>
                        <a:rPr lang="en-IN" sz="1800" dirty="0"/>
                        <a:t>Introduces non-linearity to model complex patterns.</a:t>
                      </a:r>
                    </a:p>
                  </a:txBody>
                  <a:tcPr marL="66558" marR="66558" marT="33279" marB="33279" anchor="ctr">
                    <a:lnL>
                      <a:noFill/>
                    </a:lnL>
                    <a:lnR>
                      <a:noFill/>
                    </a:lnR>
                    <a:lnT>
                      <a:noFill/>
                    </a:lnT>
                    <a:lnB>
                      <a:noFill/>
                    </a:lnB>
                  </a:tcPr>
                </a:tc>
              </a:tr>
              <a:tr h="678439">
                <a:tc>
                  <a:txBody>
                    <a:bodyPr/>
                    <a:lstStyle/>
                    <a:p>
                      <a:r>
                        <a:rPr lang="en-IN" sz="1800" b="1"/>
                        <a:t>Examples</a:t>
                      </a:r>
                      <a:endParaRPr lang="en-IN" sz="1800"/>
                    </a:p>
                  </a:txBody>
                  <a:tcPr marL="66558" marR="66558" marT="33279" marB="33279" anchor="ctr">
                    <a:lnL>
                      <a:noFill/>
                    </a:lnL>
                    <a:lnR>
                      <a:noFill/>
                    </a:lnR>
                    <a:lnT>
                      <a:noFill/>
                    </a:lnT>
                    <a:lnB>
                      <a:noFill/>
                    </a:lnB>
                  </a:tcPr>
                </a:tc>
                <a:tc>
                  <a:txBody>
                    <a:bodyPr/>
                    <a:lstStyle/>
                    <a:p>
                      <a:r>
                        <a:rPr lang="en-IN" sz="1800" dirty="0"/>
                        <a:t>Identity (Linear), Step Function</a:t>
                      </a:r>
                    </a:p>
                  </a:txBody>
                  <a:tcPr marL="66558" marR="66558" marT="33279" marB="33279" anchor="ctr">
                    <a:lnL>
                      <a:noFill/>
                    </a:lnL>
                    <a:lnR>
                      <a:noFill/>
                    </a:lnR>
                    <a:lnT>
                      <a:noFill/>
                    </a:lnT>
                    <a:lnB>
                      <a:noFill/>
                    </a:lnB>
                  </a:tcPr>
                </a:tc>
                <a:tc>
                  <a:txBody>
                    <a:bodyPr/>
                    <a:lstStyle/>
                    <a:p>
                      <a:r>
                        <a:rPr lang="en-IN" sz="1800"/>
                        <a:t>ReLU, Sigmoid, Tanh, Softmax</a:t>
                      </a:r>
                    </a:p>
                  </a:txBody>
                  <a:tcPr marL="66558" marR="66558" marT="33279" marB="33279" anchor="ctr">
                    <a:lnL>
                      <a:noFill/>
                    </a:lnL>
                    <a:lnR>
                      <a:noFill/>
                    </a:lnR>
                    <a:lnT>
                      <a:noFill/>
                    </a:lnT>
                    <a:lnB>
                      <a:noFill/>
                    </a:lnB>
                  </a:tcPr>
                </a:tc>
              </a:tr>
              <a:tr h="678439">
                <a:tc>
                  <a:txBody>
                    <a:bodyPr/>
                    <a:lstStyle/>
                    <a:p>
                      <a:r>
                        <a:rPr lang="en-IN" sz="1800" b="1"/>
                        <a:t>Output Range</a:t>
                      </a:r>
                      <a:endParaRPr lang="en-IN" sz="1800"/>
                    </a:p>
                  </a:txBody>
                  <a:tcPr marL="66558" marR="66558" marT="33279" marB="33279" anchor="ctr">
                    <a:lnL>
                      <a:noFill/>
                    </a:lnL>
                    <a:lnR>
                      <a:noFill/>
                    </a:lnR>
                    <a:lnT>
                      <a:noFill/>
                    </a:lnT>
                    <a:lnB>
                      <a:noFill/>
                    </a:lnB>
                  </a:tcPr>
                </a:tc>
                <a:tc>
                  <a:txBody>
                    <a:bodyPr/>
                    <a:lstStyle/>
                    <a:p>
                      <a:r>
                        <a:rPr lang="en-US" sz="1800" dirty="0"/>
                        <a:t>Can be linear or bounded</a:t>
                      </a:r>
                    </a:p>
                  </a:txBody>
                  <a:tcPr marL="66558" marR="66558" marT="33279" marB="33279" anchor="ctr">
                    <a:lnL>
                      <a:noFill/>
                    </a:lnL>
                    <a:lnR>
                      <a:noFill/>
                    </a:lnR>
                    <a:lnT>
                      <a:noFill/>
                    </a:lnT>
                    <a:lnB>
                      <a:noFill/>
                    </a:lnB>
                  </a:tcPr>
                </a:tc>
                <a:tc>
                  <a:txBody>
                    <a:bodyPr/>
                    <a:lstStyle/>
                    <a:p>
                      <a:r>
                        <a:rPr lang="en-IN" sz="1800" dirty="0"/>
                        <a:t>Typically bounded and nonlinear</a:t>
                      </a:r>
                    </a:p>
                  </a:txBody>
                  <a:tcPr marL="66558" marR="66558" marT="33279" marB="33279" anchor="ctr">
                    <a:lnL>
                      <a:noFill/>
                    </a:lnL>
                    <a:lnR>
                      <a:noFill/>
                    </a:lnR>
                    <a:lnT>
                      <a:noFill/>
                    </a:lnT>
                    <a:lnB>
                      <a:noFill/>
                    </a:lnB>
                  </a:tcPr>
                </a:tc>
              </a:tr>
              <a:tr h="734003">
                <a:tc>
                  <a:txBody>
                    <a:bodyPr/>
                    <a:lstStyle/>
                    <a:p>
                      <a:r>
                        <a:rPr lang="en-IN" sz="1800" b="1"/>
                        <a:t>Use in Traditional Models</a:t>
                      </a:r>
                      <a:endParaRPr lang="en-IN" sz="1800"/>
                    </a:p>
                  </a:txBody>
                  <a:tcPr marL="66558" marR="66558" marT="33279" marB="33279" anchor="ctr">
                    <a:lnL>
                      <a:noFill/>
                    </a:lnL>
                    <a:lnR>
                      <a:noFill/>
                    </a:lnR>
                    <a:lnT>
                      <a:noFill/>
                    </a:lnT>
                    <a:lnB>
                      <a:noFill/>
                    </a:lnB>
                  </a:tcPr>
                </a:tc>
                <a:tc>
                  <a:txBody>
                    <a:bodyPr/>
                    <a:lstStyle/>
                    <a:p>
                      <a:r>
                        <a:rPr lang="en-US" sz="1800" dirty="0"/>
                        <a:t>Often used in early or simpler models (e.g., </a:t>
                      </a:r>
                      <a:r>
                        <a:rPr lang="en-US" sz="1800" dirty="0" err="1"/>
                        <a:t>perceptrons</a:t>
                      </a:r>
                      <a:r>
                        <a:rPr lang="en-US" sz="1800" dirty="0"/>
                        <a:t>)</a:t>
                      </a:r>
                    </a:p>
                  </a:txBody>
                  <a:tcPr marL="66558" marR="66558" marT="33279" marB="33279" anchor="ctr">
                    <a:lnL>
                      <a:noFill/>
                    </a:lnL>
                    <a:lnR>
                      <a:noFill/>
                    </a:lnR>
                    <a:lnT>
                      <a:noFill/>
                    </a:lnT>
                    <a:lnB>
                      <a:noFill/>
                    </a:lnB>
                  </a:tcPr>
                </a:tc>
                <a:tc>
                  <a:txBody>
                    <a:bodyPr/>
                    <a:lstStyle/>
                    <a:p>
                      <a:r>
                        <a:rPr lang="en-IN" sz="1800" dirty="0"/>
                        <a:t>Standard in modern deep neural networks</a:t>
                      </a:r>
                    </a:p>
                  </a:txBody>
                  <a:tcPr marL="66558" marR="66558" marT="33279" marB="33279" anchor="ctr">
                    <a:lnL>
                      <a:noFill/>
                    </a:lnL>
                    <a:lnR>
                      <a:noFill/>
                    </a:lnR>
                    <a:lnT>
                      <a:noFill/>
                    </a:lnT>
                    <a:lnB>
                      <a:noFill/>
                    </a:lnB>
                  </a:tcPr>
                </a:tc>
              </a:tr>
            </a:tbl>
          </a:graphicData>
        </a:graphic>
      </p:graphicFrame>
      <p:sp>
        <p:nvSpPr>
          <p:cNvPr id="5" name="Rectangle 1"/>
          <p:cNvSpPr>
            <a:spLocks noChangeArrowheads="1"/>
          </p:cNvSpPr>
          <p:nvPr/>
        </p:nvSpPr>
        <p:spPr bwMode="auto">
          <a:xfrm>
            <a:off x="107504" y="61555"/>
            <a:ext cx="8856984"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pitchFamily="34" charset="0"/>
                <a:cs typeface="Arial" pitchFamily="34" charset="0"/>
              </a:rPr>
              <a:t>Difference Between Transfer Function and Activation Function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675" y="5157192"/>
            <a:ext cx="8823325" cy="1224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9076819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Models of computation in neural networks</a:t>
            </a:r>
            <a:endParaRPr lang="en-IN" dirty="0"/>
          </a:p>
        </p:txBody>
      </p:sp>
      <p:sp>
        <p:nvSpPr>
          <p:cNvPr id="3" name="Content Placeholder 2"/>
          <p:cNvSpPr>
            <a:spLocks noGrp="1"/>
          </p:cNvSpPr>
          <p:nvPr>
            <p:ph idx="1"/>
          </p:nvPr>
        </p:nvSpPr>
        <p:spPr>
          <a:xfrm>
            <a:off x="251521" y="1600202"/>
            <a:ext cx="8712968" cy="4525963"/>
          </a:xfrm>
        </p:spPr>
        <p:txBody>
          <a:bodyPr/>
          <a:lstStyle/>
          <a:p>
            <a:pPr algn="just"/>
            <a:r>
              <a:rPr lang="en-US" b="1" dirty="0" smtClean="0"/>
              <a:t>Models of computation</a:t>
            </a:r>
            <a:r>
              <a:rPr lang="en-US" dirty="0" smtClean="0"/>
              <a:t> in neural networks refer to </a:t>
            </a:r>
            <a:r>
              <a:rPr lang="en-US" b="1" dirty="0" smtClean="0"/>
              <a:t>theoretical and practical frameworks</a:t>
            </a:r>
            <a:r>
              <a:rPr lang="en-US" dirty="0" smtClean="0"/>
              <a:t> that describe </a:t>
            </a:r>
            <a:r>
              <a:rPr lang="en-US" b="1" dirty="0" smtClean="0"/>
              <a:t>how neural networks process information</a:t>
            </a:r>
            <a:r>
              <a:rPr lang="en-US" dirty="0" smtClean="0"/>
              <a:t>. </a:t>
            </a:r>
          </a:p>
          <a:p>
            <a:pPr algn="just"/>
            <a:r>
              <a:rPr lang="en-US" dirty="0" smtClean="0"/>
              <a:t>These models define the </a:t>
            </a:r>
            <a:r>
              <a:rPr lang="en-US" b="1" dirty="0" smtClean="0"/>
              <a:t>structure</a:t>
            </a:r>
            <a:r>
              <a:rPr lang="en-US" dirty="0" smtClean="0"/>
              <a:t>, </a:t>
            </a:r>
            <a:r>
              <a:rPr lang="en-US" b="1" dirty="0" smtClean="0"/>
              <a:t>function</a:t>
            </a:r>
            <a:r>
              <a:rPr lang="en-US" dirty="0" smtClean="0"/>
              <a:t>, and </a:t>
            </a:r>
            <a:r>
              <a:rPr lang="en-US" b="1" dirty="0" smtClean="0"/>
              <a:t>rules</a:t>
            </a:r>
            <a:r>
              <a:rPr lang="en-US" dirty="0" smtClean="0"/>
              <a:t> used by neural networks to </a:t>
            </a:r>
            <a:r>
              <a:rPr lang="en-US" b="1" dirty="0" smtClean="0"/>
              <a:t>perform computations</a:t>
            </a:r>
            <a:r>
              <a:rPr lang="en-US" dirty="0" smtClean="0"/>
              <a:t>, </a:t>
            </a:r>
            <a:r>
              <a:rPr lang="en-US" b="1" dirty="0" smtClean="0"/>
              <a:t>learn from data</a:t>
            </a:r>
            <a:r>
              <a:rPr lang="en-US" dirty="0" smtClean="0"/>
              <a:t>, and </a:t>
            </a:r>
            <a:r>
              <a:rPr lang="en-US" b="1" dirty="0" smtClean="0"/>
              <a:t>make decisions</a:t>
            </a:r>
            <a:r>
              <a:rPr lang="en-US" dirty="0" smtClean="0"/>
              <a:t>.</a:t>
            </a:r>
          </a:p>
          <a:p>
            <a:endParaRPr lang="en-IN" dirty="0"/>
          </a:p>
        </p:txBody>
      </p:sp>
    </p:spTree>
    <p:extLst>
      <p:ext uri="{BB962C8B-B14F-4D97-AF65-F5344CB8AC3E}">
        <p14:creationId xmlns:p14="http://schemas.microsoft.com/office/powerpoint/2010/main" val="320658237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16632"/>
            <a:ext cx="8856984" cy="4525963"/>
          </a:xfrm>
        </p:spPr>
        <p:txBody>
          <a:bodyPr/>
          <a:lstStyle/>
          <a:p>
            <a:r>
              <a:rPr lang="en-US" b="1" dirty="0"/>
              <a:t>Transfer function</a:t>
            </a:r>
            <a:r>
              <a:rPr lang="en-US" dirty="0"/>
              <a:t> is a general term that includes both </a:t>
            </a:r>
            <a:r>
              <a:rPr lang="en-US" b="1" dirty="0"/>
              <a:t>linear and nonlinear</a:t>
            </a:r>
            <a:r>
              <a:rPr lang="en-US" dirty="0"/>
              <a:t> transformations of input.</a:t>
            </a:r>
          </a:p>
          <a:p>
            <a:r>
              <a:rPr lang="en-US" b="1" dirty="0"/>
              <a:t>Activation function</a:t>
            </a:r>
            <a:r>
              <a:rPr lang="en-US" dirty="0"/>
              <a:t> is a specific type of transfer function that is usually </a:t>
            </a:r>
            <a:r>
              <a:rPr lang="en-US" b="1" dirty="0"/>
              <a:t>nonlinear</a:t>
            </a:r>
            <a:r>
              <a:rPr lang="en-US" dirty="0"/>
              <a:t>, essential for deep learning.</a:t>
            </a:r>
          </a:p>
          <a:p>
            <a:pPr marL="0" indent="0">
              <a:buNone/>
            </a:pPr>
            <a:endParaRPr lang="en-IN" dirty="0"/>
          </a:p>
        </p:txBody>
      </p:sp>
    </p:spTree>
    <p:extLst>
      <p:ext uri="{BB962C8B-B14F-4D97-AF65-F5344CB8AC3E}">
        <p14:creationId xmlns:p14="http://schemas.microsoft.com/office/powerpoint/2010/main" val="83989396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46" y="260648"/>
            <a:ext cx="8712968" cy="562074"/>
          </a:xfrm>
        </p:spPr>
        <p:txBody>
          <a:bodyPr>
            <a:normAutofit fontScale="90000"/>
          </a:bodyPr>
          <a:lstStyle/>
          <a:p>
            <a:pPr algn="l"/>
            <a:r>
              <a:rPr lang="en-IN" dirty="0"/>
              <a:t>What is activation function and its types?</a:t>
            </a:r>
            <a:br>
              <a:rPr lang="en-IN" dirty="0"/>
            </a:br>
            <a:endParaRPr lang="en-IN" dirty="0"/>
          </a:p>
        </p:txBody>
      </p:sp>
      <p:sp>
        <p:nvSpPr>
          <p:cNvPr id="3" name="Content Placeholder 2"/>
          <p:cNvSpPr>
            <a:spLocks noGrp="1"/>
          </p:cNvSpPr>
          <p:nvPr>
            <p:ph idx="1"/>
          </p:nvPr>
        </p:nvSpPr>
        <p:spPr>
          <a:xfrm>
            <a:off x="0" y="548680"/>
            <a:ext cx="8964488" cy="4525963"/>
          </a:xfrm>
        </p:spPr>
        <p:txBody>
          <a:bodyPr/>
          <a:lstStyle/>
          <a:p>
            <a:pPr algn="just"/>
            <a:r>
              <a:rPr lang="en-IN" sz="2400" b="1" dirty="0"/>
              <a:t>Definition of activation function:- </a:t>
            </a:r>
            <a:r>
              <a:rPr lang="en-IN" sz="2400" dirty="0"/>
              <a:t>Activation function decides, whether a neuron should be activated or not by calculating weighted sum and further adding bias with it. The purpose of the activation function is to </a:t>
            </a:r>
            <a:r>
              <a:rPr lang="en-IN" sz="2400" b="1" dirty="0"/>
              <a:t>introduce non-linearity</a:t>
            </a:r>
            <a:r>
              <a:rPr lang="en-IN" sz="2400" dirty="0"/>
              <a:t> into the output of a neuron.</a:t>
            </a:r>
          </a:p>
          <a:p>
            <a:endParaRPr lang="en-IN" dirty="0"/>
          </a:p>
        </p:txBody>
      </p:sp>
      <p:pic>
        <p:nvPicPr>
          <p:cNvPr id="5" name="Picture 4" descr="Comprehensive synthesis of the main activation functions pros and cons | by  Sebai Dorsaf | Analytics Vidhya | Medium"/>
          <p:cNvPicPr/>
          <p:nvPr/>
        </p:nvPicPr>
        <p:blipFill>
          <a:blip r:embed="rId2">
            <a:extLst>
              <a:ext uri="{28A0092B-C50C-407E-A947-70E740481C1C}">
                <a14:useLocalDpi xmlns:a14="http://schemas.microsoft.com/office/drawing/2010/main" val="0"/>
              </a:ext>
            </a:extLst>
          </a:blip>
          <a:srcRect/>
          <a:stretch>
            <a:fillRect/>
          </a:stretch>
        </p:blipFill>
        <p:spPr bwMode="auto">
          <a:xfrm>
            <a:off x="323528" y="2564904"/>
            <a:ext cx="8712968" cy="3816424"/>
          </a:xfrm>
          <a:prstGeom prst="rect">
            <a:avLst/>
          </a:prstGeom>
          <a:noFill/>
          <a:ln>
            <a:noFill/>
          </a:ln>
        </p:spPr>
      </p:pic>
    </p:spTree>
    <p:extLst>
      <p:ext uri="{BB962C8B-B14F-4D97-AF65-F5344CB8AC3E}">
        <p14:creationId xmlns:p14="http://schemas.microsoft.com/office/powerpoint/2010/main" val="17221774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ctivation Functions | What are Activation Functions"/>
          <p:cNvPicPr/>
          <p:nvPr/>
        </p:nvPicPr>
        <p:blipFill>
          <a:blip r:embed="rId2">
            <a:extLst>
              <a:ext uri="{28A0092B-C50C-407E-A947-70E740481C1C}">
                <a14:useLocalDpi xmlns:a14="http://schemas.microsoft.com/office/drawing/2010/main" val="0"/>
              </a:ext>
            </a:extLst>
          </a:blip>
          <a:srcRect/>
          <a:stretch>
            <a:fillRect/>
          </a:stretch>
        </p:blipFill>
        <p:spPr bwMode="auto">
          <a:xfrm>
            <a:off x="395536" y="548680"/>
            <a:ext cx="8496944" cy="6192688"/>
          </a:xfrm>
          <a:prstGeom prst="rect">
            <a:avLst/>
          </a:prstGeom>
          <a:noFill/>
          <a:ln>
            <a:noFill/>
          </a:ln>
        </p:spPr>
      </p:pic>
      <p:sp>
        <p:nvSpPr>
          <p:cNvPr id="5" name="Rectangle 4"/>
          <p:cNvSpPr/>
          <p:nvPr/>
        </p:nvSpPr>
        <p:spPr>
          <a:xfrm>
            <a:off x="623884" y="7648"/>
            <a:ext cx="7065589" cy="584775"/>
          </a:xfrm>
          <a:prstGeom prst="rect">
            <a:avLst/>
          </a:prstGeom>
        </p:spPr>
        <p:txBody>
          <a:bodyPr wrap="none">
            <a:spAutoFit/>
          </a:bodyPr>
          <a:lstStyle/>
          <a:p>
            <a:r>
              <a:rPr lang="en-IN" sz="3200" dirty="0"/>
              <a:t>What is activation function and its types?</a:t>
            </a:r>
          </a:p>
        </p:txBody>
      </p:sp>
    </p:spTree>
    <p:extLst>
      <p:ext uri="{BB962C8B-B14F-4D97-AF65-F5344CB8AC3E}">
        <p14:creationId xmlns:p14="http://schemas.microsoft.com/office/powerpoint/2010/main" val="17820016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278"/>
            <a:ext cx="8712968" cy="6723090"/>
          </a:xfrm>
        </p:spPr>
        <p:txBody>
          <a:bodyPr>
            <a:normAutofit fontScale="85000" lnSpcReduction="10000"/>
          </a:bodyPr>
          <a:lstStyle/>
          <a:p>
            <a:r>
              <a:rPr lang="en-IN" b="1" dirty="0"/>
              <a:t>What is an Activation Function?</a:t>
            </a:r>
          </a:p>
          <a:p>
            <a:r>
              <a:rPr lang="en-IN" dirty="0"/>
              <a:t>The input layer of the neural network receives data for training which comes in different formats like images, audio, or texts. From the dataset, input features with weights and biases are used to calculate the linear function. Then, this resultant from the linear function is used by the activation function as input and calculated activations are further fed as input to the next layer</a:t>
            </a:r>
          </a:p>
          <a:p>
            <a:r>
              <a:rPr lang="en-IN" b="1" dirty="0"/>
              <a:t>Why we use Activation functions with Neural Networks?</a:t>
            </a:r>
            <a:endParaRPr lang="en-IN" dirty="0"/>
          </a:p>
          <a:p>
            <a:r>
              <a:rPr lang="en-IN" i="1" dirty="0"/>
              <a:t>It is used to determine the output of neural network like </a:t>
            </a:r>
            <a:r>
              <a:rPr lang="en-IN" i="1" dirty="0">
                <a:solidFill>
                  <a:srgbClr val="002060"/>
                </a:solidFill>
              </a:rPr>
              <a:t>yes or no</a:t>
            </a:r>
            <a:r>
              <a:rPr lang="en-IN" i="1" dirty="0"/>
              <a:t>. It maps the resulting values in between 0 to 1 or -1 to 1 etc. (depending upon the function).</a:t>
            </a:r>
            <a:endParaRPr lang="en-IN" dirty="0"/>
          </a:p>
          <a:p>
            <a:r>
              <a:rPr lang="en-IN" dirty="0"/>
              <a:t>The Activation Functions can be basically divided into 2 types-</a:t>
            </a:r>
          </a:p>
          <a:p>
            <a:pPr lvl="0"/>
            <a:r>
              <a:rPr lang="en-IN" dirty="0"/>
              <a:t>Linear Activation Function</a:t>
            </a:r>
          </a:p>
          <a:p>
            <a:pPr lvl="0"/>
            <a:r>
              <a:rPr lang="en-IN" dirty="0"/>
              <a:t>Non-linear Activation Functions</a:t>
            </a:r>
          </a:p>
          <a:p>
            <a:endParaRPr lang="en-IN" dirty="0"/>
          </a:p>
        </p:txBody>
      </p:sp>
    </p:spTree>
    <p:extLst>
      <p:ext uri="{BB962C8B-B14F-4D97-AF65-F5344CB8AC3E}">
        <p14:creationId xmlns:p14="http://schemas.microsoft.com/office/powerpoint/2010/main" val="451998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88640"/>
            <a:ext cx="8640960" cy="3744416"/>
          </a:xfrm>
        </p:spPr>
        <p:txBody>
          <a:bodyPr>
            <a:normAutofit fontScale="85000" lnSpcReduction="10000"/>
          </a:bodyPr>
          <a:lstStyle/>
          <a:p>
            <a:r>
              <a:rPr lang="en-IN" b="1" dirty="0"/>
              <a:t>Linear or Identity Activation Function</a:t>
            </a:r>
          </a:p>
          <a:p>
            <a:r>
              <a:rPr lang="en-IN" dirty="0"/>
              <a:t>As you can see the function is a line or linear. Therefore, the output of the functions will not be confined between any range.</a:t>
            </a:r>
          </a:p>
          <a:p>
            <a:r>
              <a:rPr lang="en-IN" b="1" dirty="0"/>
              <a:t>Equation : </a:t>
            </a:r>
            <a:r>
              <a:rPr lang="en-IN" dirty="0"/>
              <a:t>f(x) = x</a:t>
            </a:r>
          </a:p>
          <a:p>
            <a:r>
              <a:rPr lang="en-IN" b="1" dirty="0"/>
              <a:t>Range :</a:t>
            </a:r>
            <a:r>
              <a:rPr lang="en-IN" dirty="0"/>
              <a:t> (-infinity to infinity)</a:t>
            </a:r>
          </a:p>
          <a:p>
            <a:r>
              <a:rPr lang="en-IN" dirty="0"/>
              <a:t>It doesn’t help with the complexity or various parameters of usual data that is fed to the neural networks.</a:t>
            </a:r>
          </a:p>
          <a:p>
            <a:endParaRPr lang="en-IN" dirty="0"/>
          </a:p>
        </p:txBody>
      </p:sp>
      <p:pic>
        <p:nvPicPr>
          <p:cNvPr id="4" name="Picture 3" descr="https://miro.medium.com/max/1400/1*tldIgyDQWqm-sMwP7m3Bww.png"/>
          <p:cNvPicPr/>
          <p:nvPr/>
        </p:nvPicPr>
        <p:blipFill>
          <a:blip r:embed="rId2">
            <a:extLst>
              <a:ext uri="{28A0092B-C50C-407E-A947-70E740481C1C}">
                <a14:useLocalDpi xmlns:a14="http://schemas.microsoft.com/office/drawing/2010/main" val="0"/>
              </a:ext>
            </a:extLst>
          </a:blip>
          <a:srcRect/>
          <a:stretch>
            <a:fillRect/>
          </a:stretch>
        </p:blipFill>
        <p:spPr bwMode="auto">
          <a:xfrm>
            <a:off x="1489710" y="3718560"/>
            <a:ext cx="6164580" cy="3139440"/>
          </a:xfrm>
          <a:prstGeom prst="rect">
            <a:avLst/>
          </a:prstGeom>
          <a:noFill/>
          <a:ln>
            <a:noFill/>
          </a:ln>
        </p:spPr>
      </p:pic>
    </p:spTree>
    <p:extLst>
      <p:ext uri="{BB962C8B-B14F-4D97-AF65-F5344CB8AC3E}">
        <p14:creationId xmlns:p14="http://schemas.microsoft.com/office/powerpoint/2010/main" val="188291278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16633"/>
            <a:ext cx="8712968" cy="3096344"/>
          </a:xfrm>
        </p:spPr>
        <p:txBody>
          <a:bodyPr/>
          <a:lstStyle/>
          <a:p>
            <a:r>
              <a:rPr lang="en-IN" b="1" dirty="0"/>
              <a:t>Non-linear Activation Function</a:t>
            </a:r>
            <a:endParaRPr lang="en-IN" dirty="0"/>
          </a:p>
          <a:p>
            <a:pPr algn="just"/>
            <a:r>
              <a:rPr lang="en-IN" dirty="0"/>
              <a:t>The Nonlinear Activation Functions are the most used activation functions. Nonlinearity helps to makes the graph look something like this</a:t>
            </a:r>
          </a:p>
          <a:p>
            <a:r>
              <a:rPr lang="en-IN" dirty="0"/>
              <a:t>Fig: Non-linear Activation Function</a:t>
            </a:r>
          </a:p>
          <a:p>
            <a:endParaRPr lang="en-IN" dirty="0"/>
          </a:p>
        </p:txBody>
      </p:sp>
      <p:pic>
        <p:nvPicPr>
          <p:cNvPr id="4" name="Picture 3" descr="https://miro.medium.com/max/1200/1*cxNqE_CMez7vUIkcLUH8PA.png"/>
          <p:cNvPicPr/>
          <p:nvPr/>
        </p:nvPicPr>
        <p:blipFill>
          <a:blip r:embed="rId2">
            <a:extLst>
              <a:ext uri="{28A0092B-C50C-407E-A947-70E740481C1C}">
                <a14:useLocalDpi xmlns:a14="http://schemas.microsoft.com/office/drawing/2010/main" val="0"/>
              </a:ext>
            </a:extLst>
          </a:blip>
          <a:srcRect/>
          <a:stretch>
            <a:fillRect/>
          </a:stretch>
        </p:blipFill>
        <p:spPr bwMode="auto">
          <a:xfrm>
            <a:off x="683568" y="3068960"/>
            <a:ext cx="7920880" cy="3535680"/>
          </a:xfrm>
          <a:prstGeom prst="rect">
            <a:avLst/>
          </a:prstGeom>
          <a:noFill/>
          <a:ln>
            <a:noFill/>
          </a:ln>
        </p:spPr>
      </p:pic>
    </p:spTree>
    <p:extLst>
      <p:ext uri="{BB962C8B-B14F-4D97-AF65-F5344CB8AC3E}">
        <p14:creationId xmlns:p14="http://schemas.microsoft.com/office/powerpoint/2010/main" val="314031048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88640"/>
            <a:ext cx="8229600" cy="4525963"/>
          </a:xfrm>
        </p:spPr>
        <p:txBody>
          <a:bodyPr/>
          <a:lstStyle/>
          <a:p>
            <a:r>
              <a:rPr lang="en-IN" b="1" dirty="0"/>
              <a:t>1. Sigmoid or Logistic Activation Function</a:t>
            </a:r>
            <a:endParaRPr lang="en-IN" dirty="0"/>
          </a:p>
          <a:p>
            <a:r>
              <a:rPr lang="en-IN" dirty="0"/>
              <a:t>The Sigmoid Function curve looks like a S-shape.</a:t>
            </a:r>
          </a:p>
          <a:p>
            <a:r>
              <a:rPr lang="en-IN" dirty="0"/>
              <a:t>Fig: Sigmoid Function</a:t>
            </a:r>
          </a:p>
          <a:p>
            <a:endParaRPr lang="en-IN" dirty="0"/>
          </a:p>
        </p:txBody>
      </p:sp>
      <p:pic>
        <p:nvPicPr>
          <p:cNvPr id="4" name="Picture 3" descr="https://miro.medium.com/max/970/1*Xu7B5y9gp0iL5ooBj7LtWw.png"/>
          <p:cNvPicPr/>
          <p:nvPr/>
        </p:nvPicPr>
        <p:blipFill>
          <a:blip r:embed="rId2">
            <a:extLst>
              <a:ext uri="{28A0092B-C50C-407E-A947-70E740481C1C}">
                <a14:useLocalDpi xmlns:a14="http://schemas.microsoft.com/office/drawing/2010/main" val="0"/>
              </a:ext>
            </a:extLst>
          </a:blip>
          <a:srcRect/>
          <a:stretch>
            <a:fillRect/>
          </a:stretch>
        </p:blipFill>
        <p:spPr bwMode="auto">
          <a:xfrm>
            <a:off x="539552" y="2708920"/>
            <a:ext cx="7920880" cy="3888432"/>
          </a:xfrm>
          <a:prstGeom prst="rect">
            <a:avLst/>
          </a:prstGeom>
          <a:noFill/>
          <a:ln>
            <a:noFill/>
          </a:ln>
        </p:spPr>
      </p:pic>
    </p:spTree>
    <p:extLst>
      <p:ext uri="{BB962C8B-B14F-4D97-AF65-F5344CB8AC3E}">
        <p14:creationId xmlns:p14="http://schemas.microsoft.com/office/powerpoint/2010/main" val="23910517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ttps://miro.medium.com/max/1190/1*f9erByySVjTjohfFdNkJYQ.jpe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1560" y="1734344"/>
            <a:ext cx="7776864" cy="4257675"/>
          </a:xfrm>
          <a:prstGeom prst="rect">
            <a:avLst/>
          </a:prstGeom>
          <a:noFill/>
          <a:ln>
            <a:noFill/>
          </a:ln>
        </p:spPr>
      </p:pic>
      <p:sp>
        <p:nvSpPr>
          <p:cNvPr id="5" name="Rectangle 4"/>
          <p:cNvSpPr/>
          <p:nvPr/>
        </p:nvSpPr>
        <p:spPr>
          <a:xfrm>
            <a:off x="179512" y="332656"/>
            <a:ext cx="8784976" cy="1815882"/>
          </a:xfrm>
          <a:prstGeom prst="rect">
            <a:avLst/>
          </a:prstGeom>
        </p:spPr>
        <p:txBody>
          <a:bodyPr wrap="square">
            <a:spAutoFit/>
          </a:bodyPr>
          <a:lstStyle/>
          <a:p>
            <a:r>
              <a:rPr lang="en-IN" sz="2800" b="1" dirty="0"/>
              <a:t>2. </a:t>
            </a:r>
            <a:r>
              <a:rPr lang="en-IN" sz="2800" b="1" dirty="0" err="1"/>
              <a:t>Tanh</a:t>
            </a:r>
            <a:r>
              <a:rPr lang="en-IN" sz="2800" b="1" dirty="0"/>
              <a:t> or hyperbolic tangent Activation Function</a:t>
            </a:r>
            <a:endParaRPr lang="en-IN" sz="2800" dirty="0"/>
          </a:p>
          <a:p>
            <a:r>
              <a:rPr lang="en-IN" sz="2800" dirty="0" err="1"/>
              <a:t>tanh</a:t>
            </a:r>
            <a:r>
              <a:rPr lang="en-IN" sz="2800" dirty="0"/>
              <a:t> is also like logistic sigmoid but better. The range of the </a:t>
            </a:r>
            <a:r>
              <a:rPr lang="en-IN" sz="2800" dirty="0" err="1"/>
              <a:t>tanh</a:t>
            </a:r>
            <a:r>
              <a:rPr lang="en-IN" sz="2800" dirty="0"/>
              <a:t> function is from (-1 to 1). </a:t>
            </a:r>
            <a:r>
              <a:rPr lang="en-IN" sz="2800" dirty="0" err="1"/>
              <a:t>tanh</a:t>
            </a:r>
            <a:r>
              <a:rPr lang="en-IN" sz="2800" dirty="0"/>
              <a:t> is also sigmoidal (s - shaped).</a:t>
            </a:r>
          </a:p>
        </p:txBody>
      </p:sp>
    </p:spTree>
    <p:extLst>
      <p:ext uri="{BB962C8B-B14F-4D97-AF65-F5344CB8AC3E}">
        <p14:creationId xmlns:p14="http://schemas.microsoft.com/office/powerpoint/2010/main" val="421900168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16632"/>
            <a:ext cx="8640960" cy="4525963"/>
          </a:xfrm>
        </p:spPr>
        <p:txBody>
          <a:bodyPr/>
          <a:lstStyle/>
          <a:p>
            <a:pPr marL="0" indent="0">
              <a:buNone/>
            </a:pPr>
            <a:r>
              <a:rPr lang="en-IN" b="1" dirty="0"/>
              <a:t>3. </a:t>
            </a:r>
            <a:r>
              <a:rPr lang="en-IN" b="1" dirty="0" err="1"/>
              <a:t>ReLU</a:t>
            </a:r>
            <a:r>
              <a:rPr lang="en-IN" b="1" dirty="0"/>
              <a:t> (Rectified Linear Unit) Activation Function</a:t>
            </a:r>
            <a:endParaRPr lang="en-IN" dirty="0"/>
          </a:p>
          <a:p>
            <a:pPr algn="just"/>
            <a:r>
              <a:rPr lang="en-IN" dirty="0"/>
              <a:t>The </a:t>
            </a:r>
            <a:r>
              <a:rPr lang="en-IN" dirty="0" err="1"/>
              <a:t>ReLU</a:t>
            </a:r>
            <a:r>
              <a:rPr lang="en-IN" dirty="0"/>
              <a:t> is the most used activation function in the world right </a:t>
            </a:r>
            <a:r>
              <a:rPr lang="en-IN" dirty="0" err="1"/>
              <a:t>now.Since</a:t>
            </a:r>
            <a:r>
              <a:rPr lang="en-IN" dirty="0"/>
              <a:t>, it is used in almost all the convolutional neural networks or deep learning.</a:t>
            </a:r>
          </a:p>
          <a:p>
            <a:endParaRPr lang="en-IN" dirty="0"/>
          </a:p>
        </p:txBody>
      </p:sp>
      <p:pic>
        <p:nvPicPr>
          <p:cNvPr id="4" name="Picture 3" descr="https://miro.medium.com/max/1400/1*XxxiA0jJvPrHEJHD4z893g.png"/>
          <p:cNvPicPr/>
          <p:nvPr/>
        </p:nvPicPr>
        <p:blipFill>
          <a:blip r:embed="rId2">
            <a:extLst>
              <a:ext uri="{28A0092B-C50C-407E-A947-70E740481C1C}">
                <a14:useLocalDpi xmlns:a14="http://schemas.microsoft.com/office/drawing/2010/main" val="0"/>
              </a:ext>
            </a:extLst>
          </a:blip>
          <a:srcRect/>
          <a:stretch>
            <a:fillRect/>
          </a:stretch>
        </p:blipFill>
        <p:spPr bwMode="auto">
          <a:xfrm>
            <a:off x="611560" y="2636912"/>
            <a:ext cx="8136903" cy="3024336"/>
          </a:xfrm>
          <a:prstGeom prst="rect">
            <a:avLst/>
          </a:prstGeom>
          <a:noFill/>
          <a:ln>
            <a:noFill/>
          </a:ln>
        </p:spPr>
      </p:pic>
    </p:spTree>
    <p:extLst>
      <p:ext uri="{BB962C8B-B14F-4D97-AF65-F5344CB8AC3E}">
        <p14:creationId xmlns:p14="http://schemas.microsoft.com/office/powerpoint/2010/main" val="266248926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8640"/>
            <a:ext cx="8229600" cy="4525963"/>
          </a:xfrm>
        </p:spPr>
        <p:txBody>
          <a:bodyPr/>
          <a:lstStyle/>
          <a:p>
            <a:pPr marL="0" indent="0">
              <a:buNone/>
            </a:pPr>
            <a:r>
              <a:rPr lang="en-IN" b="1" dirty="0"/>
              <a:t>4. Leaky </a:t>
            </a:r>
            <a:r>
              <a:rPr lang="en-IN" b="1" dirty="0" err="1"/>
              <a:t>ReLU</a:t>
            </a:r>
            <a:endParaRPr lang="en-IN" dirty="0"/>
          </a:p>
          <a:p>
            <a:r>
              <a:rPr lang="en-IN" dirty="0"/>
              <a:t>It is an attempt to solve the dying </a:t>
            </a:r>
            <a:r>
              <a:rPr lang="en-IN" dirty="0" err="1"/>
              <a:t>ReLU</a:t>
            </a:r>
            <a:r>
              <a:rPr lang="en-IN" dirty="0"/>
              <a:t> problem</a:t>
            </a:r>
          </a:p>
          <a:p>
            <a:endParaRPr lang="en-IN" dirty="0"/>
          </a:p>
        </p:txBody>
      </p:sp>
      <p:pic>
        <p:nvPicPr>
          <p:cNvPr id="4" name="Picture 3" descr="https://miro.medium.com/max/1400/1*A_Bzn0CjUgOXtPCJKnKLqA.jpeg"/>
          <p:cNvPicPr/>
          <p:nvPr/>
        </p:nvPicPr>
        <p:blipFill>
          <a:blip r:embed="rId2">
            <a:extLst>
              <a:ext uri="{28A0092B-C50C-407E-A947-70E740481C1C}">
                <a14:useLocalDpi xmlns:a14="http://schemas.microsoft.com/office/drawing/2010/main" val="0"/>
              </a:ext>
            </a:extLst>
          </a:blip>
          <a:srcRect/>
          <a:stretch>
            <a:fillRect/>
          </a:stretch>
        </p:blipFill>
        <p:spPr bwMode="auto">
          <a:xfrm>
            <a:off x="467544" y="2133600"/>
            <a:ext cx="8208912" cy="3815680"/>
          </a:xfrm>
          <a:prstGeom prst="rect">
            <a:avLst/>
          </a:prstGeom>
          <a:noFill/>
          <a:ln>
            <a:noFill/>
          </a:ln>
        </p:spPr>
      </p:pic>
    </p:spTree>
    <p:extLst>
      <p:ext uri="{BB962C8B-B14F-4D97-AF65-F5344CB8AC3E}">
        <p14:creationId xmlns:p14="http://schemas.microsoft.com/office/powerpoint/2010/main" val="36812379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object 5"/>
          <p:cNvGrpSpPr/>
          <p:nvPr/>
        </p:nvGrpSpPr>
        <p:grpSpPr>
          <a:xfrm>
            <a:off x="2530142" y="674219"/>
            <a:ext cx="3879273" cy="2142968"/>
            <a:chOff x="1251205" y="1024686"/>
            <a:chExt cx="1955800" cy="1081405"/>
          </a:xfrm>
        </p:grpSpPr>
        <p:pic>
          <p:nvPicPr>
            <p:cNvPr id="6" name="object 6"/>
            <p:cNvPicPr/>
            <p:nvPr/>
          </p:nvPicPr>
          <p:blipFill>
            <a:blip r:embed="rId2" cstate="print"/>
            <a:stretch>
              <a:fillRect/>
            </a:stretch>
          </p:blipFill>
          <p:spPr>
            <a:xfrm>
              <a:off x="1418282" y="1091329"/>
              <a:ext cx="1788705" cy="1006908"/>
            </a:xfrm>
            <a:prstGeom prst="rect">
              <a:avLst/>
            </a:prstGeom>
          </p:spPr>
        </p:pic>
        <p:sp>
          <p:nvSpPr>
            <p:cNvPr id="7" name="object 7"/>
            <p:cNvSpPr/>
            <p:nvPr/>
          </p:nvSpPr>
          <p:spPr>
            <a:xfrm>
              <a:off x="1251205" y="1570075"/>
              <a:ext cx="138430" cy="0"/>
            </a:xfrm>
            <a:custGeom>
              <a:avLst/>
              <a:gdLst/>
              <a:ahLst/>
              <a:cxnLst/>
              <a:rect l="l" t="t" r="r" b="b"/>
              <a:pathLst>
                <a:path w="138430">
                  <a:moveTo>
                    <a:pt x="0" y="0"/>
                  </a:moveTo>
                  <a:lnTo>
                    <a:pt x="138358" y="0"/>
                  </a:lnTo>
                </a:path>
              </a:pathLst>
            </a:custGeom>
            <a:ln w="21793">
              <a:solidFill>
                <a:srgbClr val="2E15E2"/>
              </a:solidFill>
            </a:ln>
          </p:spPr>
          <p:txBody>
            <a:bodyPr wrap="square" lIns="0" tIns="0" rIns="0" bIns="0" rtlCol="0"/>
            <a:lstStyle/>
            <a:p>
              <a:endParaRPr/>
            </a:p>
          </p:txBody>
        </p:sp>
        <p:sp>
          <p:nvSpPr>
            <p:cNvPr id="8" name="object 8"/>
            <p:cNvSpPr/>
            <p:nvPr/>
          </p:nvSpPr>
          <p:spPr>
            <a:xfrm>
              <a:off x="1370411" y="1530680"/>
              <a:ext cx="79375" cy="79375"/>
            </a:xfrm>
            <a:custGeom>
              <a:avLst/>
              <a:gdLst/>
              <a:ahLst/>
              <a:cxnLst/>
              <a:rect l="l" t="t" r="r" b="b"/>
              <a:pathLst>
                <a:path w="79375" h="79375">
                  <a:moveTo>
                    <a:pt x="0" y="0"/>
                  </a:moveTo>
                  <a:lnTo>
                    <a:pt x="6978" y="19285"/>
                  </a:lnTo>
                  <a:lnTo>
                    <a:pt x="9304" y="39395"/>
                  </a:lnTo>
                  <a:lnTo>
                    <a:pt x="6978" y="59505"/>
                  </a:lnTo>
                  <a:lnTo>
                    <a:pt x="0" y="78790"/>
                  </a:lnTo>
                  <a:lnTo>
                    <a:pt x="78790" y="39395"/>
                  </a:lnTo>
                  <a:lnTo>
                    <a:pt x="0" y="0"/>
                  </a:lnTo>
                  <a:close/>
                </a:path>
              </a:pathLst>
            </a:custGeom>
            <a:solidFill>
              <a:srgbClr val="2E15E2"/>
            </a:solidFill>
          </p:spPr>
          <p:txBody>
            <a:bodyPr wrap="square" lIns="0" tIns="0" rIns="0" bIns="0" rtlCol="0"/>
            <a:lstStyle/>
            <a:p>
              <a:endParaRPr/>
            </a:p>
          </p:txBody>
        </p:sp>
        <p:sp>
          <p:nvSpPr>
            <p:cNvPr id="9" name="object 9"/>
            <p:cNvSpPr/>
            <p:nvPr/>
          </p:nvSpPr>
          <p:spPr>
            <a:xfrm>
              <a:off x="1350204" y="1025525"/>
              <a:ext cx="693420" cy="257810"/>
            </a:xfrm>
            <a:custGeom>
              <a:avLst/>
              <a:gdLst/>
              <a:ahLst/>
              <a:cxnLst/>
              <a:rect l="l" t="t" r="r" b="b"/>
              <a:pathLst>
                <a:path w="693419" h="257809">
                  <a:moveTo>
                    <a:pt x="693002" y="0"/>
                  </a:moveTo>
                  <a:lnTo>
                    <a:pt x="0" y="0"/>
                  </a:lnTo>
                  <a:lnTo>
                    <a:pt x="0" y="257397"/>
                  </a:lnTo>
                  <a:lnTo>
                    <a:pt x="693002" y="257397"/>
                  </a:lnTo>
                  <a:lnTo>
                    <a:pt x="693002" y="0"/>
                  </a:lnTo>
                  <a:close/>
                </a:path>
              </a:pathLst>
            </a:custGeom>
            <a:solidFill>
              <a:srgbClr val="FFFFFF"/>
            </a:solidFill>
          </p:spPr>
          <p:txBody>
            <a:bodyPr wrap="square" lIns="0" tIns="0" rIns="0" bIns="0" rtlCol="0"/>
            <a:lstStyle/>
            <a:p>
              <a:endParaRPr/>
            </a:p>
          </p:txBody>
        </p:sp>
        <p:sp>
          <p:nvSpPr>
            <p:cNvPr id="10" name="object 10"/>
            <p:cNvSpPr/>
            <p:nvPr/>
          </p:nvSpPr>
          <p:spPr>
            <a:xfrm>
              <a:off x="1350204" y="1025525"/>
              <a:ext cx="693420" cy="257810"/>
            </a:xfrm>
            <a:custGeom>
              <a:avLst/>
              <a:gdLst/>
              <a:ahLst/>
              <a:cxnLst/>
              <a:rect l="l" t="t" r="r" b="b"/>
              <a:pathLst>
                <a:path w="693419" h="257809">
                  <a:moveTo>
                    <a:pt x="0" y="257397"/>
                  </a:moveTo>
                  <a:lnTo>
                    <a:pt x="693002" y="257397"/>
                  </a:lnTo>
                  <a:lnTo>
                    <a:pt x="693002" y="0"/>
                  </a:lnTo>
                  <a:lnTo>
                    <a:pt x="0" y="0"/>
                  </a:lnTo>
                  <a:lnTo>
                    <a:pt x="0" y="257397"/>
                  </a:lnTo>
                  <a:close/>
                </a:path>
              </a:pathLst>
            </a:custGeom>
            <a:ln w="3175">
              <a:solidFill>
                <a:srgbClr val="FFFFFF"/>
              </a:solidFill>
            </a:ln>
          </p:spPr>
          <p:txBody>
            <a:bodyPr wrap="square" lIns="0" tIns="0" rIns="0" bIns="0" rtlCol="0"/>
            <a:lstStyle/>
            <a:p>
              <a:endParaRPr/>
            </a:p>
          </p:txBody>
        </p:sp>
        <p:sp>
          <p:nvSpPr>
            <p:cNvPr id="11" name="object 11"/>
            <p:cNvSpPr/>
            <p:nvPr/>
          </p:nvSpPr>
          <p:spPr>
            <a:xfrm>
              <a:off x="2142191" y="1322576"/>
              <a:ext cx="495300" cy="99060"/>
            </a:xfrm>
            <a:custGeom>
              <a:avLst/>
              <a:gdLst/>
              <a:ahLst/>
              <a:cxnLst/>
              <a:rect l="l" t="t" r="r" b="b"/>
              <a:pathLst>
                <a:path w="495300" h="99059">
                  <a:moveTo>
                    <a:pt x="494999" y="0"/>
                  </a:moveTo>
                  <a:lnTo>
                    <a:pt x="0" y="0"/>
                  </a:lnTo>
                  <a:lnTo>
                    <a:pt x="0" y="98998"/>
                  </a:lnTo>
                  <a:lnTo>
                    <a:pt x="494999" y="98998"/>
                  </a:lnTo>
                  <a:lnTo>
                    <a:pt x="494999" y="0"/>
                  </a:lnTo>
                  <a:close/>
                </a:path>
              </a:pathLst>
            </a:custGeom>
            <a:solidFill>
              <a:srgbClr val="FFFFFF"/>
            </a:solidFill>
          </p:spPr>
          <p:txBody>
            <a:bodyPr wrap="square" lIns="0" tIns="0" rIns="0" bIns="0" rtlCol="0"/>
            <a:lstStyle/>
            <a:p>
              <a:endParaRPr/>
            </a:p>
          </p:txBody>
        </p:sp>
        <p:sp>
          <p:nvSpPr>
            <p:cNvPr id="12" name="object 12"/>
            <p:cNvSpPr/>
            <p:nvPr/>
          </p:nvSpPr>
          <p:spPr>
            <a:xfrm>
              <a:off x="2142191" y="1322576"/>
              <a:ext cx="495300" cy="99060"/>
            </a:xfrm>
            <a:custGeom>
              <a:avLst/>
              <a:gdLst/>
              <a:ahLst/>
              <a:cxnLst/>
              <a:rect l="l" t="t" r="r" b="b"/>
              <a:pathLst>
                <a:path w="495300" h="99059">
                  <a:moveTo>
                    <a:pt x="0" y="98998"/>
                  </a:moveTo>
                  <a:lnTo>
                    <a:pt x="494999" y="98998"/>
                  </a:lnTo>
                  <a:lnTo>
                    <a:pt x="494999" y="0"/>
                  </a:lnTo>
                  <a:lnTo>
                    <a:pt x="0" y="0"/>
                  </a:lnTo>
                  <a:lnTo>
                    <a:pt x="0" y="98998"/>
                  </a:lnTo>
                  <a:close/>
                </a:path>
              </a:pathLst>
            </a:custGeom>
            <a:ln w="3175">
              <a:solidFill>
                <a:srgbClr val="FFFFFF"/>
              </a:solidFill>
            </a:ln>
          </p:spPr>
          <p:txBody>
            <a:bodyPr wrap="square" lIns="0" tIns="0" rIns="0" bIns="0" rtlCol="0"/>
            <a:lstStyle/>
            <a:p>
              <a:endParaRPr/>
            </a:p>
          </p:txBody>
        </p:sp>
        <p:sp>
          <p:nvSpPr>
            <p:cNvPr id="13" name="object 13"/>
            <p:cNvSpPr/>
            <p:nvPr/>
          </p:nvSpPr>
          <p:spPr>
            <a:xfrm>
              <a:off x="2241238" y="1678950"/>
              <a:ext cx="495300" cy="139065"/>
            </a:xfrm>
            <a:custGeom>
              <a:avLst/>
              <a:gdLst/>
              <a:ahLst/>
              <a:cxnLst/>
              <a:rect l="l" t="t" r="r" b="b"/>
              <a:pathLst>
                <a:path w="495300" h="139064">
                  <a:moveTo>
                    <a:pt x="494999" y="0"/>
                  </a:moveTo>
                  <a:lnTo>
                    <a:pt x="0" y="0"/>
                  </a:lnTo>
                  <a:lnTo>
                    <a:pt x="0" y="138603"/>
                  </a:lnTo>
                  <a:lnTo>
                    <a:pt x="494999" y="138603"/>
                  </a:lnTo>
                  <a:lnTo>
                    <a:pt x="494999" y="0"/>
                  </a:lnTo>
                  <a:close/>
                </a:path>
              </a:pathLst>
            </a:custGeom>
            <a:solidFill>
              <a:srgbClr val="FFFFFF"/>
            </a:solidFill>
          </p:spPr>
          <p:txBody>
            <a:bodyPr wrap="square" lIns="0" tIns="0" rIns="0" bIns="0" rtlCol="0"/>
            <a:lstStyle/>
            <a:p>
              <a:endParaRPr/>
            </a:p>
          </p:txBody>
        </p:sp>
        <p:sp>
          <p:nvSpPr>
            <p:cNvPr id="14" name="object 14"/>
            <p:cNvSpPr/>
            <p:nvPr/>
          </p:nvSpPr>
          <p:spPr>
            <a:xfrm>
              <a:off x="2241238" y="1678950"/>
              <a:ext cx="495300" cy="139065"/>
            </a:xfrm>
            <a:custGeom>
              <a:avLst/>
              <a:gdLst/>
              <a:ahLst/>
              <a:cxnLst/>
              <a:rect l="l" t="t" r="r" b="b"/>
              <a:pathLst>
                <a:path w="495300" h="139064">
                  <a:moveTo>
                    <a:pt x="0" y="138603"/>
                  </a:moveTo>
                  <a:lnTo>
                    <a:pt x="494999" y="138603"/>
                  </a:lnTo>
                  <a:lnTo>
                    <a:pt x="494999" y="0"/>
                  </a:lnTo>
                  <a:lnTo>
                    <a:pt x="0" y="0"/>
                  </a:lnTo>
                  <a:lnTo>
                    <a:pt x="0" y="138603"/>
                  </a:lnTo>
                  <a:close/>
                </a:path>
              </a:pathLst>
            </a:custGeom>
            <a:ln w="3175">
              <a:solidFill>
                <a:srgbClr val="FFFFFF"/>
              </a:solidFill>
            </a:ln>
          </p:spPr>
          <p:txBody>
            <a:bodyPr wrap="square" lIns="0" tIns="0" rIns="0" bIns="0" rtlCol="0"/>
            <a:lstStyle/>
            <a:p>
              <a:endParaRPr/>
            </a:p>
          </p:txBody>
        </p:sp>
        <p:sp>
          <p:nvSpPr>
            <p:cNvPr id="15" name="object 15"/>
            <p:cNvSpPr/>
            <p:nvPr/>
          </p:nvSpPr>
          <p:spPr>
            <a:xfrm>
              <a:off x="1845189" y="1916538"/>
              <a:ext cx="594360" cy="188595"/>
            </a:xfrm>
            <a:custGeom>
              <a:avLst/>
              <a:gdLst/>
              <a:ahLst/>
              <a:cxnLst/>
              <a:rect l="l" t="t" r="r" b="b"/>
              <a:pathLst>
                <a:path w="594360" h="188594">
                  <a:moveTo>
                    <a:pt x="593997" y="0"/>
                  </a:moveTo>
                  <a:lnTo>
                    <a:pt x="0" y="0"/>
                  </a:lnTo>
                  <a:lnTo>
                    <a:pt x="0" y="188099"/>
                  </a:lnTo>
                  <a:lnTo>
                    <a:pt x="593997" y="188099"/>
                  </a:lnTo>
                  <a:lnTo>
                    <a:pt x="593997" y="0"/>
                  </a:lnTo>
                  <a:close/>
                </a:path>
              </a:pathLst>
            </a:custGeom>
            <a:solidFill>
              <a:srgbClr val="FFFFFF"/>
            </a:solidFill>
          </p:spPr>
          <p:txBody>
            <a:bodyPr wrap="square" lIns="0" tIns="0" rIns="0" bIns="0" rtlCol="0"/>
            <a:lstStyle/>
            <a:p>
              <a:endParaRPr/>
            </a:p>
          </p:txBody>
        </p:sp>
        <p:sp>
          <p:nvSpPr>
            <p:cNvPr id="16" name="object 16"/>
            <p:cNvSpPr/>
            <p:nvPr/>
          </p:nvSpPr>
          <p:spPr>
            <a:xfrm>
              <a:off x="1845189" y="1421553"/>
              <a:ext cx="594360" cy="683260"/>
            </a:xfrm>
            <a:custGeom>
              <a:avLst/>
              <a:gdLst/>
              <a:ahLst/>
              <a:cxnLst/>
              <a:rect l="l" t="t" r="r" b="b"/>
              <a:pathLst>
                <a:path w="594360" h="683260">
                  <a:moveTo>
                    <a:pt x="0" y="683084"/>
                  </a:moveTo>
                  <a:lnTo>
                    <a:pt x="593997" y="683084"/>
                  </a:lnTo>
                  <a:lnTo>
                    <a:pt x="593997" y="494985"/>
                  </a:lnTo>
                  <a:lnTo>
                    <a:pt x="0" y="494985"/>
                  </a:lnTo>
                  <a:lnTo>
                    <a:pt x="0" y="683084"/>
                  </a:lnTo>
                  <a:close/>
                </a:path>
                <a:path w="594360" h="683260">
                  <a:moveTo>
                    <a:pt x="99047" y="98998"/>
                  </a:moveTo>
                  <a:lnTo>
                    <a:pt x="455449" y="98998"/>
                  </a:lnTo>
                  <a:lnTo>
                    <a:pt x="455449" y="0"/>
                  </a:lnTo>
                  <a:lnTo>
                    <a:pt x="99047" y="0"/>
                  </a:lnTo>
                  <a:lnTo>
                    <a:pt x="99047" y="98998"/>
                  </a:lnTo>
                  <a:close/>
                </a:path>
              </a:pathLst>
            </a:custGeom>
            <a:ln w="3175">
              <a:solidFill>
                <a:srgbClr val="FFFFFF"/>
              </a:solidFill>
            </a:ln>
          </p:spPr>
          <p:txBody>
            <a:bodyPr wrap="square" lIns="0" tIns="0" rIns="0" bIns="0" rtlCol="0"/>
            <a:lstStyle/>
            <a:p>
              <a:endParaRPr/>
            </a:p>
          </p:txBody>
        </p:sp>
        <p:sp>
          <p:nvSpPr>
            <p:cNvPr id="17" name="object 17"/>
            <p:cNvSpPr/>
            <p:nvPr/>
          </p:nvSpPr>
          <p:spPr>
            <a:xfrm>
              <a:off x="1845189" y="1758132"/>
              <a:ext cx="198120" cy="158750"/>
            </a:xfrm>
            <a:custGeom>
              <a:avLst/>
              <a:gdLst/>
              <a:ahLst/>
              <a:cxnLst/>
              <a:rect l="l" t="t" r="r" b="b"/>
              <a:pathLst>
                <a:path w="198119" h="158750">
                  <a:moveTo>
                    <a:pt x="197996" y="0"/>
                  </a:moveTo>
                  <a:lnTo>
                    <a:pt x="0" y="0"/>
                  </a:lnTo>
                  <a:lnTo>
                    <a:pt x="0" y="158398"/>
                  </a:lnTo>
                  <a:lnTo>
                    <a:pt x="197996" y="158398"/>
                  </a:lnTo>
                  <a:lnTo>
                    <a:pt x="197996" y="0"/>
                  </a:lnTo>
                  <a:close/>
                </a:path>
              </a:pathLst>
            </a:custGeom>
            <a:solidFill>
              <a:srgbClr val="FFFFFF"/>
            </a:solidFill>
          </p:spPr>
          <p:txBody>
            <a:bodyPr wrap="square" lIns="0" tIns="0" rIns="0" bIns="0" rtlCol="0"/>
            <a:lstStyle/>
            <a:p>
              <a:endParaRPr/>
            </a:p>
          </p:txBody>
        </p:sp>
        <p:sp>
          <p:nvSpPr>
            <p:cNvPr id="18" name="object 18"/>
            <p:cNvSpPr/>
            <p:nvPr/>
          </p:nvSpPr>
          <p:spPr>
            <a:xfrm>
              <a:off x="1845189" y="1758132"/>
              <a:ext cx="198120" cy="158750"/>
            </a:xfrm>
            <a:custGeom>
              <a:avLst/>
              <a:gdLst/>
              <a:ahLst/>
              <a:cxnLst/>
              <a:rect l="l" t="t" r="r" b="b"/>
              <a:pathLst>
                <a:path w="198119" h="158750">
                  <a:moveTo>
                    <a:pt x="0" y="158398"/>
                  </a:moveTo>
                  <a:lnTo>
                    <a:pt x="197996" y="158398"/>
                  </a:lnTo>
                  <a:lnTo>
                    <a:pt x="197996" y="0"/>
                  </a:lnTo>
                  <a:lnTo>
                    <a:pt x="0" y="0"/>
                  </a:lnTo>
                  <a:lnTo>
                    <a:pt x="0" y="158398"/>
                  </a:lnTo>
                  <a:close/>
                </a:path>
              </a:pathLst>
            </a:custGeom>
            <a:ln w="3175">
              <a:solidFill>
                <a:srgbClr val="FFFFFF"/>
              </a:solidFill>
            </a:ln>
          </p:spPr>
          <p:txBody>
            <a:bodyPr wrap="square" lIns="0" tIns="0" rIns="0" bIns="0" rtlCol="0"/>
            <a:lstStyle/>
            <a:p>
              <a:endParaRPr/>
            </a:p>
          </p:txBody>
        </p:sp>
      </p:grpSp>
      <p:sp>
        <p:nvSpPr>
          <p:cNvPr id="32" name="object 32"/>
          <p:cNvSpPr txBox="1"/>
          <p:nvPr/>
        </p:nvSpPr>
        <p:spPr>
          <a:xfrm>
            <a:off x="6638360" y="1107873"/>
            <a:ext cx="158698" cy="313321"/>
          </a:xfrm>
          <a:prstGeom prst="rect">
            <a:avLst/>
          </a:prstGeom>
        </p:spPr>
        <p:txBody>
          <a:bodyPr vert="horz" wrap="square" lIns="0" tIns="35971" rIns="0" bIns="0" rtlCol="0">
            <a:spAutoFit/>
          </a:bodyPr>
          <a:lstStyle/>
          <a:p>
            <a:pPr marL="29976">
              <a:spcBef>
                <a:spcPts val="283"/>
              </a:spcBef>
            </a:pPr>
            <a:r>
              <a:rPr b="1" spc="-118" dirty="0">
                <a:solidFill>
                  <a:srgbClr val="FF0000"/>
                </a:solidFill>
                <a:latin typeface="Arial"/>
                <a:cs typeface="Arial"/>
              </a:rPr>
              <a:t>0</a:t>
            </a:r>
            <a:endParaRPr dirty="0">
              <a:latin typeface="Arial"/>
              <a:cs typeface="Arial"/>
            </a:endParaRPr>
          </a:p>
        </p:txBody>
      </p:sp>
      <p:sp>
        <p:nvSpPr>
          <p:cNvPr id="33" name="object 33"/>
          <p:cNvSpPr txBox="1"/>
          <p:nvPr/>
        </p:nvSpPr>
        <p:spPr>
          <a:xfrm>
            <a:off x="2149136" y="722245"/>
            <a:ext cx="306059" cy="1811695"/>
          </a:xfrm>
          <a:prstGeom prst="rect">
            <a:avLst/>
          </a:prstGeom>
        </p:spPr>
        <p:txBody>
          <a:bodyPr vert="horz" wrap="square" lIns="0" tIns="155874" rIns="0" bIns="0" rtlCol="0">
            <a:spAutoFit/>
          </a:bodyPr>
          <a:lstStyle/>
          <a:p>
            <a:pPr marL="29976">
              <a:spcBef>
                <a:spcPts val="1227"/>
              </a:spcBef>
            </a:pPr>
            <a:r>
              <a:rPr b="1" spc="-59" dirty="0">
                <a:solidFill>
                  <a:srgbClr val="FF0000"/>
                </a:solidFill>
                <a:latin typeface="Arial"/>
                <a:cs typeface="Arial"/>
              </a:rPr>
              <a:t>00</a:t>
            </a:r>
            <a:endParaRPr dirty="0">
              <a:latin typeface="Arial"/>
              <a:cs typeface="Arial"/>
            </a:endParaRPr>
          </a:p>
          <a:p>
            <a:pPr marL="29976">
              <a:spcBef>
                <a:spcPts val="1003"/>
              </a:spcBef>
            </a:pPr>
            <a:r>
              <a:rPr b="1" spc="-59" dirty="0">
                <a:solidFill>
                  <a:srgbClr val="FF0000"/>
                </a:solidFill>
                <a:latin typeface="Arial"/>
                <a:cs typeface="Arial"/>
              </a:rPr>
              <a:t>10</a:t>
            </a:r>
            <a:endParaRPr dirty="0">
              <a:latin typeface="Arial"/>
              <a:cs typeface="Arial"/>
            </a:endParaRPr>
          </a:p>
          <a:p>
            <a:pPr marL="76436">
              <a:spcBef>
                <a:spcPts val="732"/>
              </a:spcBef>
            </a:pPr>
            <a:r>
              <a:rPr b="1" spc="-59" dirty="0">
                <a:solidFill>
                  <a:srgbClr val="FF0000"/>
                </a:solidFill>
                <a:latin typeface="Arial"/>
                <a:cs typeface="Arial"/>
              </a:rPr>
              <a:t>01</a:t>
            </a:r>
            <a:endParaRPr dirty="0">
              <a:latin typeface="Arial"/>
              <a:cs typeface="Arial"/>
            </a:endParaRPr>
          </a:p>
          <a:p>
            <a:pPr marL="76436">
              <a:spcBef>
                <a:spcPts val="354"/>
              </a:spcBef>
            </a:pPr>
            <a:r>
              <a:rPr b="1" spc="-59" dirty="0">
                <a:solidFill>
                  <a:srgbClr val="00AF50"/>
                </a:solidFill>
                <a:latin typeface="Arial"/>
                <a:cs typeface="Arial"/>
              </a:rPr>
              <a:t>11</a:t>
            </a:r>
            <a:endParaRPr dirty="0">
              <a:latin typeface="Arial"/>
              <a:cs typeface="Arial"/>
            </a:endParaRPr>
          </a:p>
        </p:txBody>
      </p:sp>
      <p:sp>
        <p:nvSpPr>
          <p:cNvPr id="34" name="object 34"/>
          <p:cNvSpPr txBox="1"/>
          <p:nvPr/>
        </p:nvSpPr>
        <p:spPr>
          <a:xfrm>
            <a:off x="6659304" y="1598330"/>
            <a:ext cx="158698" cy="313321"/>
          </a:xfrm>
          <a:prstGeom prst="rect">
            <a:avLst/>
          </a:prstGeom>
        </p:spPr>
        <p:txBody>
          <a:bodyPr vert="horz" wrap="square" lIns="0" tIns="35971" rIns="0" bIns="0" rtlCol="0">
            <a:spAutoFit/>
          </a:bodyPr>
          <a:lstStyle/>
          <a:p>
            <a:pPr marL="29976">
              <a:spcBef>
                <a:spcPts val="283"/>
              </a:spcBef>
            </a:pPr>
            <a:r>
              <a:rPr b="1" spc="-118" dirty="0">
                <a:solidFill>
                  <a:srgbClr val="00AF50"/>
                </a:solidFill>
                <a:latin typeface="Arial"/>
                <a:cs typeface="Arial"/>
              </a:rPr>
              <a:t>1</a:t>
            </a:r>
            <a:endParaRPr>
              <a:latin typeface="Arial"/>
              <a:cs typeface="Arial"/>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8888" y="2509839"/>
            <a:ext cx="4086225" cy="183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4423035"/>
      </p:ext>
    </p:extLst>
  </p:cSld>
  <p:clrMapOvr>
    <a:masterClrMapping/>
  </p:clrMapOvr>
  <p:transition>
    <p:cut/>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332656"/>
            <a:ext cx="8640960" cy="6264696"/>
          </a:xfrm>
        </p:spPr>
        <p:txBody>
          <a:bodyPr>
            <a:normAutofit fontScale="92500" lnSpcReduction="10000"/>
          </a:bodyPr>
          <a:lstStyle/>
          <a:p>
            <a:pPr marL="0" indent="0" algn="just">
              <a:buNone/>
            </a:pPr>
            <a:r>
              <a:rPr lang="en-US" dirty="0" err="1"/>
              <a:t>Backpropagation</a:t>
            </a:r>
            <a:r>
              <a:rPr lang="en-US" dirty="0"/>
              <a:t> Formula and </a:t>
            </a:r>
            <a:r>
              <a:rPr lang="en-US" dirty="0" smtClean="0"/>
              <a:t>Examples</a:t>
            </a:r>
          </a:p>
          <a:p>
            <a:pPr marL="0" indent="0" algn="just">
              <a:buNone/>
            </a:pPr>
            <a:endParaRPr lang="en-US" dirty="0"/>
          </a:p>
          <a:p>
            <a:pPr marL="0" indent="0" algn="just">
              <a:buNone/>
            </a:pPr>
            <a:r>
              <a:rPr lang="en-US" dirty="0"/>
              <a:t>The </a:t>
            </a:r>
            <a:r>
              <a:rPr lang="en-US" dirty="0" err="1"/>
              <a:t>backpropagation</a:t>
            </a:r>
            <a:r>
              <a:rPr lang="en-US" dirty="0"/>
              <a:t> formula and example in </a:t>
            </a:r>
            <a:r>
              <a:rPr lang="en-US" dirty="0">
                <a:hlinkClick r:id="rId2" tooltip="machine learning"/>
              </a:rPr>
              <a:t>machine learning</a:t>
            </a:r>
            <a:r>
              <a:rPr lang="en-US" dirty="0"/>
              <a:t> are explained below</a:t>
            </a:r>
            <a:r>
              <a:rPr lang="en-US" dirty="0" smtClean="0"/>
              <a:t>.</a:t>
            </a:r>
          </a:p>
          <a:p>
            <a:pPr marL="0" indent="0" algn="just">
              <a:buNone/>
            </a:pPr>
            <a:endParaRPr lang="en-US" dirty="0"/>
          </a:p>
          <a:p>
            <a:pPr marL="0" indent="0" algn="just">
              <a:buNone/>
            </a:pPr>
            <a:r>
              <a:rPr lang="en-US" dirty="0"/>
              <a:t>We will be taking the following data</a:t>
            </a:r>
            <a:r>
              <a:rPr lang="en-US" dirty="0" smtClean="0"/>
              <a:t>:</a:t>
            </a:r>
          </a:p>
          <a:p>
            <a:pPr marL="0" indent="0" algn="just">
              <a:buNone/>
            </a:pPr>
            <a:endParaRPr lang="en-US" dirty="0"/>
          </a:p>
          <a:p>
            <a:pPr marL="0" indent="0" algn="just">
              <a:buNone/>
            </a:pPr>
            <a:r>
              <a:rPr lang="en-US" dirty="0"/>
              <a:t>Input x = 0.5</a:t>
            </a:r>
          </a:p>
          <a:p>
            <a:pPr marL="0" indent="0" algn="just">
              <a:buNone/>
            </a:pPr>
            <a:r>
              <a:rPr lang="en-US" dirty="0"/>
              <a:t>Weight w = 0.4</a:t>
            </a:r>
          </a:p>
          <a:p>
            <a:pPr marL="0" indent="0" algn="just">
              <a:buNone/>
            </a:pPr>
            <a:r>
              <a:rPr lang="en-US" dirty="0"/>
              <a:t>Bias b = 0.1</a:t>
            </a:r>
          </a:p>
          <a:p>
            <a:pPr marL="0" indent="0" algn="just">
              <a:buNone/>
            </a:pPr>
            <a:r>
              <a:rPr lang="en-US" dirty="0"/>
              <a:t>Target output y = 0.7</a:t>
            </a:r>
          </a:p>
          <a:p>
            <a:pPr marL="0" indent="0" algn="just">
              <a:buNone/>
            </a:pPr>
            <a:r>
              <a:rPr lang="en-US" dirty="0"/>
              <a:t>Learning rate n = 0.1</a:t>
            </a:r>
          </a:p>
          <a:p>
            <a:endParaRPr lang="en-IN" dirty="0"/>
          </a:p>
        </p:txBody>
      </p:sp>
    </p:spTree>
    <p:extLst>
      <p:ext uri="{BB962C8B-B14F-4D97-AF65-F5344CB8AC3E}">
        <p14:creationId xmlns:p14="http://schemas.microsoft.com/office/powerpoint/2010/main" val="136382613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32656"/>
            <a:ext cx="4785420" cy="5904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041" y="980728"/>
            <a:ext cx="3960440" cy="4725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891410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miro.medium.com/v2/resize:fit:700/0*LaXMcr3mL9jQ183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260648"/>
            <a:ext cx="7992888" cy="6120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99960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1520" y="116632"/>
            <a:ext cx="4253087" cy="523220"/>
          </a:xfrm>
          <a:prstGeom prst="rect">
            <a:avLst/>
          </a:prstGeom>
        </p:spPr>
        <p:txBody>
          <a:bodyPr wrap="none">
            <a:spAutoFit/>
          </a:bodyPr>
          <a:lstStyle/>
          <a:p>
            <a:pPr fontAlgn="base"/>
            <a:r>
              <a:rPr lang="en-IN" sz="2800" b="1" dirty="0"/>
              <a:t>Recurrent Neural Networks</a:t>
            </a:r>
          </a:p>
        </p:txBody>
      </p:sp>
      <p:sp>
        <p:nvSpPr>
          <p:cNvPr id="5" name="Rectangle 4"/>
          <p:cNvSpPr/>
          <p:nvPr/>
        </p:nvSpPr>
        <p:spPr>
          <a:xfrm>
            <a:off x="251520" y="809348"/>
            <a:ext cx="8568952" cy="1569660"/>
          </a:xfrm>
          <a:prstGeom prst="rect">
            <a:avLst/>
          </a:prstGeom>
        </p:spPr>
        <p:txBody>
          <a:bodyPr wrap="square">
            <a:spAutoFit/>
          </a:bodyPr>
          <a:lstStyle/>
          <a:p>
            <a:pPr algn="just"/>
            <a:r>
              <a:rPr lang="en-US" sz="2400" b="1" dirty="0"/>
              <a:t>Recurrent Neural Networks (RNNs)</a:t>
            </a:r>
            <a:r>
              <a:rPr lang="en-US" sz="2400" dirty="0"/>
              <a:t> differ from regular neural networks in how they process information. While standard neural networks pass information in one direction </a:t>
            </a:r>
            <a:r>
              <a:rPr lang="en-US" sz="2400" dirty="0" err="1"/>
              <a:t>i.e</a:t>
            </a:r>
            <a:r>
              <a:rPr lang="en-US" sz="2400" dirty="0"/>
              <a:t> from input to output, RNNs feed information back into the network at each step.</a:t>
            </a:r>
            <a:endParaRPr lang="en-IN" sz="2400" dirty="0"/>
          </a:p>
        </p:txBody>
      </p:sp>
      <p:sp>
        <p:nvSpPr>
          <p:cNvPr id="6" name="AutoShape 2" descr="uses.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996" y="2708920"/>
            <a:ext cx="76200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053417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260648"/>
            <a:ext cx="8229600" cy="4525963"/>
          </a:xfrm>
        </p:spPr>
        <p:txBody>
          <a:bodyPr>
            <a:normAutofit fontScale="70000" lnSpcReduction="20000"/>
          </a:bodyPr>
          <a:lstStyle/>
          <a:p>
            <a:pPr marL="0" indent="0" algn="just" fontAlgn="base">
              <a:buNone/>
            </a:pPr>
            <a:r>
              <a:rPr lang="en-US" b="1" dirty="0" smtClean="0"/>
              <a:t>Recurrent </a:t>
            </a:r>
            <a:r>
              <a:rPr lang="en-US" b="1" dirty="0"/>
              <a:t>Neurons</a:t>
            </a:r>
          </a:p>
          <a:p>
            <a:pPr algn="just" fontAlgn="base"/>
            <a:r>
              <a:rPr lang="en-US" dirty="0"/>
              <a:t>The fundamental processing unit in RNN is a </a:t>
            </a:r>
            <a:r>
              <a:rPr lang="en-US" b="1" dirty="0"/>
              <a:t>Recurrent Unit.</a:t>
            </a:r>
            <a:r>
              <a:rPr lang="en-US" dirty="0"/>
              <a:t> They hold a hidden state that maintains information about previous inputs in a sequence. Recurrent units can "remember" information from prior steps by feeding back their hidden state, allowing them to capture dependencies across time.</a:t>
            </a:r>
          </a:p>
          <a:p>
            <a:pPr algn="just"/>
            <a:endParaRPr lang="en-US" dirty="0" smtClean="0"/>
          </a:p>
          <a:p>
            <a:pPr algn="just"/>
            <a:endParaRPr lang="en-US" dirty="0"/>
          </a:p>
          <a:p>
            <a:pPr algn="just"/>
            <a:endParaRPr lang="en-US" dirty="0" smtClean="0"/>
          </a:p>
          <a:p>
            <a:pPr marL="0" indent="0" algn="just">
              <a:buNone/>
            </a:pPr>
            <a:endParaRPr lang="en-US" dirty="0" smtClean="0"/>
          </a:p>
          <a:p>
            <a:pPr marL="0" indent="0" algn="just">
              <a:buNone/>
            </a:pPr>
            <a:endParaRPr lang="en-US" dirty="0"/>
          </a:p>
          <a:p>
            <a:pPr marL="0" indent="0" algn="just">
              <a:buNone/>
            </a:pPr>
            <a:endParaRPr lang="en-US" dirty="0" smtClean="0"/>
          </a:p>
          <a:p>
            <a:pPr marL="0" indent="0" algn="just">
              <a:buNone/>
            </a:pPr>
            <a:r>
              <a:rPr lang="en-US" dirty="0" smtClean="0"/>
              <a:t>				Recurrent </a:t>
            </a:r>
            <a:r>
              <a:rPr lang="en-US" dirty="0"/>
              <a:t>Neuron</a:t>
            </a:r>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4992" y="3140968"/>
            <a:ext cx="432048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243436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3528" y="0"/>
            <a:ext cx="8820472" cy="1384995"/>
          </a:xfrm>
          <a:prstGeom prst="rect">
            <a:avLst/>
          </a:prstGeom>
        </p:spPr>
        <p:txBody>
          <a:bodyPr wrap="square">
            <a:spAutoFit/>
          </a:bodyPr>
          <a:lstStyle/>
          <a:p>
            <a:r>
              <a:rPr lang="en-US" sz="2800" dirty="0"/>
              <a:t>RNNs are a type of neural network that can model sequence data. RNNs, which are formed from </a:t>
            </a:r>
            <a:r>
              <a:rPr lang="en-US" sz="2800" u="sng" dirty="0" err="1">
                <a:hlinkClick r:id="rId2"/>
              </a:rPr>
              <a:t>feedforward</a:t>
            </a:r>
            <a:r>
              <a:rPr lang="en-US" sz="2800" u="sng" dirty="0">
                <a:hlinkClick r:id="rId2"/>
              </a:rPr>
              <a:t> networks</a:t>
            </a:r>
            <a:r>
              <a:rPr lang="en-US" sz="2800" dirty="0"/>
              <a:t>, are similar to human brains in their </a:t>
            </a:r>
            <a:r>
              <a:rPr lang="en-US" sz="2800" dirty="0" err="1" smtClean="0"/>
              <a:t>behaviou</a:t>
            </a:r>
            <a:endParaRPr lang="en-IN" sz="2800"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908720"/>
            <a:ext cx="8064896" cy="432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7994749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88640"/>
            <a:ext cx="8784976" cy="6669360"/>
          </a:xfrm>
        </p:spPr>
        <p:txBody>
          <a:bodyPr>
            <a:normAutofit fontScale="77500" lnSpcReduction="20000"/>
          </a:bodyPr>
          <a:lstStyle/>
          <a:p>
            <a:pPr marL="0" indent="0" algn="just">
              <a:buNone/>
            </a:pPr>
            <a:r>
              <a:rPr lang="en-US" dirty="0"/>
              <a:t>key components:</a:t>
            </a:r>
          </a:p>
          <a:p>
            <a:pPr algn="just"/>
            <a:r>
              <a:rPr lang="en-US" b="1" dirty="0"/>
              <a:t>Input Layer:</a:t>
            </a:r>
            <a:r>
              <a:rPr lang="en-US" dirty="0"/>
              <a:t> This layer receives the initial element of the sequence data. For example, in a sentence, it might receive the first word as a vector representation.</a:t>
            </a:r>
          </a:p>
          <a:p>
            <a:pPr algn="just"/>
            <a:r>
              <a:rPr lang="en-US" b="1" dirty="0"/>
              <a:t>Hidden Layer:</a:t>
            </a:r>
            <a:r>
              <a:rPr lang="en-US" dirty="0"/>
              <a:t> The heart of the RNN, the hidden layer contains a set of interconnected neurons. Each neuron processes the current input along with the information from the previous hidden layer’s state. This “state” captures the network’s memory of past inputs, allowing it to understand the current element in context.</a:t>
            </a:r>
          </a:p>
          <a:p>
            <a:r>
              <a:rPr lang="en-US" b="1" dirty="0"/>
              <a:t>Activation Function:</a:t>
            </a:r>
            <a:r>
              <a:rPr lang="en-US" dirty="0"/>
              <a:t> This function introduces non-linearity into the network, enabling it to learn complex patterns. It transforms the combined input from the current input layer and the previous hidden layer state before passing it on.</a:t>
            </a:r>
          </a:p>
          <a:p>
            <a:r>
              <a:rPr lang="en-US" b="1" dirty="0"/>
              <a:t>Output Layer:</a:t>
            </a:r>
            <a:r>
              <a:rPr lang="en-US" dirty="0"/>
              <a:t> The output layer generates the network’s prediction based on the processed information. In a language model, it might predict the next word in the sequence.</a:t>
            </a:r>
          </a:p>
          <a:p>
            <a:endParaRPr lang="en-IN" dirty="0"/>
          </a:p>
        </p:txBody>
      </p:sp>
    </p:spTree>
    <p:extLst>
      <p:ext uri="{BB962C8B-B14F-4D97-AF65-F5344CB8AC3E}">
        <p14:creationId xmlns:p14="http://schemas.microsoft.com/office/powerpoint/2010/main" val="33014085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1456</TotalTime>
  <Words>3151</Words>
  <Application>Microsoft Office PowerPoint</Application>
  <PresentationFormat>On-screen Show (4:3)</PresentationFormat>
  <Paragraphs>451</Paragraphs>
  <Slides>88</Slides>
  <Notes>4</Notes>
  <HiddenSlides>3</HiddenSlides>
  <MMClips>0</MMClips>
  <ScaleCrop>false</ScaleCrop>
  <HeadingPairs>
    <vt:vector size="4" baseType="variant">
      <vt:variant>
        <vt:lpstr>Theme</vt:lpstr>
      </vt:variant>
      <vt:variant>
        <vt:i4>1</vt:i4>
      </vt:variant>
      <vt:variant>
        <vt:lpstr>Slide Titles</vt:lpstr>
      </vt:variant>
      <vt:variant>
        <vt:i4>88</vt:i4>
      </vt:variant>
    </vt:vector>
  </HeadingPairs>
  <TitlesOfParts>
    <vt:vector size="89" baseType="lpstr">
      <vt:lpstr>Office Theme</vt:lpstr>
      <vt:lpstr>Artificial Neural Networks (21CSE326T)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Artificial Neural Networks</vt:lpstr>
      <vt:lpstr>Components of Neuron </vt:lpstr>
      <vt:lpstr>Definition of Neuron </vt:lpstr>
      <vt:lpstr>Types of Neuron </vt:lpstr>
      <vt:lpstr>Types of Neuron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It’s Called "Electrochemical"?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BIOLOGICAL NEURONS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ANN versus BNN </vt:lpstr>
      <vt:lpstr>PowerPoint Presentation</vt:lpstr>
      <vt:lpstr>PowerPoint Presentation</vt:lpstr>
      <vt:lpstr>PowerPoint Presentation</vt:lpstr>
      <vt:lpstr>PowerPoint Presentation</vt:lpstr>
      <vt:lpstr>     Model of Artificial Neural Network </vt:lpstr>
      <vt:lpstr>Neural Computation </vt:lpstr>
      <vt:lpstr>Model of Artificial Neural Network</vt:lpstr>
      <vt:lpstr>PowerPoint Presentation</vt:lpstr>
      <vt:lpstr>PowerPoint Presentation</vt:lpstr>
      <vt:lpstr>PowerPoint Presentation</vt:lpstr>
      <vt:lpstr>PowerPoint Presentation</vt:lpstr>
      <vt:lpstr>PowerPoint Presentation</vt:lpstr>
      <vt:lpstr>PowerPoint Presentation</vt:lpstr>
      <vt:lpstr>Models of computation in neural networks</vt:lpstr>
      <vt:lpstr>PowerPoint Presentation</vt:lpstr>
      <vt:lpstr>What is activation function and its types?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Neural Networks (21CSE326T) </dc:title>
  <dc:creator>ACER</dc:creator>
  <cp:lastModifiedBy>ACER</cp:lastModifiedBy>
  <cp:revision>90</cp:revision>
  <dcterms:created xsi:type="dcterms:W3CDTF">2025-07-23T06:45:30Z</dcterms:created>
  <dcterms:modified xsi:type="dcterms:W3CDTF">2025-08-04T16:38:16Z</dcterms:modified>
</cp:coreProperties>
</file>